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CUBRID Page Buffer
벤치마크 비교·실험 설계
한국어 발표 자료. 비교 DB는 사용자 미지정 부분을 CUBRID, MySQL(InnoDB), PostgreSQL로 가정했다. 실행 시간은 계획 예산이며 실측이 아니다. 실제 서버/드라이버 버전과 CUBRID revision은 첫 실행 전에 고정한다.
근거 (2026-10-19 조회):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추천: 공통 읽기 부하부터, 트랜잭션 부하로 확장
설계 제안. 실측 결과 아님.
근거 (2026-10-19 조회):
S1: sysbench: 기능·드라이버·시간·분포
https://github.com/akopytov/sysbench
S2: YCSB: C / B / A workload 정의
https://github.com/brianfrankcooper/YCSB/tree/master/workloads
S3: YCSB JDBC: 연결·스키마 호환성
https://github.com/brianfrankcooper/YCSB/tree/master/jdbc
S4: TPC-C 5.11: 부하·측정 120분
https://www.tpc.org/TPC_Documents_Current_Versions/pdf/tpc-c_v5.11.0.pdf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DB 버퍼 miss와 실제 장치 읽기를 구분한다
설계 제안. 실측 결과 아님.
근거 (2026-10-19 조회):
S8: MySQL 8.4: InnoDB 상태 변수
https://dev.mysql.com/doc/refman/8.4/en/server-status-variables.html#statvar_Innodb_buffer_pool_read_requests
S9: PostgreSQL 18: 통계·캐시 범위
https://www.postgresql.org/docs/18/monitoring-stats.html#MONITORING-PG-STAT-DATABASE-VIEW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부하 강도는 작업 집합 / 버퍼 비율로 조절한다
설계 제안. 실측 결과 아님.
근거 (2026-10-19 조회):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후보 5종: 버퍼 원인 분석과 업무 대표성을 나눠 선택
TPC-C는 benchmark specification, HammerDB와 BenchBase는 실행 도구다. HammerDB 기본 지원 목록과 BenchBase DatabaseType enum에 CUBRID가 없음을 확인했다. JDBC 지원만으로 CUBRID에서 무수정 실행이 된다고 간주하지 않는다.
근거 (2026-10-19 조회):
S1: sysbench: 기능·드라이버·시간·분포
https://github.com/akopytov/sysbench
S2: YCSB: C / B / A workload 정의
https://github.com/brianfrankcooper/YCSB/tree/master/workloads
S3: YCSB JDBC: 연결·스키마 호환성
https://github.com/brianfrankcooper/YCSB/tree/master/jdbc
S5: HammerDB: 기본 지원 DB 목록
https://github.com/TPC-Council/HammerDB/blob/2611d3cc0731393f6561e28daef4ff6a1d273c08/README.md
S6: BenchBase: DatabaseType 목록
https://github.com/cmu-db/benchbase/blob/1aae2572924bc210382652f2c05e498636dea3f2/src/main/java/com/oltpbenchmark/types/DatabaseType.java
S10: PostgreSQL 18: pgbench
https://www.postgresql.org/docs/18/pgbench.html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sysbench: 단순하고 빠르지만 CUBRID driver가 필요
sysbench README의 warmup-time 표기만으로 모든 배포 버전의 지원을 가정하지 않는다. 필요하면 별도 warm-up 실행 후 측정 구간을 시작한다. 기본 random distribution을 그대로 두지 말고 uniform/zipfian 등의 설정과 seed를 기록한다.
근거 (2026-10-19 조회):
S1: sysbench: 기능·드라이버·시간·분포
https://github.com/akopytov/sysbench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YCSB: locality와 읽기·쓰기 비율을 비교하기 좋다
C/B/A 기본 설정은 upstream workloads 파일 근거. Workload C 기본 분포는 zipfian. 큰 순차 스캔에 의한 오염 실험은 별도 부하를 사용한다. CUBRID에서 JDBC binding을 실제 실행한 결과는 없다.
근거 (2026-10-19 조회):
S2: YCSB: C / B / A workload 정의
https://github.com/brianfrankcooper/YCSB/tree/master/workloads
S3: YCSB JDBC: 연결·스키마 호환성
https://github.com/brianfrankcooper/YCSB/tree/master/jdbc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TPC-C 계열: 현실적인 혼합 부하, 원인 분리는 어렵다
HammerDB TPROC-C는 TPC-C 파생 부하이며 정식 audited TPC-C 결과로 표시하지 않는다. 짧은 engineering run은 공식 tpmC 공표 근거가 아니다. NOPM/TPS/완료 트랜잭션의 정의를 기록한다. 활성 warehouse와 client routing을 확인해야 DB 전체 크기를 working set으로 오인하지 않는다.
근거 (2026-10-19 조회):
S4: TPC-C 5.11: 부하·측정 120분
https://www.tpc.org/TPC_Documents_Current_Versions/pdf/tpc-c_v5.11.0.pdf
S5: HammerDB: 기본 지원 DB 목록
https://github.com/TPC-Council/HammerDB/blob/2611d3cc0731393f6561e28daef4ff6a1d273c08/README.md
S6: BenchBase: DatabaseType 목록
https://github.com/cmu-db/benchbase/blob/1aae2572924bc210382652f2c05e498636dea3f2/src/main/java/com/oltpbenchmark/types/DatabaseType.java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공통 JDBC 부하: page buffer 질문에 가장 직접적
제안 SQL은 설계 예시이며 세 DB에서 검증한 실행기가 아니다. payload를 실제로 읽고 결과 크기/검증 값을 확인한다. covering index로 heap 접근이 생략되거나 결과 캐시가 페이지 접근을 생략하는지 실행 계획으로 점검한다. 기존 전략 문서의 최소 읽기 부하 제안을 확장한 새 제안이다.
근거 (2026-10-19 조회):
S12: 기존 pgbuf 벤치마크 전략
../CBRD-27423/benchmark-strategy-2026-10-19.md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pgbench: PostgreSQL 기준선 확인용 보조 도구
설계 제안. 실측 결과 아님.
근거 (2026-10-19 조회):
S10: PostgreSQL 18: pgbench
https://www.postgresql.org/docs/18/pgbench.html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workload 세트: hit 경로부터 flush까지
설계 제안. 실측 결과 아님.
근거 (2026-10-19 조회):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공정한 비교는 두 질문을 별도 실험으로 답한다
A는 end-to-end 업무 비교, B는 buffer pressure에 따른 동작 진단이다. PostgreSQL shared_buffers와 OS cache, MySQL buffer pool과 기타 메모리, CUBRID data buffer와 기타 메모리의 경계를 기록한다. page size를 강제로 같게 만드는 것이 항상 타당하지 않으므로 실제 설정과 바이트를 함께 남긴다. 실험 실행 순서를 교차하고 전용 서버 또는 충분히 격리된 자원에서 직렬 측정한다.
근거 (2026-10-19 조회):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 / miss는 측정 구간의 카운터 차이로 계산
설계 제안. 실측 결과 아님.
근거 (2026-10-19 조회):
S7: CUBRID: statdump·페이지 카운터
https://github.com/CUBRID/cubrid-manual/blob/3b6ae97bfbdc664b010ffa933ded5a05b291ae03/en/admin/admin_utils.rst#L1114-L1155
S8: MySQL 8.4: InnoDB 상태 변수
https://dev.mysql.com/doc/refman/8.4/en/server-status-variables.html#statvar_Innodb_buffer_pool_read_requests
S9: PostgreSQL 18: 통계·캐시 범위
https://www.postgresql.org/docs/18/monitoring-stats.html#MONITORING-PG-STAT-DATABASE-VIEW
S11: CUBRID: hit ratio 공식
https://github.com/CUBRID/cubrid-manual/blob/3b6ae97bfbdc664b010ffa933ded5a05b291ae03/en/admin/admin_utils.rst#L2448-L2455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CUBRID: statdump raw counter를 함께 보존
근거는 cubrid-manual develop 3b6ae97bfbdc664b010ffa933ded5a05b291ae03, admin_utils.rst 1114–1155,1832–1839,2453–2455. 매뉴얼의 (fetches-ioreads)/fetches 공식을 동일 측정 구간 delta에 적용하는 제안이다. 서버 버전의 실제 계측 정확성을 증명하지 않는다. 기존 CBRD-26500/PR7157 조사와 같이 비정상 비율이 발견되면 raw counter·revision을 보존하고 집계 의미를 조사한다. 이번 자료에서 해당 PR의 현재 상태는 새로 확인하지 않았다.
근거 (2026-10-19 조회):
S7: CUBRID: statdump·페이지 카운터
https://github.com/CUBRID/cubrid-manual/blob/3b6ae97bfbdc664b010ffa933ded5a05b291ae03/en/admin/admin_utils.rst#L1114-L1155
S11: CUBRID: hit ratio 공식
https://github.com/CUBRID/cubrid-manual/blob/3b6ae97bfbdc664b010ffa933ded5a05b291ae03/en/admin/admin_utils.rst#L2448-L2455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MySQL: InnoDB 수요 읽기와 read-ahead를 분리
MySQL 8.4 Reference Manual의 server status variables 근거. GLOBAL 누계이므로 전용 instance 또는 다른 부하의 영향을 통제한다. 수요 miss proxy와 prefetch 페이지 카운트는 동일 항목이 아니며 임의로 더해 hit 공식에 넣지 않는다. 버퍼 읽기를 물리 장치 읽기와 동일시하지 않는다.
근거 (2026-10-19 조회):
S8: MySQL 8.4: InnoDB 상태 변수
https://dev.mysql.com/doc/refman/8.4/en/server-status-variables.html#statvar_Innodb_buffer_pool_read_requests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PostgreSQL: shared buffer hit와 OS cache를 구분
PostgreSQL 18 문서 근거. 통계는 집계/갱신 지연이 있을 수 있으므로 1초 표본을 완벽한 동시 snapshot으로 취급하지 않는다. stats_reset와 서버 시작 시각을 보존하고 측정 종료 통계의 반영을 확인한다. 필요 시 pg_stat_clear_snapshot() 또는 stats_fetch_consistency 설정을 검토한다. pg_stat_io의 바이트 환산은 버전별 op_bytes/단위를 확인한다.
근거 (2026-10-19 조회):
S9: PostgreSQL 18: 통계·캐시 범위
https://www.postgresql.org/docs/18/monitoring-stats.html#MONITORING-PG-STAT-DATABASE-VIEW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수집 파이프라인: 같은 시간축에 성능·원인·상태를 묶는다
1–5초 수집은 제안 주기이며 저부하에서는 수집 overhead를 따로 확인한다. 실험 간 clock alignment와 시작/종료 경계를 기록한다. 서버 CPU는 PostgreSQL backend·background process 및 CUBRID broker/CAS 등 관련 구성요소를 포함할 범위를 명시한다. scan 실험에서는 전체 hit ratio뿐 아니라 hot read client의 latency를 별도로 수집한다.
근거 (2026-10-19 조회):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1회 실행: 단순 읽기 13–20분, TPC-C 계열 40–90분
warm-up은 고정 시간 종료가 아니라 throughput/hit/read 등 구간 동작의 안정 여부를 확인한다. 랜덤 큰 working set은 이 예산보다 훨씬 오래 걸릴 수 있다. dirty workload는 여러 checkpoint/flush cycle을 포함하도록 측정 시간을 늘린다. 정식 TPC-C 5.11 clause 5.5.2.1은 최소 120분 measurement 요구이며 표의 전체 시간이 certification 절차 전체를 뜻하지 않는다.
근거 (2026-10-19 조회):
S4: TPC-C 5.11: 부하·측정 120분
https://www.tpc.org/TPC_Documents_Current_Versions/pdf/tpc-c_v5.11.0.pdf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3개 DB를 반복 비교하면 기본 matrix만 6시간 45분
설계 제안. 실측 결과 아님.
근거 (2026-10-19 조회):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준비 시간은 실행 시간과 별도 예산으로 잡는다
설계 제안. 실측 결과 아님.
근거 (2026-10-19 조회):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결과는 hit % 순위보다 비용과 응답을 함께 읽는다
장치 read bytes/op는 해당 부하로 귀속 가능한 전체 읽기 바이트 / 성공 operation 수로 정의하고 공용 장치의 다른 부하를 배제한다. 실제 buffer read bytes를 논리 요청 수×page size로 임의 계산하지 않는다. hit rate가 높아도 논리 접근·CPU 비용이 더 클 수 있다. p99의 반복 간 변동과 오류·timeout·미완료 수를 생략하지 않는다. 이번 자료에는 측정 데이터/DB 성능 순위가 없다.
근거 (2026-10-19 조회):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실행에서 확정할 네 가지
미합의 사항을 확정 사항처럼 기록하지 않는다. 이 PPT 제작은 작업 374의 실제 회의 합의나 작업 269의 POC 완성을 뜻하지 않는다. CBRD-27193 EPIC의 비교 전략 제안이며 단일 PR에 대한 성능 결과가 아니다.
근거 (2026-10-19 조회):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자료 ① — benchmark와 CUBRID 연동 판단
설계 제안. 실측 결과 아님.
근거 (2026-10-19 조회):
S1: sysbench: 기능·드라이버·시간·분포
https://github.com/akopytov/sysbench
S2: YCSB: C / B / A workload 정의
https://github.com/brianfrankcooper/YCSB/tree/master/workloads
S3: YCSB JDBC: 연결·스키마 호환성
https://github.com/brianfrankcooper/YCSB/tree/master/jdbc
S4: TPC-C 5.11: 부하·측정 120분
https://www.tpc.org/TPC_Documents_Current_Versions/pdf/tpc-c_v5.11.0.pdf
S5: HammerDB: 기본 지원 DB 목록
https://github.com/TPC-Council/HammerDB/blob/2611d3cc0731393f6561e28daef4ff6a1d273c08/README.md
S6: BenchBase: DatabaseType 목록
https://github.com/cmu-db/benchbase/blob/1aae2572924bc210382652f2c05e498636dea3f2/src/main/java/com/oltpbenchmark/types/DatabaseType.java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근거 자료 ② — 카운터 의미·확인 범위
설계 제안. 실측 결과 아님.
근거 (2026-10-19 조회):
S7: CUBRID: statdump·페이지 카운터
https://github.com/CUBRID/cubrid-manual/blob/3b6ae97bfbdc664b010ffa933ded5a05b291ae03/en/admin/admin_utils.rst#L1114-L1155
S8: MySQL 8.4: InnoDB 상태 변수
https://dev.mysql.com/doc/refman/8.4/en/server-status-variables.html#statvar_Innodb_buffer_pool_read_requests
S9: PostgreSQL 18: 통계·캐시 범위
https://www.postgresql.org/docs/18/monitoring-stats.html#MONITORING-PG-STAT-DATABASE-VIEW
S10: PostgreSQL 18: pgbench
https://www.postgresql.org/docs/18/pgbench.html
S11: CUBRID: hit ratio 공식
https://github.com/CUBRID/cubrid-manual/blob/3b6ae97bfbdc664b010ffa933ded5a05b291ae03/en/admin/admin_utils.rst#L2448-L2455
S12: 기존 pgbuf 벤치마크 전략
../CBRD-27423/benchmark-strategy-2026-10-19.md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수집 시작 예시 — 별도 collector에서 주기적으로 실행
명령은 사용법 예시다. DB 이름·권한·실행 버전을 맞추고 실제 출력의 변수 존재 여부를 확인한다. SHOW/SELECT의 주기 실행·timestamp 부착·구간 경계 처리는 collector가 담당한다. 누적 counter를 초기화하지 않고 시작/종료 snapshot 차이로 계산한다. PostgreSQL collector는 autocommit 등 짧은 트랜잭션을 사용하고 통계 반영 지연을 확인한다.
근거 (2026-10-19 조회):
S7: CUBRID: statdump·페이지 카운터
https://github.com/CUBRID/cubrid-manual/blob/3b6ae97bfbdc664b010ffa933ded5a05b291ae03/en/admin/admin_utils.rst#L1114-L1155
S8: MySQL 8.4: InnoDB 상태 변수
https://dev.mysql.com/doc/refman/8.4/en/server-status-variables.html#statvar_Innodb_buffer_pool_read_requests
S9: PostgreSQL 18: 통계·캐시 범위
https://www.postgresql.org/docs/18/monitoring-stats.html#MONITORING-PG-STAT-DATABASE-VIEW
HTML이 원본이며 PPTX는 정적 슬라이드다. 텍스트와 도형은 편집 가능하다. 수신 환경의 글꼴 대체 시 줄바꿈이 달라질 수 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github.com/akopytov/sysbench" TargetMode="External"/><Relationship Id="rId2" Type="http://schemas.openxmlformats.org/officeDocument/2006/relationships/hyperlink" Target="https://github.com/brianfrankcooper/YCSB/tree/master/workloads" TargetMode="External"/><Relationship Id="rId3" Type="http://schemas.openxmlformats.org/officeDocument/2006/relationships/hyperlink" Target="https://github.com/brianfrankcooper/YCSB/tree/master/jdbc" TargetMode="External"/><Relationship Id="rId4" Type="http://schemas.openxmlformats.org/officeDocument/2006/relationships/hyperlink" Target="https://www.tpc.org/TPC_Documents_Current_Versions/pdf/tpc-c_v5.11.0.pdf" TargetMode="External"/><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dev.mysql.com/doc/refman/8.4/en/server-status-variables.html#statvar_Innodb_buffer_pool_read_requests" TargetMode="External"/><Relationship Id="rId2" Type="http://schemas.openxmlformats.org/officeDocument/2006/relationships/hyperlink" Target="https://www.postgresql.org/docs/18/monitoring-stats.html#MONITORING-PG-STAT-DATABASE-VIEW"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github.com/akopytov/sysbench" TargetMode="External"/><Relationship Id="rId2" Type="http://schemas.openxmlformats.org/officeDocument/2006/relationships/hyperlink" Target="https://github.com/brianfrankcooper/YCSB/tree/master/workloads" TargetMode="External"/><Relationship Id="rId3" Type="http://schemas.openxmlformats.org/officeDocument/2006/relationships/hyperlink" Target="https://github.com/brianfrankcooper/YCSB/tree/master/jdbc" TargetMode="External"/><Relationship Id="rId4" Type="http://schemas.openxmlformats.org/officeDocument/2006/relationships/hyperlink" Target="https://github.com/TPC-Council/HammerDB/blob/2611d3cc0731393f6561e28daef4ff6a1d273c08/README.md" TargetMode="External"/><Relationship Id="rId5" Type="http://schemas.openxmlformats.org/officeDocument/2006/relationships/hyperlink" Target="https://github.com/cmu-db/benchbase/blob/1aae2572924bc210382652f2c05e498636dea3f2/src/main/java/com/oltpbenchmark/types/DatabaseType.java" TargetMode="External"/><Relationship Id="rId6" Type="http://schemas.openxmlformats.org/officeDocument/2006/relationships/hyperlink" Target="https://www.postgresql.org/docs/18/pgbench.html" TargetMode="Externa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github.com/akopytov/sysbench"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github.com/brianfrankcooper/YCSB/tree/master/workloads" TargetMode="External"/><Relationship Id="rId2" Type="http://schemas.openxmlformats.org/officeDocument/2006/relationships/hyperlink" Target="https://github.com/brianfrankcooper/YCSB/tree/master/jdbc" TargetMode="External"/><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www.tpc.org/TPC_Documents_Current_Versions/pdf/tpc-c_v5.11.0.pdf" TargetMode="External"/><Relationship Id="rId2" Type="http://schemas.openxmlformats.org/officeDocument/2006/relationships/hyperlink" Target="https://github.com/TPC-Council/HammerDB/blob/2611d3cc0731393f6561e28daef4ff6a1d273c08/README.md" TargetMode="External"/><Relationship Id="rId3" Type="http://schemas.openxmlformats.org/officeDocument/2006/relationships/hyperlink" Target="https://github.com/cmu-db/benchbase/blob/1aae2572924bc210382652f2c05e498636dea3f2/src/main/java/com/oltpbenchmark/types/DatabaseType.java" TargetMode="External"/><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www.postgresql.org/docs/18/pgbench.html"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github.com/CUBRID/cubrid-manual/blob/3b6ae97bfbdc664b010ffa933ded5a05b291ae03/en/admin/admin_utils.rst#L1114-L1155" TargetMode="External"/><Relationship Id="rId2" Type="http://schemas.openxmlformats.org/officeDocument/2006/relationships/hyperlink" Target="https://dev.mysql.com/doc/refman/8.4/en/server-status-variables.html#statvar_Innodb_buffer_pool_read_requests" TargetMode="External"/><Relationship Id="rId3" Type="http://schemas.openxmlformats.org/officeDocument/2006/relationships/hyperlink" Target="https://www.postgresql.org/docs/18/monitoring-stats.html#MONITORING-PG-STAT-DATABASE-VIEW" TargetMode="External"/><Relationship Id="rId4" Type="http://schemas.openxmlformats.org/officeDocument/2006/relationships/hyperlink" Target="https://github.com/CUBRID/cubrid-manual/blob/3b6ae97bfbdc664b010ffa933ded5a05b291ae03/en/admin/admin_utils.rst#L2448-L2455" TargetMode="External"/><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github.com/CUBRID/cubrid-manual/blob/3b6ae97bfbdc664b010ffa933ded5a05b291ae03/en/admin/admin_utils.rst#L1114-L1155" TargetMode="External"/><Relationship Id="rId2" Type="http://schemas.openxmlformats.org/officeDocument/2006/relationships/hyperlink" Target="https://github.com/CUBRID/cubrid-manual/blob/3b6ae97bfbdc664b010ffa933ded5a05b291ae03/en/admin/admin_utils.rst#L2448-L2455"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dev.mysql.com/doc/refman/8.4/en/server-status-variables.html#statvar_Innodb_buffer_pool_read_requests"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www.postgresql.org/docs/18/monitoring-stats.html#MONITORING-PG-STAT-DATABASE-VIEW"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www.tpc.org/TPC_Documents_Current_Versions/pdf/tpc-c_v5.11.0.pdf"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github.com/akopytov/sysbench" TargetMode="External"/><Relationship Id="rId2" Type="http://schemas.openxmlformats.org/officeDocument/2006/relationships/hyperlink" Target="https://github.com/brianfrankcooper/YCSB/tree/master/workloads" TargetMode="External"/><Relationship Id="rId3" Type="http://schemas.openxmlformats.org/officeDocument/2006/relationships/hyperlink" Target="https://github.com/brianfrankcooper/YCSB/tree/master/jdbc" TargetMode="External"/><Relationship Id="rId4" Type="http://schemas.openxmlformats.org/officeDocument/2006/relationships/hyperlink" Target="https://www.tpc.org/TPC_Documents_Current_Versions/pdf/tpc-c_v5.11.0.pdf" TargetMode="External"/><Relationship Id="rId5" Type="http://schemas.openxmlformats.org/officeDocument/2006/relationships/hyperlink" Target="https://github.com/TPC-Council/HammerDB/blob/2611d3cc0731393f6561e28daef4ff6a1d273c08/README.md" TargetMode="External"/><Relationship Id="rId6" Type="http://schemas.openxmlformats.org/officeDocument/2006/relationships/hyperlink" Target="https://github.com/cmu-db/benchbase/blob/1aae2572924bc210382652f2c05e498636dea3f2/src/main/java/com/oltpbenchmark/types/DatabaseType.java" TargetMode="External"/><Relationship Id="rId7" Type="http://schemas.openxmlformats.org/officeDocument/2006/relationships/hyperlink" Target="https://github.com/akopytov/sysbench" TargetMode="External"/><Relationship Id="rId8" Type="http://schemas.openxmlformats.org/officeDocument/2006/relationships/hyperlink" Target="https://github.com/brianfrankcooper/YCSB/tree/master/workloads" TargetMode="External"/><Relationship Id="rId9" Type="http://schemas.openxmlformats.org/officeDocument/2006/relationships/hyperlink" Target="https://github.com/brianfrankcooper/YCSB/tree/master/jdbc" TargetMode="External"/><Relationship Id="rId10" Type="http://schemas.openxmlformats.org/officeDocument/2006/relationships/hyperlink" Target="https://www.tpc.org/TPC_Documents_Current_Versions/pdf/tpc-c_v5.11.0.pdf" TargetMode="External"/><Relationship Id="rId11" Type="http://schemas.openxmlformats.org/officeDocument/2006/relationships/hyperlink" Target="https://github.com/TPC-Council/HammerDB/blob/2611d3cc0731393f6561e28daef4ff6a1d273c08/README.md" TargetMode="External"/><Relationship Id="rId12" Type="http://schemas.openxmlformats.org/officeDocument/2006/relationships/hyperlink" Target="https://github.com/cmu-db/benchbase/blob/1aae2572924bc210382652f2c05e498636dea3f2/src/main/java/com/oltpbenchmark/types/DatabaseType.java" TargetMode="External"/><Relationship Id="rId13" Type="http://schemas.openxmlformats.org/officeDocument/2006/relationships/slideLayout" Target="../slideLayouts/slideLayout1.xml"/><Relationship Id="rId1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github.com/CUBRID/cubrid-manual/blob/3b6ae97bfbdc664b010ffa933ded5a05b291ae03/en/admin/admin_utils.rst#L1114-L1155" TargetMode="External"/><Relationship Id="rId2" Type="http://schemas.openxmlformats.org/officeDocument/2006/relationships/hyperlink" Target="https://dev.mysql.com/doc/refman/8.4/en/server-status-variables.html#statvar_Innodb_buffer_pool_read_requests" TargetMode="External"/><Relationship Id="rId3" Type="http://schemas.openxmlformats.org/officeDocument/2006/relationships/hyperlink" Target="https://www.postgresql.org/docs/18/monitoring-stats.html#MONITORING-PG-STAT-DATABASE-VIEW" TargetMode="External"/><Relationship Id="rId4" Type="http://schemas.openxmlformats.org/officeDocument/2006/relationships/hyperlink" Target="https://www.postgresql.org/docs/18/pgbench.html" TargetMode="External"/><Relationship Id="rId5" Type="http://schemas.openxmlformats.org/officeDocument/2006/relationships/hyperlink" Target="https://github.com/CUBRID/cubrid-manual/blob/3b6ae97bfbdc664b010ffa933ded5a05b291ae03/en/admin/admin_utils.rst#L2448-L2455" TargetMode="External"/><Relationship Id="rId6" Type="http://schemas.openxmlformats.org/officeDocument/2006/relationships/hyperlink" Target="https://github.com/CUBRID/cubrid-manual/blob/3b6ae97bfbdc664b010ffa933ded5a05b291ae03/en/admin/admin_utils.rst#L1114-L1155" TargetMode="External"/><Relationship Id="rId7" Type="http://schemas.openxmlformats.org/officeDocument/2006/relationships/hyperlink" Target="https://dev.mysql.com/doc/refman/8.4/en/server-status-variables.html#statvar_Innodb_buffer_pool_read_requests" TargetMode="External"/><Relationship Id="rId8" Type="http://schemas.openxmlformats.org/officeDocument/2006/relationships/hyperlink" Target="https://www.postgresql.org/docs/18/monitoring-stats.html#MONITORING-PG-STAT-DATABASE-VIEW" TargetMode="External"/><Relationship Id="rId9" Type="http://schemas.openxmlformats.org/officeDocument/2006/relationships/hyperlink" Target="https://www.postgresql.org/docs/18/pgbench.html" TargetMode="External"/><Relationship Id="rId10" Type="http://schemas.openxmlformats.org/officeDocument/2006/relationships/hyperlink" Target="https://github.com/CUBRID/cubrid-manual/blob/3b6ae97bfbdc664b010ffa933ded5a05b291ae03/en/admin/admin_utils.rst#L2448-L2455" TargetMode="External"/><Relationship Id="rId11" Type="http://schemas.openxmlformats.org/officeDocument/2006/relationships/slideLayout" Target="../slideLayouts/slideLayout1.xml"/><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github.com/CUBRID/cubrid-manual/blob/3b6ae97bfbdc664b010ffa933ded5a05b291ae03/en/admin/admin_utils.rst#L1114-L1155" TargetMode="External"/><Relationship Id="rId2" Type="http://schemas.openxmlformats.org/officeDocument/2006/relationships/hyperlink" Target="https://dev.mysql.com/doc/refman/8.4/en/server-status-variables.html#statvar_Innodb_buffer_pool_read_requests" TargetMode="External"/><Relationship Id="rId3" Type="http://schemas.openxmlformats.org/officeDocument/2006/relationships/hyperlink" Target="https://www.postgresql.org/docs/18/monitoring-stats.html#MONITORING-PG-STAT-DATABASE-VIEW" TargetMode="External"/><Relationship Id="rId4" Type="http://schemas.openxmlformats.org/officeDocument/2006/relationships/slideLayout" Target="../slideLayouts/slideLayout1.xml"/><Relationship Id="rId5"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83D"/>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0283D"/>
          </a:solidFill>
          <a:ln w="12700">
            <a:solidFill>
              <a:srgbClr val="10283D"/>
            </a:solidFill>
            <a:prstDash val="solid"/>
          </a:ln>
        </p:spPr>
      </p:sp>
      <p:sp>
        <p:nvSpPr>
          <p:cNvPr id="3" name="Text 1"/>
          <p:cNvSpPr/>
          <p:nvPr/>
        </p:nvSpPr>
        <p:spPr>
          <a:xfrm>
            <a:off x="579120" y="457200"/>
            <a:ext cx="10668000" cy="243840"/>
          </a:xfrm>
          <a:prstGeom prst="rect">
            <a:avLst/>
          </a:prstGeom>
          <a:noFill/>
          <a:ln/>
        </p:spPr>
        <p:txBody>
          <a:bodyPr wrap="square" lIns="0" tIns="0" rIns="0" bIns="0" rtlCol="0" anchor="t"/>
          <a:lstStyle/>
          <a:p>
            <a:pPr indent="0" marL="0">
              <a:lnSpc>
                <a:spcPct val="105000"/>
              </a:lnSpc>
              <a:buNone/>
            </a:pPr>
            <a:r>
              <a:rPr lang="ko-KR" altLang="en-US" sz="1140" b="1" dirty="0">
                <a:solidFill>
                  <a:srgbClr val="BD8737"/>
                </a:solidFill>
                <a:latin typeface="Noto Sans CJK KR" pitchFamily="34" charset="0"/>
                <a:ea typeface="Noto Sans CJK KR" pitchFamily="34" charset="-122"/>
                <a:cs typeface="Noto Sans CJK KR" pitchFamily="34" charset="-120"/>
              </a:rPr>
              <a:t>BENCHMARK SELECTION  /  CBRD-27193</a:t>
            </a:r>
            <a:endParaRPr lang="ko-KR" sz="1140" dirty="0"/>
          </a:p>
        </p:txBody>
      </p:sp>
      <p:sp>
        <p:nvSpPr>
          <p:cNvPr id="4" name="Text 2"/>
          <p:cNvSpPr/>
          <p:nvPr/>
        </p:nvSpPr>
        <p:spPr>
          <a:xfrm>
            <a:off x="579120" y="1554480"/>
            <a:ext cx="7924800" cy="1737360"/>
          </a:xfrm>
          <a:prstGeom prst="rect">
            <a:avLst/>
          </a:prstGeom>
          <a:noFill/>
          <a:ln/>
        </p:spPr>
        <p:txBody>
          <a:bodyPr wrap="square" lIns="0" tIns="0" rIns="0" bIns="0" rtlCol="0" anchor="t"/>
          <a:lstStyle/>
          <a:p>
            <a:pPr indent="0" marL="0">
              <a:lnSpc>
                <a:spcPct val="105000"/>
              </a:lnSpc>
              <a:buNone/>
            </a:pPr>
            <a:r>
              <a:rPr lang="ko-KR" altLang="en-US" sz="4080" b="1" dirty="0">
                <a:solidFill>
                  <a:srgbClr val="FFFFFF"/>
                </a:solidFill>
                <a:latin typeface="Noto Sans CJK KR" pitchFamily="34" charset="0"/>
                <a:ea typeface="Noto Sans CJK KR" pitchFamily="34" charset="-122"/>
                <a:cs typeface="Noto Sans CJK KR" pitchFamily="34" charset="-120"/>
              </a:rPr>
              <a:t>CUBRID Page Buffer</a:t>
            </a:r>
            <a:endParaRPr lang="ko-KR" sz="4080" dirty="0"/>
          </a:p>
          <a:p>
            <a:pPr indent="0" marL="0">
              <a:lnSpc>
                <a:spcPct val="105000"/>
              </a:lnSpc>
              <a:buNone/>
            </a:pPr>
            <a:r>
              <a:rPr lang="ko-KR" altLang="en-US" sz="4080" b="1" dirty="0">
                <a:solidFill>
                  <a:srgbClr val="FFFFFF"/>
                </a:solidFill>
                <a:latin typeface="Noto Sans CJK KR" pitchFamily="34" charset="0"/>
                <a:ea typeface="Noto Sans CJK KR" pitchFamily="34" charset="-122"/>
                <a:cs typeface="Noto Sans CJK KR" pitchFamily="34" charset="-120"/>
              </a:rPr>
              <a:t>벤치마크 비교·실험 설계</a:t>
            </a:r>
            <a:endParaRPr lang="ko-KR" sz="4080" dirty="0"/>
          </a:p>
        </p:txBody>
      </p:sp>
      <p:sp>
        <p:nvSpPr>
          <p:cNvPr id="5" name="Text 3"/>
          <p:cNvSpPr/>
          <p:nvPr/>
        </p:nvSpPr>
        <p:spPr>
          <a:xfrm>
            <a:off x="609600" y="3703320"/>
            <a:ext cx="8382000" cy="792480"/>
          </a:xfrm>
          <a:prstGeom prst="rect">
            <a:avLst/>
          </a:prstGeom>
          <a:noFill/>
          <a:ln/>
        </p:spPr>
        <p:txBody>
          <a:bodyPr wrap="square" lIns="0" tIns="0" rIns="0" bIns="0" rtlCol="0" anchor="t"/>
          <a:lstStyle/>
          <a:p>
            <a:pPr indent="0" marL="0">
              <a:lnSpc>
                <a:spcPct val="105000"/>
              </a:lnSpc>
              <a:buNone/>
            </a:pPr>
            <a:r>
              <a:rPr lang="ko-KR" altLang="en-US" sz="2160" dirty="0">
                <a:solidFill>
                  <a:srgbClr val="C2D3DF"/>
                </a:solidFill>
                <a:latin typeface="Noto Sans CJK KR" pitchFamily="34" charset="0"/>
                <a:ea typeface="Noto Sans CJK KR" pitchFamily="34" charset="-122"/>
                <a:cs typeface="Noto Sans CJK KR" pitchFamily="34" charset="-120"/>
              </a:rPr>
              <a:t>hit / miss를 추적하고</a:t>
            </a:r>
            <a:endParaRPr lang="ko-KR" sz="2160" dirty="0"/>
          </a:p>
          <a:p>
            <a:pPr indent="0" marL="0">
              <a:lnSpc>
                <a:spcPct val="105000"/>
              </a:lnSpc>
              <a:buNone/>
            </a:pPr>
            <a:r>
              <a:rPr lang="ko-KR" altLang="en-US" sz="2160" dirty="0">
                <a:solidFill>
                  <a:srgbClr val="C2D3DF"/>
                </a:solidFill>
                <a:latin typeface="Noto Sans CJK KR" pitchFamily="34" charset="0"/>
                <a:ea typeface="Noto Sans CJK KR" pitchFamily="34" charset="-122"/>
                <a:cs typeface="Noto Sans CJK KR" pitchFamily="34" charset="-120"/>
              </a:rPr>
              <a:t>MySQL·PostgreSQL과 같은 부하에서 비교한다</a:t>
            </a:r>
            <a:endParaRPr lang="ko-KR" sz="2160" dirty="0"/>
          </a:p>
        </p:txBody>
      </p:sp>
      <p:sp>
        <p:nvSpPr>
          <p:cNvPr id="6" name="Shape 4"/>
          <p:cNvSpPr/>
          <p:nvPr/>
        </p:nvSpPr>
        <p:spPr>
          <a:xfrm>
            <a:off x="609600" y="4953000"/>
            <a:ext cx="3108960" cy="624840"/>
          </a:xfrm>
          <a:prstGeom prst="rect">
            <a:avLst/>
          </a:prstGeom>
          <a:solidFill>
            <a:srgbClr val="19374E"/>
          </a:solidFill>
          <a:ln w="12700">
            <a:solidFill>
              <a:srgbClr val="19374E"/>
            </a:solidFill>
            <a:prstDash val="solid"/>
          </a:ln>
        </p:spPr>
      </p:sp>
      <p:sp>
        <p:nvSpPr>
          <p:cNvPr id="7" name="Text 5"/>
          <p:cNvSpPr/>
          <p:nvPr/>
        </p:nvSpPr>
        <p:spPr>
          <a:xfrm>
            <a:off x="792480" y="5120640"/>
            <a:ext cx="2819400" cy="365760"/>
          </a:xfrm>
          <a:prstGeom prst="rect">
            <a:avLst/>
          </a:prstGeom>
          <a:noFill/>
          <a:ln/>
        </p:spPr>
        <p:txBody>
          <a:bodyPr wrap="square" lIns="0" tIns="0" rIns="0" bIns="0" rtlCol="0" anchor="t"/>
          <a:lstStyle/>
          <a:p>
            <a:pPr indent="0" marL="0">
              <a:lnSpc>
                <a:spcPct val="105000"/>
              </a:lnSpc>
              <a:buNone/>
            </a:pPr>
            <a:r>
              <a:rPr lang="ko-KR" altLang="en-US" sz="1860" b="1" dirty="0">
                <a:solidFill>
                  <a:srgbClr val="BD8737"/>
                </a:solidFill>
                <a:latin typeface="Noto Sans CJK KR" pitchFamily="34" charset="0"/>
                <a:ea typeface="Noto Sans CJK KR" pitchFamily="34" charset="-122"/>
                <a:cs typeface="Noto Sans CJK KR" pitchFamily="34" charset="-120"/>
              </a:rPr>
              <a:t>CUBRID</a:t>
            </a:r>
            <a:endParaRPr lang="ko-KR" sz="1860" dirty="0"/>
          </a:p>
        </p:txBody>
      </p:sp>
      <p:sp>
        <p:nvSpPr>
          <p:cNvPr id="8" name="Shape 6"/>
          <p:cNvSpPr/>
          <p:nvPr/>
        </p:nvSpPr>
        <p:spPr>
          <a:xfrm>
            <a:off x="3962400" y="4953000"/>
            <a:ext cx="3108960" cy="624840"/>
          </a:xfrm>
          <a:prstGeom prst="rect">
            <a:avLst/>
          </a:prstGeom>
          <a:solidFill>
            <a:srgbClr val="19374E"/>
          </a:solidFill>
          <a:ln w="12700">
            <a:solidFill>
              <a:srgbClr val="19374E"/>
            </a:solidFill>
            <a:prstDash val="solid"/>
          </a:ln>
        </p:spPr>
      </p:sp>
      <p:sp>
        <p:nvSpPr>
          <p:cNvPr id="9" name="Text 7"/>
          <p:cNvSpPr/>
          <p:nvPr/>
        </p:nvSpPr>
        <p:spPr>
          <a:xfrm>
            <a:off x="4145280" y="5120640"/>
            <a:ext cx="2819400" cy="365760"/>
          </a:xfrm>
          <a:prstGeom prst="rect">
            <a:avLst/>
          </a:prstGeom>
          <a:noFill/>
          <a:ln/>
        </p:spPr>
        <p:txBody>
          <a:bodyPr wrap="square" lIns="0" tIns="0" rIns="0" bIns="0" rtlCol="0" anchor="t"/>
          <a:lstStyle/>
          <a:p>
            <a:pPr indent="0" marL="0">
              <a:lnSpc>
                <a:spcPct val="105000"/>
              </a:lnSpc>
              <a:buNone/>
            </a:pPr>
            <a:r>
              <a:rPr lang="ko-KR" altLang="en-US" sz="1860" b="1" dirty="0">
                <a:solidFill>
                  <a:srgbClr val="67A5CD"/>
                </a:solidFill>
                <a:latin typeface="Noto Sans CJK KR" pitchFamily="34" charset="0"/>
                <a:ea typeface="Noto Sans CJK KR" pitchFamily="34" charset="-122"/>
                <a:cs typeface="Noto Sans CJK KR" pitchFamily="34" charset="-120"/>
              </a:rPr>
              <a:t>MySQL / InnoDB</a:t>
            </a:r>
            <a:endParaRPr lang="ko-KR" sz="1860" dirty="0"/>
          </a:p>
        </p:txBody>
      </p:sp>
      <p:sp>
        <p:nvSpPr>
          <p:cNvPr id="10" name="Shape 8"/>
          <p:cNvSpPr/>
          <p:nvPr/>
        </p:nvSpPr>
        <p:spPr>
          <a:xfrm>
            <a:off x="7315200" y="4953000"/>
            <a:ext cx="3108960" cy="624840"/>
          </a:xfrm>
          <a:prstGeom prst="rect">
            <a:avLst/>
          </a:prstGeom>
          <a:solidFill>
            <a:srgbClr val="19374E"/>
          </a:solidFill>
          <a:ln w="12700">
            <a:solidFill>
              <a:srgbClr val="19374E"/>
            </a:solidFill>
            <a:prstDash val="solid"/>
          </a:ln>
        </p:spPr>
      </p:sp>
      <p:sp>
        <p:nvSpPr>
          <p:cNvPr id="11" name="Text 9"/>
          <p:cNvSpPr/>
          <p:nvPr/>
        </p:nvSpPr>
        <p:spPr>
          <a:xfrm>
            <a:off x="7498080" y="5120640"/>
            <a:ext cx="2819400" cy="365760"/>
          </a:xfrm>
          <a:prstGeom prst="rect">
            <a:avLst/>
          </a:prstGeom>
          <a:noFill/>
          <a:ln/>
        </p:spPr>
        <p:txBody>
          <a:bodyPr wrap="square" lIns="0" tIns="0" rIns="0" bIns="0" rtlCol="0" anchor="t"/>
          <a:lstStyle/>
          <a:p>
            <a:pPr indent="0" marL="0">
              <a:lnSpc>
                <a:spcPct val="105000"/>
              </a:lnSpc>
              <a:buNone/>
            </a:pPr>
            <a:r>
              <a:rPr lang="ko-KR" altLang="en-US" sz="1860" b="1" dirty="0">
                <a:solidFill>
                  <a:srgbClr val="64B7A6"/>
                </a:solidFill>
                <a:latin typeface="Noto Sans CJK KR" pitchFamily="34" charset="0"/>
                <a:ea typeface="Noto Sans CJK KR" pitchFamily="34" charset="-122"/>
                <a:cs typeface="Noto Sans CJK KR" pitchFamily="34" charset="-120"/>
              </a:rPr>
              <a:t>PostgreSQL</a:t>
            </a:r>
            <a:endParaRPr lang="ko-KR" sz="1860" dirty="0"/>
          </a:p>
        </p:txBody>
      </p:sp>
      <p:sp>
        <p:nvSpPr>
          <p:cNvPr id="12" name="Shape 10"/>
          <p:cNvSpPr/>
          <p:nvPr/>
        </p:nvSpPr>
        <p:spPr>
          <a:xfrm>
            <a:off x="579120" y="6316980"/>
            <a:ext cx="10911840" cy="7620"/>
          </a:xfrm>
          <a:prstGeom prst="rect">
            <a:avLst/>
          </a:prstGeom>
          <a:solidFill>
            <a:srgbClr val="355064"/>
          </a:solidFill>
          <a:ln w="12700">
            <a:solidFill>
              <a:srgbClr val="355064"/>
            </a:solidFill>
            <a:prstDash val="solid"/>
          </a:ln>
        </p:spPr>
      </p:sp>
      <p:sp>
        <p:nvSpPr>
          <p:cNvPr id="13" name="Text 11"/>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BACBD8"/>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14" name="Text 12"/>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BACBD8"/>
                </a:solidFill>
                <a:latin typeface="Noto Sans CJK KR" pitchFamily="34" charset="0"/>
                <a:ea typeface="Noto Sans CJK KR" pitchFamily="34" charset="-122"/>
                <a:cs typeface="Noto Sans CJK KR" pitchFamily="34" charset="-120"/>
              </a:rPr>
              <a:t>01 / 25</a:t>
            </a:r>
            <a:endParaRPr lang="ko-KR" sz="108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01  /  RECOMMENDATION</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추천: 공통 읽기 부하부터, 트랜잭션 부하로 확장</a:t>
            </a:r>
            <a:endParaRPr lang="ko-KR" sz="3180" dirty="0"/>
          </a:p>
        </p:txBody>
      </p:sp>
      <p:sp>
        <p:nvSpPr>
          <p:cNvPr id="5" name="Shape 3"/>
          <p:cNvSpPr/>
          <p:nvPr/>
        </p:nvSpPr>
        <p:spPr>
          <a:xfrm>
            <a:off x="579120" y="2019300"/>
            <a:ext cx="3520440" cy="3093720"/>
          </a:xfrm>
          <a:prstGeom prst="rect">
            <a:avLst/>
          </a:prstGeom>
          <a:solidFill>
            <a:srgbClr val="FFFFFF"/>
          </a:solidFill>
          <a:ln w="7620">
            <a:solidFill>
              <a:srgbClr val="D7E1E8"/>
            </a:solidFill>
            <a:prstDash val="solid"/>
          </a:ln>
        </p:spPr>
      </p:sp>
      <p:sp>
        <p:nvSpPr>
          <p:cNvPr id="6" name="Text 4"/>
          <p:cNvSpPr/>
          <p:nvPr/>
        </p:nvSpPr>
        <p:spPr>
          <a:xfrm>
            <a:off x="792480" y="2148840"/>
            <a:ext cx="762000" cy="769620"/>
          </a:xfrm>
          <a:prstGeom prst="rect">
            <a:avLst/>
          </a:prstGeom>
          <a:noFill/>
          <a:ln/>
        </p:spPr>
        <p:txBody>
          <a:bodyPr wrap="square" lIns="0" tIns="0" rIns="0" bIns="0" rtlCol="0" anchor="t"/>
          <a:lstStyle/>
          <a:p>
            <a:pPr indent="0" marL="0">
              <a:lnSpc>
                <a:spcPct val="105000"/>
              </a:lnSpc>
              <a:buNone/>
            </a:pPr>
            <a:r>
              <a:rPr lang="ko-KR" altLang="en-US" sz="3900" b="1" dirty="0">
                <a:solidFill>
                  <a:srgbClr val="147D6D"/>
                </a:solidFill>
                <a:latin typeface="Noto Sans CJK KR" pitchFamily="34" charset="0"/>
                <a:ea typeface="Noto Sans CJK KR" pitchFamily="34" charset="-122"/>
                <a:cs typeface="Noto Sans CJK KR" pitchFamily="34" charset="-120"/>
              </a:rPr>
              <a:t>1</a:t>
            </a:r>
            <a:endParaRPr lang="ko-KR" sz="3900" dirty="0"/>
          </a:p>
        </p:txBody>
      </p:sp>
      <p:sp>
        <p:nvSpPr>
          <p:cNvPr id="7" name="Text 5"/>
          <p:cNvSpPr/>
          <p:nvPr/>
        </p:nvSpPr>
        <p:spPr>
          <a:xfrm>
            <a:off x="792480" y="2964180"/>
            <a:ext cx="3124200" cy="426720"/>
          </a:xfrm>
          <a:prstGeom prst="rect">
            <a:avLst/>
          </a:prstGeom>
          <a:noFill/>
          <a:ln/>
        </p:spPr>
        <p:txBody>
          <a:bodyPr wrap="square" lIns="0" tIns="0" rIns="0" bIns="0" rtlCol="0" anchor="t"/>
          <a:lstStyle/>
          <a:p>
            <a:pPr indent="0" marL="0">
              <a:lnSpc>
                <a:spcPct val="105000"/>
              </a:lnSpc>
              <a:buNone/>
            </a:pPr>
            <a:r>
              <a:rPr lang="ko-KR" altLang="en-US" sz="2040" b="1" dirty="0">
                <a:solidFill>
                  <a:srgbClr val="132D43"/>
                </a:solidFill>
                <a:latin typeface="Noto Sans CJK KR" pitchFamily="34" charset="0"/>
                <a:ea typeface="Noto Sans CJK KR" pitchFamily="34" charset="-122"/>
                <a:cs typeface="Noto Sans CJK KR" pitchFamily="34" charset="-120"/>
              </a:rPr>
              <a:t>JDBC 또는 YCSB C</a:t>
            </a:r>
            <a:endParaRPr lang="ko-KR" sz="2040" dirty="0"/>
          </a:p>
        </p:txBody>
      </p:sp>
      <p:sp>
        <p:nvSpPr>
          <p:cNvPr id="8" name="Text 6"/>
          <p:cNvSpPr/>
          <p:nvPr/>
        </p:nvSpPr>
        <p:spPr>
          <a:xfrm>
            <a:off x="792480" y="3581400"/>
            <a:ext cx="3093720" cy="1295400"/>
          </a:xfrm>
          <a:prstGeom prst="rect">
            <a:avLst/>
          </a:prstGeom>
          <a:noFill/>
          <a:ln/>
        </p:spPr>
        <p:txBody>
          <a:bodyPr wrap="square" lIns="0" tIns="0" rIns="0" bIns="0" rtlCol="0" anchor="t"/>
          <a:lstStyle/>
          <a:p>
            <a:pPr indent="0" marL="0">
              <a:lnSpc>
                <a:spcPct val="105000"/>
              </a:lnSpc>
              <a:buNone/>
            </a:pPr>
            <a:r>
              <a:rPr lang="ko-KR" altLang="en-US" sz="1680" dirty="0">
                <a:solidFill>
                  <a:srgbClr val="52687B"/>
                </a:solidFill>
                <a:latin typeface="Noto Sans CJK KR" pitchFamily="34" charset="0"/>
                <a:ea typeface="Noto Sans CJK KR" pitchFamily="34" charset="-122"/>
                <a:cs typeface="Noto Sans CJK KR" pitchFamily="34" charset="-120"/>
              </a:rPr>
              <a:t>같은 키 요청열로 랜덤 읽기</a:t>
            </a:r>
            <a:endParaRPr lang="ko-KR" sz="1680" dirty="0"/>
          </a:p>
          <a:p>
            <a:pPr indent="0" marL="0">
              <a:lnSpc>
                <a:spcPct val="105000"/>
              </a:lnSpc>
              <a:buNone/>
            </a:pPr>
            <a:r>
              <a:rPr lang="ko-KR" altLang="en-US" sz="1680" dirty="0">
                <a:solidFill>
                  <a:srgbClr val="52687B"/>
                </a:solidFill>
                <a:latin typeface="Noto Sans CJK KR" pitchFamily="34" charset="0"/>
                <a:ea typeface="Noto Sans CJK KR" pitchFamily="34" charset="-122"/>
                <a:cs typeface="Noto Sans CJK KR" pitchFamily="34" charset="-120"/>
              </a:rPr>
              <a:t>작업 집합 / 버퍼 비율 3단계</a:t>
            </a:r>
            <a:endParaRPr lang="ko-KR" sz="1680" dirty="0"/>
          </a:p>
          <a:p>
            <a:pPr indent="0" marL="0">
              <a:lnSpc>
                <a:spcPct val="105000"/>
              </a:lnSpc>
              <a:buNone/>
            </a:pPr>
            <a:r>
              <a:rPr lang="ko-KR" altLang="en-US" sz="1680" dirty="0">
                <a:solidFill>
                  <a:srgbClr val="52687B"/>
                </a:solidFill>
                <a:latin typeface="Noto Sans CJK KR" pitchFamily="34" charset="0"/>
                <a:ea typeface="Noto Sans CJK KR" pitchFamily="34" charset="-122"/>
                <a:cs typeface="Noto Sans CJK KR" pitchFamily="34" charset="-120"/>
              </a:rPr>
              <a:t>카운터·처리량·지연 수집 검증</a:t>
            </a:r>
            <a:endParaRPr lang="ko-KR" sz="1680" dirty="0"/>
          </a:p>
        </p:txBody>
      </p:sp>
      <p:sp>
        <p:nvSpPr>
          <p:cNvPr id="9" name="Shape 7"/>
          <p:cNvSpPr/>
          <p:nvPr/>
        </p:nvSpPr>
        <p:spPr>
          <a:xfrm>
            <a:off x="4297680" y="2019300"/>
            <a:ext cx="3520440" cy="3093720"/>
          </a:xfrm>
          <a:prstGeom prst="rect">
            <a:avLst/>
          </a:prstGeom>
          <a:solidFill>
            <a:srgbClr val="FFFFFF"/>
          </a:solidFill>
          <a:ln w="7620">
            <a:solidFill>
              <a:srgbClr val="D7E1E8"/>
            </a:solidFill>
            <a:prstDash val="solid"/>
          </a:ln>
        </p:spPr>
      </p:sp>
      <p:sp>
        <p:nvSpPr>
          <p:cNvPr id="10" name="Text 8"/>
          <p:cNvSpPr/>
          <p:nvPr/>
        </p:nvSpPr>
        <p:spPr>
          <a:xfrm>
            <a:off x="4511040" y="2148840"/>
            <a:ext cx="762000" cy="769620"/>
          </a:xfrm>
          <a:prstGeom prst="rect">
            <a:avLst/>
          </a:prstGeom>
          <a:noFill/>
          <a:ln/>
        </p:spPr>
        <p:txBody>
          <a:bodyPr wrap="square" lIns="0" tIns="0" rIns="0" bIns="0" rtlCol="0" anchor="t"/>
          <a:lstStyle/>
          <a:p>
            <a:pPr indent="0" marL="0">
              <a:lnSpc>
                <a:spcPct val="105000"/>
              </a:lnSpc>
              <a:buNone/>
            </a:pPr>
            <a:r>
              <a:rPr lang="ko-KR" altLang="en-US" sz="3900" b="1" dirty="0">
                <a:solidFill>
                  <a:srgbClr val="147D6D"/>
                </a:solidFill>
                <a:latin typeface="Noto Sans CJK KR" pitchFamily="34" charset="0"/>
                <a:ea typeface="Noto Sans CJK KR" pitchFamily="34" charset="-122"/>
                <a:cs typeface="Noto Sans CJK KR" pitchFamily="34" charset="-120"/>
              </a:rPr>
              <a:t>2</a:t>
            </a:r>
            <a:endParaRPr lang="ko-KR" sz="3900" dirty="0"/>
          </a:p>
        </p:txBody>
      </p:sp>
      <p:sp>
        <p:nvSpPr>
          <p:cNvPr id="11" name="Text 9"/>
          <p:cNvSpPr/>
          <p:nvPr/>
        </p:nvSpPr>
        <p:spPr>
          <a:xfrm>
            <a:off x="4511040" y="2964180"/>
            <a:ext cx="3124200" cy="426720"/>
          </a:xfrm>
          <a:prstGeom prst="rect">
            <a:avLst/>
          </a:prstGeom>
          <a:noFill/>
          <a:ln/>
        </p:spPr>
        <p:txBody>
          <a:bodyPr wrap="square" lIns="0" tIns="0" rIns="0" bIns="0" rtlCol="0" anchor="t"/>
          <a:lstStyle/>
          <a:p>
            <a:pPr indent="0" marL="0">
              <a:lnSpc>
                <a:spcPct val="105000"/>
              </a:lnSpc>
              <a:buNone/>
            </a:pPr>
            <a:r>
              <a:rPr lang="ko-KR" altLang="en-US" sz="2040" b="1" dirty="0">
                <a:solidFill>
                  <a:srgbClr val="132D43"/>
                </a:solidFill>
                <a:latin typeface="Noto Sans CJK KR" pitchFamily="34" charset="0"/>
                <a:ea typeface="Noto Sans CJK KR" pitchFamily="34" charset="-122"/>
                <a:cs typeface="Noto Sans CJK KR" pitchFamily="34" charset="-120"/>
              </a:rPr>
              <a:t>Hot-set + Scan</a:t>
            </a:r>
            <a:endParaRPr lang="ko-KR" sz="2040" dirty="0"/>
          </a:p>
        </p:txBody>
      </p:sp>
      <p:sp>
        <p:nvSpPr>
          <p:cNvPr id="12" name="Text 10"/>
          <p:cNvSpPr/>
          <p:nvPr/>
        </p:nvSpPr>
        <p:spPr>
          <a:xfrm>
            <a:off x="4511040" y="3581400"/>
            <a:ext cx="3093720" cy="1295400"/>
          </a:xfrm>
          <a:prstGeom prst="rect">
            <a:avLst/>
          </a:prstGeom>
          <a:noFill/>
          <a:ln/>
        </p:spPr>
        <p:txBody>
          <a:bodyPr wrap="square" lIns="0" tIns="0" rIns="0" bIns="0" rtlCol="0" anchor="t"/>
          <a:lstStyle/>
          <a:p>
            <a:pPr indent="0" marL="0">
              <a:lnSpc>
                <a:spcPct val="105000"/>
              </a:lnSpc>
              <a:buNone/>
            </a:pPr>
            <a:r>
              <a:rPr lang="ko-KR" altLang="en-US" sz="1680" dirty="0">
                <a:solidFill>
                  <a:srgbClr val="52687B"/>
                </a:solidFill>
                <a:latin typeface="Noto Sans CJK KR" pitchFamily="34" charset="0"/>
                <a:ea typeface="Noto Sans CJK KR" pitchFamily="34" charset="-122"/>
                <a:cs typeface="Noto Sans CJK KR" pitchFamily="34" charset="-120"/>
              </a:rPr>
              <a:t>자주 읽는 집합에 큰 스캔 추가</a:t>
            </a:r>
            <a:endParaRPr lang="ko-KR" sz="1680" dirty="0"/>
          </a:p>
          <a:p>
            <a:pPr indent="0" marL="0">
              <a:lnSpc>
                <a:spcPct val="105000"/>
              </a:lnSpc>
              <a:buNone/>
            </a:pPr>
            <a:r>
              <a:rPr lang="ko-KR" altLang="en-US" sz="1680" dirty="0">
                <a:solidFill>
                  <a:srgbClr val="52687B"/>
                </a:solidFill>
                <a:latin typeface="Noto Sans CJK KR" pitchFamily="34" charset="0"/>
                <a:ea typeface="Noto Sans CJK KR" pitchFamily="34" charset="-122"/>
                <a:cs typeface="Noto Sans CJK KR" pitchFamily="34" charset="-120"/>
              </a:rPr>
              <a:t>hot 요청의 hit·p99·회복 시간</a:t>
            </a:r>
            <a:endParaRPr lang="ko-KR" sz="1680" dirty="0"/>
          </a:p>
          <a:p>
            <a:pPr indent="0" marL="0">
              <a:lnSpc>
                <a:spcPct val="105000"/>
              </a:lnSpc>
              <a:buNone/>
            </a:pPr>
            <a:r>
              <a:rPr lang="ko-KR" altLang="en-US" sz="1680" dirty="0">
                <a:solidFill>
                  <a:srgbClr val="52687B"/>
                </a:solidFill>
                <a:latin typeface="Noto Sans CJK KR" pitchFamily="34" charset="0"/>
                <a:ea typeface="Noto Sans CJK KR" pitchFamily="34" charset="-122"/>
                <a:cs typeface="Noto Sans CJK KR" pitchFamily="34" charset="-120"/>
              </a:rPr>
              <a:t>교체 정책의 영향 조사</a:t>
            </a:r>
            <a:endParaRPr lang="ko-KR" sz="1680" dirty="0"/>
          </a:p>
        </p:txBody>
      </p:sp>
      <p:sp>
        <p:nvSpPr>
          <p:cNvPr id="13" name="Shape 11"/>
          <p:cNvSpPr/>
          <p:nvPr/>
        </p:nvSpPr>
        <p:spPr>
          <a:xfrm>
            <a:off x="8016240" y="2019300"/>
            <a:ext cx="3520440" cy="3093720"/>
          </a:xfrm>
          <a:prstGeom prst="rect">
            <a:avLst/>
          </a:prstGeom>
          <a:solidFill>
            <a:srgbClr val="FFFFFF"/>
          </a:solidFill>
          <a:ln w="7620">
            <a:solidFill>
              <a:srgbClr val="D7E1E8"/>
            </a:solidFill>
            <a:prstDash val="solid"/>
          </a:ln>
        </p:spPr>
      </p:sp>
      <p:sp>
        <p:nvSpPr>
          <p:cNvPr id="14" name="Text 12"/>
          <p:cNvSpPr/>
          <p:nvPr/>
        </p:nvSpPr>
        <p:spPr>
          <a:xfrm>
            <a:off x="8229600" y="2148840"/>
            <a:ext cx="762000" cy="769620"/>
          </a:xfrm>
          <a:prstGeom prst="rect">
            <a:avLst/>
          </a:prstGeom>
          <a:noFill/>
          <a:ln/>
        </p:spPr>
        <p:txBody>
          <a:bodyPr wrap="square" lIns="0" tIns="0" rIns="0" bIns="0" rtlCol="0" anchor="t"/>
          <a:lstStyle/>
          <a:p>
            <a:pPr indent="0" marL="0">
              <a:lnSpc>
                <a:spcPct val="105000"/>
              </a:lnSpc>
              <a:buNone/>
            </a:pPr>
            <a:r>
              <a:rPr lang="ko-KR" altLang="en-US" sz="3900" b="1" dirty="0">
                <a:solidFill>
                  <a:srgbClr val="147D6D"/>
                </a:solidFill>
                <a:latin typeface="Noto Sans CJK KR" pitchFamily="34" charset="0"/>
                <a:ea typeface="Noto Sans CJK KR" pitchFamily="34" charset="-122"/>
                <a:cs typeface="Noto Sans CJK KR" pitchFamily="34" charset="-120"/>
              </a:rPr>
              <a:t>3</a:t>
            </a:r>
            <a:endParaRPr lang="ko-KR" sz="3900" dirty="0"/>
          </a:p>
        </p:txBody>
      </p:sp>
      <p:sp>
        <p:nvSpPr>
          <p:cNvPr id="15" name="Text 13"/>
          <p:cNvSpPr/>
          <p:nvPr/>
        </p:nvSpPr>
        <p:spPr>
          <a:xfrm>
            <a:off x="8229600" y="2964180"/>
            <a:ext cx="3124200" cy="426720"/>
          </a:xfrm>
          <a:prstGeom prst="rect">
            <a:avLst/>
          </a:prstGeom>
          <a:noFill/>
          <a:ln/>
        </p:spPr>
        <p:txBody>
          <a:bodyPr wrap="square" lIns="0" tIns="0" rIns="0" bIns="0" rtlCol="0" anchor="t"/>
          <a:lstStyle/>
          <a:p>
            <a:pPr indent="0" marL="0">
              <a:lnSpc>
                <a:spcPct val="105000"/>
              </a:lnSpc>
              <a:buNone/>
            </a:pPr>
            <a:r>
              <a:rPr lang="ko-KR" altLang="en-US" sz="2040" b="1" dirty="0">
                <a:solidFill>
                  <a:srgbClr val="132D43"/>
                </a:solidFill>
                <a:latin typeface="Noto Sans CJK KR" pitchFamily="34" charset="0"/>
                <a:ea typeface="Noto Sans CJK KR" pitchFamily="34" charset="-122"/>
                <a:cs typeface="Noto Sans CJK KR" pitchFamily="34" charset="-120"/>
              </a:rPr>
              <a:t>TPC-C / TPROC-C</a:t>
            </a:r>
            <a:endParaRPr lang="ko-KR" sz="2040" dirty="0"/>
          </a:p>
        </p:txBody>
      </p:sp>
      <p:sp>
        <p:nvSpPr>
          <p:cNvPr id="16" name="Text 14"/>
          <p:cNvSpPr/>
          <p:nvPr/>
        </p:nvSpPr>
        <p:spPr>
          <a:xfrm>
            <a:off x="8229600" y="3581400"/>
            <a:ext cx="3093720" cy="1295400"/>
          </a:xfrm>
          <a:prstGeom prst="rect">
            <a:avLst/>
          </a:prstGeom>
          <a:noFill/>
          <a:ln/>
        </p:spPr>
        <p:txBody>
          <a:bodyPr wrap="square" lIns="0" tIns="0" rIns="0" bIns="0" rtlCol="0" anchor="t"/>
          <a:lstStyle/>
          <a:p>
            <a:pPr indent="0" marL="0">
              <a:lnSpc>
                <a:spcPct val="105000"/>
              </a:lnSpc>
              <a:buNone/>
            </a:pPr>
            <a:r>
              <a:rPr lang="ko-KR" altLang="en-US" sz="1680" dirty="0">
                <a:solidFill>
                  <a:srgbClr val="52687B"/>
                </a:solidFill>
                <a:latin typeface="Noto Sans CJK KR" pitchFamily="34" charset="0"/>
                <a:ea typeface="Noto Sans CJK KR" pitchFamily="34" charset="-122"/>
                <a:cs typeface="Noto Sans CJK KR" pitchFamily="34" charset="-120"/>
              </a:rPr>
              <a:t>읽기·쓰기·트랜잭션 혼합</a:t>
            </a:r>
            <a:endParaRPr lang="ko-KR" sz="1680" dirty="0"/>
          </a:p>
          <a:p>
            <a:pPr indent="0" marL="0">
              <a:lnSpc>
                <a:spcPct val="105000"/>
              </a:lnSpc>
              <a:buNone/>
            </a:pPr>
            <a:r>
              <a:rPr lang="ko-KR" altLang="en-US" sz="1680" dirty="0">
                <a:solidFill>
                  <a:srgbClr val="52687B"/>
                </a:solidFill>
                <a:latin typeface="Noto Sans CJK KR" pitchFamily="34" charset="0"/>
                <a:ea typeface="Noto Sans CJK KR" pitchFamily="34" charset="-122"/>
                <a:cs typeface="Noto Sans CJK KR" pitchFamily="34" charset="-120"/>
              </a:rPr>
              <a:t>flush·checkpoint·동시성 포함</a:t>
            </a:r>
            <a:endParaRPr lang="ko-KR" sz="1680" dirty="0"/>
          </a:p>
          <a:p>
            <a:pPr indent="0" marL="0">
              <a:lnSpc>
                <a:spcPct val="105000"/>
              </a:lnSpc>
              <a:buNone/>
            </a:pPr>
            <a:r>
              <a:rPr lang="ko-KR" altLang="en-US" sz="1680" dirty="0">
                <a:solidFill>
                  <a:srgbClr val="52687B"/>
                </a:solidFill>
                <a:latin typeface="Noto Sans CJK KR" pitchFamily="34" charset="0"/>
                <a:ea typeface="Noto Sans CJK KR" pitchFamily="34" charset="-122"/>
                <a:cs typeface="Noto Sans CJK KR" pitchFamily="34" charset="-120"/>
              </a:rPr>
              <a:t>실제 업무에 가까운 영향 확인</a:t>
            </a:r>
            <a:endParaRPr lang="ko-KR" sz="1680" dirty="0"/>
          </a:p>
        </p:txBody>
      </p:sp>
      <p:sp>
        <p:nvSpPr>
          <p:cNvPr id="17" name="Shape 15"/>
          <p:cNvSpPr/>
          <p:nvPr/>
        </p:nvSpPr>
        <p:spPr>
          <a:xfrm>
            <a:off x="579120" y="5562600"/>
            <a:ext cx="10911840" cy="533400"/>
          </a:xfrm>
          <a:prstGeom prst="rect">
            <a:avLst/>
          </a:prstGeom>
          <a:solidFill>
            <a:srgbClr val="DDEFEA"/>
          </a:solidFill>
          <a:ln w="12700">
            <a:solidFill>
              <a:srgbClr val="DDEFEA"/>
            </a:solidFill>
            <a:prstDash val="solid"/>
          </a:ln>
        </p:spPr>
      </p:sp>
      <p:sp>
        <p:nvSpPr>
          <p:cNvPr id="18" name="Text 16"/>
          <p:cNvSpPr/>
          <p:nvPr/>
        </p:nvSpPr>
        <p:spPr>
          <a:xfrm>
            <a:off x="762000" y="5692140"/>
            <a:ext cx="10546080" cy="320040"/>
          </a:xfrm>
          <a:prstGeom prst="rect">
            <a:avLst/>
          </a:prstGeom>
          <a:noFill/>
          <a:ln/>
        </p:spPr>
        <p:txBody>
          <a:bodyPr wrap="square" lIns="0" tIns="0" rIns="0" bIns="0" rtlCol="0" anchor="t"/>
          <a:lstStyle/>
          <a:p>
            <a:pPr indent="0" marL="0">
              <a:lnSpc>
                <a:spcPct val="105000"/>
              </a:lnSpc>
              <a:buNone/>
            </a:pPr>
            <a:r>
              <a:rPr lang="ko-KR" altLang="en-US" sz="1620" b="1" dirty="0">
                <a:solidFill>
                  <a:srgbClr val="147D6D"/>
                </a:solidFill>
                <a:latin typeface="Noto Sans CJK KR" pitchFamily="34" charset="0"/>
                <a:ea typeface="Noto Sans CJK KR" pitchFamily="34" charset="-122"/>
                <a:cs typeface="Noto Sans CJK KR" pitchFamily="34" charset="-120"/>
              </a:rPr>
              <a:t>비교 판단 = 성공 처리량 + p95/p99 + 읽기 비용. hit rate는 원인을 설명하는 지표다.</a:t>
            </a:r>
            <a:endParaRPr lang="ko-KR" sz="1620" dirty="0"/>
          </a:p>
        </p:txBody>
      </p:sp>
      <p:sp>
        <p:nvSpPr>
          <p:cNvPr id="19" name="Shape 17"/>
          <p:cNvSpPr/>
          <p:nvPr/>
        </p:nvSpPr>
        <p:spPr>
          <a:xfrm>
            <a:off x="579120" y="6316980"/>
            <a:ext cx="10911840" cy="7620"/>
          </a:xfrm>
          <a:prstGeom prst="rect">
            <a:avLst/>
          </a:prstGeom>
          <a:solidFill>
            <a:srgbClr val="D7E1E8"/>
          </a:solidFill>
          <a:ln w="12700">
            <a:solidFill>
              <a:srgbClr val="D7E1E8"/>
            </a:solidFill>
            <a:prstDash val="solid"/>
          </a:ln>
        </p:spPr>
      </p:sp>
      <p:sp>
        <p:nvSpPr>
          <p:cNvPr id="20" name="Text 18"/>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21" name="Text 19"/>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02 / 25</a:t>
            </a:r>
            <a:endParaRPr lang="ko-KR" sz="1080" dirty="0"/>
          </a:p>
        </p:txBody>
      </p:sp>
      <p:sp>
        <p:nvSpPr>
          <p:cNvPr id="22" name="Text 20">
            <a:hlinkClick r:id="rId1" tooltip=""/>
          </p:cNvPr>
          <p:cNvSpPr/>
          <p:nvPr/>
        </p:nvSpPr>
        <p:spPr>
          <a:xfrm>
            <a:off x="5791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근거</a:t>
            </a:r>
            <a:endParaRPr lang="ko-KR" sz="960" dirty="0"/>
          </a:p>
        </p:txBody>
      </p:sp>
      <p:sp>
        <p:nvSpPr>
          <p:cNvPr id="23" name="Text 21">
            <a:hlinkClick r:id="rId2" tooltip=""/>
          </p:cNvPr>
          <p:cNvSpPr/>
          <p:nvPr/>
        </p:nvSpPr>
        <p:spPr>
          <a:xfrm>
            <a:off x="16078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2" invalidUrl="" action="" tgtFrame="" tooltip="" history="1" highlightClick="0" endSnd="0">
                  <a:extLst>
                    <a:ext uri="{A12FA001-AC4F-418D-AE19-62706E023703}">
                      <ahyp:hlinkClr xmlns:ahyp="http://schemas.microsoft.com/office/drawing/2018/hyperlinkcolor" val="tx"/>
                    </a:ext>
                  </a:extLst>
                </a:hlinkClick>
              </a:rPr>
              <a:t>[S2] 근거</a:t>
            </a:r>
            <a:endParaRPr lang="ko-KR" sz="960" dirty="0"/>
          </a:p>
        </p:txBody>
      </p:sp>
      <p:sp>
        <p:nvSpPr>
          <p:cNvPr id="24" name="Text 22">
            <a:hlinkClick r:id="rId3" tooltip=""/>
          </p:cNvPr>
          <p:cNvSpPr/>
          <p:nvPr/>
        </p:nvSpPr>
        <p:spPr>
          <a:xfrm>
            <a:off x="26365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3" invalidUrl="" action="" tgtFrame="" tooltip="" history="1" highlightClick="0" endSnd="0">
                  <a:extLst>
                    <a:ext uri="{A12FA001-AC4F-418D-AE19-62706E023703}">
                      <ahyp:hlinkClr xmlns:ahyp="http://schemas.microsoft.com/office/drawing/2018/hyperlinkcolor" val="tx"/>
                    </a:ext>
                  </a:extLst>
                </a:hlinkClick>
              </a:rPr>
              <a:t>[S3] 근거</a:t>
            </a:r>
            <a:endParaRPr lang="ko-KR" sz="960" dirty="0"/>
          </a:p>
        </p:txBody>
      </p:sp>
      <p:sp>
        <p:nvSpPr>
          <p:cNvPr id="25" name="Text 23">
            <a:hlinkClick r:id="rId4" tooltip=""/>
          </p:cNvPr>
          <p:cNvSpPr/>
          <p:nvPr/>
        </p:nvSpPr>
        <p:spPr>
          <a:xfrm>
            <a:off x="36652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4" invalidUrl="" action="" tgtFrame="" tooltip="" history="1" highlightClick="0" endSnd="0">
                  <a:extLst>
                    <a:ext uri="{A12FA001-AC4F-418D-AE19-62706E023703}">
                      <ahyp:hlinkClr xmlns:ahyp="http://schemas.microsoft.com/office/drawing/2018/hyperlinkcolor" val="tx"/>
                    </a:ext>
                  </a:extLst>
                </a:hlinkClick>
              </a:rPr>
              <a:t>[S4] 근거</a:t>
            </a:r>
            <a:endParaRPr lang="ko-KR" sz="96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0283D"/>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0283D"/>
          </a:solidFill>
          <a:ln w="12700">
            <a:solidFill>
              <a:srgbClr val="10283D"/>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02  /  WHAT A MISS MEANS</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FFFFFF"/>
                </a:solidFill>
                <a:latin typeface="Noto Sans CJK KR" pitchFamily="34" charset="0"/>
                <a:ea typeface="Noto Sans CJK KR" pitchFamily="34" charset="-122"/>
                <a:cs typeface="Noto Sans CJK KR" pitchFamily="34" charset="-120"/>
              </a:rPr>
              <a:t>DB 버퍼 miss와 실제 장치 읽기를 구분한다</a:t>
            </a:r>
            <a:endParaRPr lang="ko-KR" sz="3180" dirty="0"/>
          </a:p>
        </p:txBody>
      </p:sp>
      <p:sp>
        <p:nvSpPr>
          <p:cNvPr id="5" name="Shape 3"/>
          <p:cNvSpPr/>
          <p:nvPr/>
        </p:nvSpPr>
        <p:spPr>
          <a:xfrm>
            <a:off x="579120" y="2286000"/>
            <a:ext cx="2499360" cy="1417320"/>
          </a:xfrm>
          <a:prstGeom prst="rect">
            <a:avLst/>
          </a:prstGeom>
          <a:solidFill>
            <a:srgbClr val="1A3A51"/>
          </a:solidFill>
          <a:ln w="12700">
            <a:solidFill>
              <a:srgbClr val="1A3A51"/>
            </a:solidFill>
            <a:prstDash val="solid"/>
          </a:ln>
        </p:spPr>
      </p:sp>
      <p:sp>
        <p:nvSpPr>
          <p:cNvPr id="6" name="Text 4"/>
          <p:cNvSpPr/>
          <p:nvPr/>
        </p:nvSpPr>
        <p:spPr>
          <a:xfrm>
            <a:off x="731520" y="2484120"/>
            <a:ext cx="2209800" cy="426720"/>
          </a:xfrm>
          <a:prstGeom prst="rect">
            <a:avLst/>
          </a:prstGeom>
          <a:noFill/>
          <a:ln/>
        </p:spPr>
        <p:txBody>
          <a:bodyPr wrap="square" lIns="0" tIns="0" rIns="0" bIns="0" rtlCol="0" anchor="t"/>
          <a:lstStyle/>
          <a:p>
            <a:pPr indent="0" marL="0">
              <a:lnSpc>
                <a:spcPct val="105000"/>
              </a:lnSpc>
              <a:buNone/>
            </a:pPr>
            <a:r>
              <a:rPr lang="ko-KR" altLang="en-US" sz="2280" b="1" dirty="0">
                <a:solidFill>
                  <a:srgbClr val="BD8737"/>
                </a:solidFill>
                <a:latin typeface="Noto Sans CJK KR" pitchFamily="34" charset="0"/>
                <a:ea typeface="Noto Sans CJK KR" pitchFamily="34" charset="-122"/>
                <a:cs typeface="Noto Sans CJK KR" pitchFamily="34" charset="-120"/>
              </a:rPr>
              <a:t>SQL 요청</a:t>
            </a:r>
            <a:endParaRPr lang="ko-KR" sz="2280" dirty="0"/>
          </a:p>
        </p:txBody>
      </p:sp>
      <p:sp>
        <p:nvSpPr>
          <p:cNvPr id="7" name="Text 5"/>
          <p:cNvSpPr/>
          <p:nvPr/>
        </p:nvSpPr>
        <p:spPr>
          <a:xfrm>
            <a:off x="731520" y="3055620"/>
            <a:ext cx="2209800" cy="533400"/>
          </a:xfrm>
          <a:prstGeom prst="rect">
            <a:avLst/>
          </a:prstGeom>
          <a:noFill/>
          <a:ln/>
        </p:spPr>
        <p:txBody>
          <a:bodyPr wrap="square" lIns="0" tIns="0" rIns="0" bIns="0" rtlCol="0" anchor="t"/>
          <a:lstStyle/>
          <a:p>
            <a:pPr indent="0" marL="0">
              <a:lnSpc>
                <a:spcPct val="105000"/>
              </a:lnSpc>
              <a:buNone/>
            </a:pPr>
            <a:r>
              <a:rPr lang="ko-KR" altLang="en-US" sz="1440" dirty="0">
                <a:solidFill>
                  <a:srgbClr val="C2D3DF"/>
                </a:solidFill>
                <a:latin typeface="Noto Sans CJK KR" pitchFamily="34" charset="0"/>
                <a:ea typeface="Noto Sans CJK KR" pitchFamily="34" charset="-122"/>
                <a:cs typeface="Noto Sans CJK KR" pitchFamily="34" charset="-120"/>
              </a:rPr>
              <a:t>한 SQL이 여러 페이지 접근</a:t>
            </a:r>
            <a:endParaRPr lang="ko-KR" sz="1440" dirty="0"/>
          </a:p>
        </p:txBody>
      </p:sp>
      <p:sp>
        <p:nvSpPr>
          <p:cNvPr id="8" name="Shape 6"/>
          <p:cNvSpPr/>
          <p:nvPr/>
        </p:nvSpPr>
        <p:spPr>
          <a:xfrm>
            <a:off x="3383280" y="2286000"/>
            <a:ext cx="2499360" cy="1417320"/>
          </a:xfrm>
          <a:prstGeom prst="rect">
            <a:avLst/>
          </a:prstGeom>
          <a:solidFill>
            <a:srgbClr val="1A3A51"/>
          </a:solidFill>
          <a:ln w="12700">
            <a:solidFill>
              <a:srgbClr val="1A3A51"/>
            </a:solidFill>
            <a:prstDash val="solid"/>
          </a:ln>
        </p:spPr>
      </p:sp>
      <p:sp>
        <p:nvSpPr>
          <p:cNvPr id="9" name="Text 7"/>
          <p:cNvSpPr/>
          <p:nvPr/>
        </p:nvSpPr>
        <p:spPr>
          <a:xfrm>
            <a:off x="3535680" y="2484120"/>
            <a:ext cx="2209800" cy="426720"/>
          </a:xfrm>
          <a:prstGeom prst="rect">
            <a:avLst/>
          </a:prstGeom>
          <a:noFill/>
          <a:ln/>
        </p:spPr>
        <p:txBody>
          <a:bodyPr wrap="square" lIns="0" tIns="0" rIns="0" bIns="0" rtlCol="0" anchor="t"/>
          <a:lstStyle/>
          <a:p>
            <a:pPr indent="0" marL="0">
              <a:lnSpc>
                <a:spcPct val="105000"/>
              </a:lnSpc>
              <a:buNone/>
            </a:pPr>
            <a:r>
              <a:rPr lang="ko-KR" altLang="en-US" sz="2280" b="1" dirty="0">
                <a:solidFill>
                  <a:srgbClr val="68B7A5"/>
                </a:solidFill>
                <a:latin typeface="Noto Sans CJK KR" pitchFamily="34" charset="0"/>
                <a:ea typeface="Noto Sans CJK KR" pitchFamily="34" charset="-122"/>
                <a:cs typeface="Noto Sans CJK KR" pitchFamily="34" charset="-120"/>
              </a:rPr>
              <a:t>DB buffer</a:t>
            </a:r>
            <a:endParaRPr lang="ko-KR" sz="2280" dirty="0"/>
          </a:p>
        </p:txBody>
      </p:sp>
      <p:sp>
        <p:nvSpPr>
          <p:cNvPr id="10" name="Text 8"/>
          <p:cNvSpPr/>
          <p:nvPr/>
        </p:nvSpPr>
        <p:spPr>
          <a:xfrm>
            <a:off x="3535680" y="3055620"/>
            <a:ext cx="2209800" cy="533400"/>
          </a:xfrm>
          <a:prstGeom prst="rect">
            <a:avLst/>
          </a:prstGeom>
          <a:noFill/>
          <a:ln/>
        </p:spPr>
        <p:txBody>
          <a:bodyPr wrap="square" lIns="0" tIns="0" rIns="0" bIns="0" rtlCol="0" anchor="t"/>
          <a:lstStyle/>
          <a:p>
            <a:pPr indent="0" marL="0">
              <a:lnSpc>
                <a:spcPct val="105000"/>
              </a:lnSpc>
              <a:buNone/>
            </a:pPr>
            <a:r>
              <a:rPr lang="ko-KR" altLang="en-US" sz="1440" dirty="0">
                <a:solidFill>
                  <a:srgbClr val="C2D3DF"/>
                </a:solidFill>
                <a:latin typeface="Noto Sans CJK KR" pitchFamily="34" charset="0"/>
                <a:ea typeface="Noto Sans CJK KR" pitchFamily="34" charset="-122"/>
                <a:cs typeface="Noto Sans CJK KR" pitchFamily="34" charset="-120"/>
              </a:rPr>
              <a:t>엔진 자체 hit / miss</a:t>
            </a:r>
            <a:endParaRPr lang="ko-KR" sz="1440" dirty="0"/>
          </a:p>
        </p:txBody>
      </p:sp>
      <p:sp>
        <p:nvSpPr>
          <p:cNvPr id="11" name="Shape 9"/>
          <p:cNvSpPr/>
          <p:nvPr/>
        </p:nvSpPr>
        <p:spPr>
          <a:xfrm>
            <a:off x="6187440" y="2286000"/>
            <a:ext cx="2499360" cy="1417320"/>
          </a:xfrm>
          <a:prstGeom prst="rect">
            <a:avLst/>
          </a:prstGeom>
          <a:solidFill>
            <a:srgbClr val="1A3A51"/>
          </a:solidFill>
          <a:ln w="12700">
            <a:solidFill>
              <a:srgbClr val="1A3A51"/>
            </a:solidFill>
            <a:prstDash val="solid"/>
          </a:ln>
        </p:spPr>
      </p:sp>
      <p:sp>
        <p:nvSpPr>
          <p:cNvPr id="12" name="Text 10"/>
          <p:cNvSpPr/>
          <p:nvPr/>
        </p:nvSpPr>
        <p:spPr>
          <a:xfrm>
            <a:off x="6339840" y="2484120"/>
            <a:ext cx="2209800" cy="426720"/>
          </a:xfrm>
          <a:prstGeom prst="rect">
            <a:avLst/>
          </a:prstGeom>
          <a:noFill/>
          <a:ln/>
        </p:spPr>
        <p:txBody>
          <a:bodyPr wrap="square" lIns="0" tIns="0" rIns="0" bIns="0" rtlCol="0" anchor="t"/>
          <a:lstStyle/>
          <a:p>
            <a:pPr indent="0" marL="0">
              <a:lnSpc>
                <a:spcPct val="105000"/>
              </a:lnSpc>
              <a:buNone/>
            </a:pPr>
            <a:r>
              <a:rPr lang="ko-KR" altLang="en-US" sz="2280" b="1" dirty="0">
                <a:solidFill>
                  <a:srgbClr val="80B0D1"/>
                </a:solidFill>
                <a:latin typeface="Noto Sans CJK KR" pitchFamily="34" charset="0"/>
                <a:ea typeface="Noto Sans CJK KR" pitchFamily="34" charset="-122"/>
                <a:cs typeface="Noto Sans CJK KR" pitchFamily="34" charset="-120"/>
              </a:rPr>
              <a:t>OS cache</a:t>
            </a:r>
            <a:endParaRPr lang="ko-KR" sz="2280" dirty="0"/>
          </a:p>
        </p:txBody>
      </p:sp>
      <p:sp>
        <p:nvSpPr>
          <p:cNvPr id="13" name="Text 11"/>
          <p:cNvSpPr/>
          <p:nvPr/>
        </p:nvSpPr>
        <p:spPr>
          <a:xfrm>
            <a:off x="6339840" y="3055620"/>
            <a:ext cx="2209800" cy="533400"/>
          </a:xfrm>
          <a:prstGeom prst="rect">
            <a:avLst/>
          </a:prstGeom>
          <a:noFill/>
          <a:ln/>
        </p:spPr>
        <p:txBody>
          <a:bodyPr wrap="square" lIns="0" tIns="0" rIns="0" bIns="0" rtlCol="0" anchor="t"/>
          <a:lstStyle/>
          <a:p>
            <a:pPr indent="0" marL="0">
              <a:lnSpc>
                <a:spcPct val="105000"/>
              </a:lnSpc>
              <a:buNone/>
            </a:pPr>
            <a:r>
              <a:rPr lang="ko-KR" altLang="en-US" sz="1440" dirty="0">
                <a:solidFill>
                  <a:srgbClr val="C2D3DF"/>
                </a:solidFill>
                <a:latin typeface="Noto Sans CJK KR" pitchFamily="34" charset="0"/>
                <a:ea typeface="Noto Sans CJK KR" pitchFamily="34" charset="-122"/>
                <a:cs typeface="Noto Sans CJK KR" pitchFamily="34" charset="-120"/>
              </a:rPr>
              <a:t>엔진 miss도 메모리에서 충족 가능</a:t>
            </a:r>
            <a:endParaRPr lang="ko-KR" sz="1440" dirty="0"/>
          </a:p>
        </p:txBody>
      </p:sp>
      <p:sp>
        <p:nvSpPr>
          <p:cNvPr id="14" name="Shape 12"/>
          <p:cNvSpPr/>
          <p:nvPr/>
        </p:nvSpPr>
        <p:spPr>
          <a:xfrm>
            <a:off x="8991600" y="2286000"/>
            <a:ext cx="2499360" cy="1417320"/>
          </a:xfrm>
          <a:prstGeom prst="rect">
            <a:avLst/>
          </a:prstGeom>
          <a:solidFill>
            <a:srgbClr val="1A3A51"/>
          </a:solidFill>
          <a:ln w="12700">
            <a:solidFill>
              <a:srgbClr val="1A3A51"/>
            </a:solidFill>
            <a:prstDash val="solid"/>
          </a:ln>
        </p:spPr>
      </p:sp>
      <p:sp>
        <p:nvSpPr>
          <p:cNvPr id="15" name="Text 13"/>
          <p:cNvSpPr/>
          <p:nvPr/>
        </p:nvSpPr>
        <p:spPr>
          <a:xfrm>
            <a:off x="9144000" y="2484120"/>
            <a:ext cx="2209800" cy="426720"/>
          </a:xfrm>
          <a:prstGeom prst="rect">
            <a:avLst/>
          </a:prstGeom>
          <a:noFill/>
          <a:ln/>
        </p:spPr>
        <p:txBody>
          <a:bodyPr wrap="square" lIns="0" tIns="0" rIns="0" bIns="0" rtlCol="0" anchor="t"/>
          <a:lstStyle/>
          <a:p>
            <a:pPr indent="0" marL="0">
              <a:lnSpc>
                <a:spcPct val="105000"/>
              </a:lnSpc>
              <a:buNone/>
            </a:pPr>
            <a:r>
              <a:rPr lang="ko-KR" altLang="en-US" sz="2280" b="1" dirty="0">
                <a:solidFill>
                  <a:srgbClr val="80B0D1"/>
                </a:solidFill>
                <a:latin typeface="Noto Sans CJK KR" pitchFamily="34" charset="0"/>
                <a:ea typeface="Noto Sans CJK KR" pitchFamily="34" charset="-122"/>
                <a:cs typeface="Noto Sans CJK KR" pitchFamily="34" charset="-120"/>
              </a:rPr>
              <a:t>Storage</a:t>
            </a:r>
            <a:endParaRPr lang="ko-KR" sz="2280" dirty="0"/>
          </a:p>
        </p:txBody>
      </p:sp>
      <p:sp>
        <p:nvSpPr>
          <p:cNvPr id="16" name="Text 14"/>
          <p:cNvSpPr/>
          <p:nvPr/>
        </p:nvSpPr>
        <p:spPr>
          <a:xfrm>
            <a:off x="9144000" y="3055620"/>
            <a:ext cx="2209800" cy="533400"/>
          </a:xfrm>
          <a:prstGeom prst="rect">
            <a:avLst/>
          </a:prstGeom>
          <a:noFill/>
          <a:ln/>
        </p:spPr>
        <p:txBody>
          <a:bodyPr wrap="square" lIns="0" tIns="0" rIns="0" bIns="0" rtlCol="0" anchor="t"/>
          <a:lstStyle/>
          <a:p>
            <a:pPr indent="0" marL="0">
              <a:lnSpc>
                <a:spcPct val="105000"/>
              </a:lnSpc>
              <a:buNone/>
            </a:pPr>
            <a:r>
              <a:rPr lang="ko-KR" altLang="en-US" sz="1440" dirty="0">
                <a:solidFill>
                  <a:srgbClr val="C2D3DF"/>
                </a:solidFill>
                <a:latin typeface="Noto Sans CJK KR" pitchFamily="34" charset="0"/>
                <a:ea typeface="Noto Sans CJK KR" pitchFamily="34" charset="-122"/>
                <a:cs typeface="Noto Sans CJK KR" pitchFamily="34" charset="-120"/>
              </a:rPr>
              <a:t>실제 장치 I/O</a:t>
            </a:r>
            <a:endParaRPr lang="ko-KR" sz="1440" dirty="0"/>
          </a:p>
        </p:txBody>
      </p:sp>
      <p:sp>
        <p:nvSpPr>
          <p:cNvPr id="17" name="Text 15"/>
          <p:cNvSpPr/>
          <p:nvPr/>
        </p:nvSpPr>
        <p:spPr>
          <a:xfrm>
            <a:off x="3147060" y="2727960"/>
            <a:ext cx="304800" cy="457200"/>
          </a:xfrm>
          <a:prstGeom prst="rect">
            <a:avLst/>
          </a:prstGeom>
          <a:noFill/>
          <a:ln/>
        </p:spPr>
        <p:txBody>
          <a:bodyPr wrap="square" lIns="0" tIns="0" rIns="0" bIns="0" rtlCol="0" anchor="t"/>
          <a:lstStyle/>
          <a:p>
            <a:pPr indent="0" marL="0">
              <a:lnSpc>
                <a:spcPct val="105000"/>
              </a:lnSpc>
              <a:buNone/>
            </a:pPr>
            <a:r>
              <a:rPr lang="ko-KR" altLang="en-US" sz="2340" dirty="0">
                <a:solidFill>
                  <a:srgbClr val="BD8737"/>
                </a:solidFill>
                <a:latin typeface="Noto Sans CJK KR" pitchFamily="34" charset="0"/>
                <a:ea typeface="Noto Sans CJK KR" pitchFamily="34" charset="-122"/>
                <a:cs typeface="Noto Sans CJK KR" pitchFamily="34" charset="-120"/>
              </a:rPr>
              <a:t>→</a:t>
            </a:r>
            <a:endParaRPr lang="ko-KR" sz="2340" dirty="0"/>
          </a:p>
        </p:txBody>
      </p:sp>
      <p:sp>
        <p:nvSpPr>
          <p:cNvPr id="18" name="Text 16"/>
          <p:cNvSpPr/>
          <p:nvPr/>
        </p:nvSpPr>
        <p:spPr>
          <a:xfrm>
            <a:off x="5951220" y="2727960"/>
            <a:ext cx="304800" cy="457200"/>
          </a:xfrm>
          <a:prstGeom prst="rect">
            <a:avLst/>
          </a:prstGeom>
          <a:noFill/>
          <a:ln/>
        </p:spPr>
        <p:txBody>
          <a:bodyPr wrap="square" lIns="0" tIns="0" rIns="0" bIns="0" rtlCol="0" anchor="t"/>
          <a:lstStyle/>
          <a:p>
            <a:pPr indent="0" marL="0">
              <a:lnSpc>
                <a:spcPct val="105000"/>
              </a:lnSpc>
              <a:buNone/>
            </a:pPr>
            <a:r>
              <a:rPr lang="ko-KR" altLang="en-US" sz="2340" dirty="0">
                <a:solidFill>
                  <a:srgbClr val="BD8737"/>
                </a:solidFill>
                <a:latin typeface="Noto Sans CJK KR" pitchFamily="34" charset="0"/>
                <a:ea typeface="Noto Sans CJK KR" pitchFamily="34" charset="-122"/>
                <a:cs typeface="Noto Sans CJK KR" pitchFamily="34" charset="-120"/>
              </a:rPr>
              <a:t>→</a:t>
            </a:r>
            <a:endParaRPr lang="ko-KR" sz="2340" dirty="0"/>
          </a:p>
        </p:txBody>
      </p:sp>
      <p:sp>
        <p:nvSpPr>
          <p:cNvPr id="19" name="Text 17"/>
          <p:cNvSpPr/>
          <p:nvPr/>
        </p:nvSpPr>
        <p:spPr>
          <a:xfrm>
            <a:off x="8755380" y="2727960"/>
            <a:ext cx="304800" cy="457200"/>
          </a:xfrm>
          <a:prstGeom prst="rect">
            <a:avLst/>
          </a:prstGeom>
          <a:noFill/>
          <a:ln/>
        </p:spPr>
        <p:txBody>
          <a:bodyPr wrap="square" lIns="0" tIns="0" rIns="0" bIns="0" rtlCol="0" anchor="t"/>
          <a:lstStyle/>
          <a:p>
            <a:pPr indent="0" marL="0">
              <a:lnSpc>
                <a:spcPct val="105000"/>
              </a:lnSpc>
              <a:buNone/>
            </a:pPr>
            <a:r>
              <a:rPr lang="ko-KR" altLang="en-US" sz="2340" dirty="0">
                <a:solidFill>
                  <a:srgbClr val="BD8737"/>
                </a:solidFill>
                <a:latin typeface="Noto Sans CJK KR" pitchFamily="34" charset="0"/>
                <a:ea typeface="Noto Sans CJK KR" pitchFamily="34" charset="-122"/>
                <a:cs typeface="Noto Sans CJK KR" pitchFamily="34" charset="-120"/>
              </a:rPr>
              <a:t>→</a:t>
            </a:r>
            <a:endParaRPr lang="ko-KR" sz="2340" dirty="0"/>
          </a:p>
        </p:txBody>
      </p:sp>
      <p:sp>
        <p:nvSpPr>
          <p:cNvPr id="20" name="Text 18"/>
          <p:cNvSpPr/>
          <p:nvPr/>
        </p:nvSpPr>
        <p:spPr>
          <a:xfrm>
            <a:off x="609600" y="4175760"/>
            <a:ext cx="10820400" cy="861060"/>
          </a:xfrm>
          <a:prstGeom prst="rect">
            <a:avLst/>
          </a:prstGeom>
          <a:noFill/>
          <a:ln/>
        </p:spPr>
        <p:txBody>
          <a:bodyPr wrap="square" lIns="0" tIns="0" rIns="0" bIns="0" rtlCol="0" anchor="t"/>
          <a:lstStyle/>
          <a:p>
            <a:pPr indent="0" marL="0">
              <a:lnSpc>
                <a:spcPct val="105000"/>
              </a:lnSpc>
              <a:buNone/>
            </a:pPr>
            <a:r>
              <a:rPr lang="ko-KR" altLang="en-US" sz="2040" dirty="0">
                <a:solidFill>
                  <a:srgbClr val="E1EBF1"/>
                </a:solidFill>
                <a:latin typeface="Noto Sans CJK KR" pitchFamily="34" charset="0"/>
                <a:ea typeface="Noto Sans CJK KR" pitchFamily="34" charset="-122"/>
                <a:cs typeface="Noto Sans CJK KR" pitchFamily="34" charset="-120"/>
              </a:rPr>
              <a:t>엔진 카운터  +  OS·장치 지표를 같은 시간축으로 수집</a:t>
            </a:r>
            <a:endParaRPr lang="ko-KR" sz="2040" dirty="0"/>
          </a:p>
          <a:p>
            <a:pPr indent="0" marL="0">
              <a:lnSpc>
                <a:spcPct val="105000"/>
              </a:lnSpc>
              <a:buNone/>
            </a:pPr>
            <a:r>
              <a:rPr lang="ko-KR" altLang="en-US" sz="2040" dirty="0">
                <a:solidFill>
                  <a:srgbClr val="E1EBF1"/>
                </a:solidFill>
                <a:latin typeface="Noto Sans CJK KR" pitchFamily="34" charset="0"/>
                <a:ea typeface="Noto Sans CJK KR" pitchFamily="34" charset="-122"/>
                <a:cs typeface="Noto Sans CJK KR" pitchFamily="34" charset="-120"/>
              </a:rPr>
              <a:t>hit/miss 비율과 iostat의 읽기량은 서로 다른 층을 설명한다</a:t>
            </a:r>
            <a:endParaRPr lang="ko-KR" sz="2040" dirty="0"/>
          </a:p>
        </p:txBody>
      </p:sp>
      <p:sp>
        <p:nvSpPr>
          <p:cNvPr id="21" name="Shape 19"/>
          <p:cNvSpPr/>
          <p:nvPr/>
        </p:nvSpPr>
        <p:spPr>
          <a:xfrm>
            <a:off x="579120" y="5562600"/>
            <a:ext cx="10911840" cy="533400"/>
          </a:xfrm>
          <a:prstGeom prst="rect">
            <a:avLst/>
          </a:prstGeom>
          <a:solidFill>
            <a:srgbClr val="183D4B"/>
          </a:solidFill>
          <a:ln w="12700">
            <a:solidFill>
              <a:srgbClr val="183D4B"/>
            </a:solidFill>
            <a:prstDash val="solid"/>
          </a:ln>
        </p:spPr>
      </p:sp>
      <p:sp>
        <p:nvSpPr>
          <p:cNvPr id="22" name="Text 20"/>
          <p:cNvSpPr/>
          <p:nvPr/>
        </p:nvSpPr>
        <p:spPr>
          <a:xfrm>
            <a:off x="762000" y="5692140"/>
            <a:ext cx="10546080" cy="320040"/>
          </a:xfrm>
          <a:prstGeom prst="rect">
            <a:avLst/>
          </a:prstGeom>
          <a:noFill/>
          <a:ln/>
        </p:spPr>
        <p:txBody>
          <a:bodyPr wrap="square" lIns="0" tIns="0" rIns="0" bIns="0" rtlCol="0" anchor="t"/>
          <a:lstStyle/>
          <a:p>
            <a:pPr indent="0" marL="0">
              <a:lnSpc>
                <a:spcPct val="105000"/>
              </a:lnSpc>
              <a:buNone/>
            </a:pPr>
            <a:r>
              <a:rPr lang="ko-KR" altLang="en-US" sz="1620" b="1" dirty="0">
                <a:solidFill>
                  <a:srgbClr val="FFFFFF"/>
                </a:solidFill>
                <a:latin typeface="Noto Sans CJK KR" pitchFamily="34" charset="0"/>
                <a:ea typeface="Noto Sans CJK KR" pitchFamily="34" charset="-122"/>
                <a:cs typeface="Noto Sans CJK KR" pitchFamily="34" charset="-120"/>
              </a:rPr>
              <a:t>서버 재시작만으로 OS cache까지 cold 상태가 되는 것은 아니다.</a:t>
            </a:r>
            <a:endParaRPr lang="ko-KR" sz="1620" dirty="0"/>
          </a:p>
        </p:txBody>
      </p:sp>
      <p:sp>
        <p:nvSpPr>
          <p:cNvPr id="23" name="Shape 21"/>
          <p:cNvSpPr/>
          <p:nvPr/>
        </p:nvSpPr>
        <p:spPr>
          <a:xfrm>
            <a:off x="579120" y="6316980"/>
            <a:ext cx="10911840" cy="7620"/>
          </a:xfrm>
          <a:prstGeom prst="rect">
            <a:avLst/>
          </a:prstGeom>
          <a:solidFill>
            <a:srgbClr val="355064"/>
          </a:solidFill>
          <a:ln w="12700">
            <a:solidFill>
              <a:srgbClr val="355064"/>
            </a:solidFill>
            <a:prstDash val="solid"/>
          </a:ln>
        </p:spPr>
      </p:sp>
      <p:sp>
        <p:nvSpPr>
          <p:cNvPr id="24" name="Text 22"/>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BACBD8"/>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25" name="Text 23"/>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BACBD8"/>
                </a:solidFill>
                <a:latin typeface="Noto Sans CJK KR" pitchFamily="34" charset="0"/>
                <a:ea typeface="Noto Sans CJK KR" pitchFamily="34" charset="-122"/>
                <a:cs typeface="Noto Sans CJK KR" pitchFamily="34" charset="-120"/>
              </a:rPr>
              <a:t>03 / 25</a:t>
            </a:r>
            <a:endParaRPr lang="ko-KR" sz="1080" dirty="0"/>
          </a:p>
        </p:txBody>
      </p:sp>
      <p:sp>
        <p:nvSpPr>
          <p:cNvPr id="26" name="Text 24">
            <a:hlinkClick r:id="rId1" tooltip=""/>
          </p:cNvPr>
          <p:cNvSpPr/>
          <p:nvPr/>
        </p:nvSpPr>
        <p:spPr>
          <a:xfrm>
            <a:off x="5791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BACBD8"/>
                </a:solidFill>
                <a:latin typeface="Noto Sans CJK KR" pitchFamily="34" charset="0"/>
                <a:ea typeface="Noto Sans CJK KR" pitchFamily="34" charset="-122"/>
                <a:cs typeface="Noto Sans CJK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[S8] 근거</a:t>
            </a:r>
            <a:endParaRPr lang="ko-KR" sz="960" dirty="0"/>
          </a:p>
        </p:txBody>
      </p:sp>
      <p:sp>
        <p:nvSpPr>
          <p:cNvPr id="27" name="Text 25">
            <a:hlinkClick r:id="rId2" tooltip=""/>
          </p:cNvPr>
          <p:cNvSpPr/>
          <p:nvPr/>
        </p:nvSpPr>
        <p:spPr>
          <a:xfrm>
            <a:off x="16078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BACBD8"/>
                </a:solidFill>
                <a:latin typeface="Noto Sans CJK KR" pitchFamily="34" charset="0"/>
                <a:ea typeface="Noto Sans CJK KR" pitchFamily="34" charset="-122"/>
                <a:cs typeface="Noto Sans CJK KR" pitchFamily="34" charset="-120"/>
                <a:hlinkClick r:id="rId2" invalidUrl="" action="" tgtFrame="" tooltip="" history="1" highlightClick="0" endSnd="0">
                  <a:extLst>
                    <a:ext uri="{A12FA001-AC4F-418D-AE19-62706E023703}">
                      <ahyp:hlinkClr xmlns:ahyp="http://schemas.microsoft.com/office/drawing/2018/hyperlinkcolor" val="tx"/>
                    </a:ext>
                  </a:extLst>
                </a:hlinkClick>
              </a:rPr>
              <a:t>[S9] 근거</a:t>
            </a:r>
            <a:endParaRPr lang="ko-KR" sz="96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03  /  WORKING SET ÷ BUFFER</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부하 강도는 작업 집합 / 버퍼 비율로 조절한다</a:t>
            </a:r>
            <a:endParaRPr lang="ko-KR" sz="3180" dirty="0"/>
          </a:p>
        </p:txBody>
      </p:sp>
      <p:sp>
        <p:nvSpPr>
          <p:cNvPr id="5" name="Text 3"/>
          <p:cNvSpPr/>
          <p:nvPr/>
        </p:nvSpPr>
        <p:spPr>
          <a:xfrm>
            <a:off x="609600" y="1965960"/>
            <a:ext cx="1600200" cy="533400"/>
          </a:xfrm>
          <a:prstGeom prst="rect">
            <a:avLst/>
          </a:prstGeom>
          <a:noFill/>
          <a:ln/>
        </p:spPr>
        <p:txBody>
          <a:bodyPr wrap="square" lIns="0" tIns="0" rIns="0" bIns="0" rtlCol="0" anchor="t"/>
          <a:lstStyle/>
          <a:p>
            <a:pPr indent="0" marL="0">
              <a:lnSpc>
                <a:spcPct val="105000"/>
              </a:lnSpc>
              <a:buNone/>
            </a:pPr>
            <a:r>
              <a:rPr lang="ko-KR" altLang="en-US" sz="3120" b="1" dirty="0">
                <a:solidFill>
                  <a:srgbClr val="147D6D"/>
                </a:solidFill>
                <a:latin typeface="Noto Sans CJK KR" pitchFamily="34" charset="0"/>
                <a:ea typeface="Noto Sans CJK KR" pitchFamily="34" charset="-122"/>
                <a:cs typeface="Noto Sans CJK KR" pitchFamily="34" charset="-120"/>
              </a:rPr>
              <a:t>0.25×</a:t>
            </a:r>
            <a:endParaRPr lang="ko-KR" sz="3120" dirty="0"/>
          </a:p>
        </p:txBody>
      </p:sp>
      <p:sp>
        <p:nvSpPr>
          <p:cNvPr id="6" name="Text 4"/>
          <p:cNvSpPr/>
          <p:nvPr/>
        </p:nvSpPr>
        <p:spPr>
          <a:xfrm>
            <a:off x="2286000" y="1965960"/>
            <a:ext cx="3276600" cy="388620"/>
          </a:xfrm>
          <a:prstGeom prst="rect">
            <a:avLst/>
          </a:prstGeom>
          <a:noFill/>
          <a:ln/>
        </p:spPr>
        <p:txBody>
          <a:bodyPr wrap="square" lIns="0" tIns="0" rIns="0" bIns="0" rtlCol="0" anchor="t"/>
          <a:lstStyle/>
          <a:p>
            <a:pPr indent="0" marL="0">
              <a:lnSpc>
                <a:spcPct val="105000"/>
              </a:lnSpc>
              <a:buNone/>
            </a:pPr>
            <a:r>
              <a:rPr lang="ko-KR" altLang="en-US" sz="1980" b="1" dirty="0">
                <a:solidFill>
                  <a:srgbClr val="132D43"/>
                </a:solidFill>
                <a:latin typeface="Noto Sans CJK KR" pitchFamily="34" charset="0"/>
                <a:ea typeface="Noto Sans CJK KR" pitchFamily="34" charset="-122"/>
                <a:cs typeface="Noto Sans CJK KR" pitchFamily="34" charset="-120"/>
              </a:rPr>
              <a:t>대부분 hit를 유도</a:t>
            </a:r>
            <a:endParaRPr lang="ko-KR" sz="1980" dirty="0"/>
          </a:p>
        </p:txBody>
      </p:sp>
      <p:sp>
        <p:nvSpPr>
          <p:cNvPr id="7" name="Text 5"/>
          <p:cNvSpPr/>
          <p:nvPr/>
        </p:nvSpPr>
        <p:spPr>
          <a:xfrm>
            <a:off x="2286000" y="2392680"/>
            <a:ext cx="3733800" cy="419100"/>
          </a:xfrm>
          <a:prstGeom prst="rect">
            <a:avLst/>
          </a:prstGeom>
          <a:noFill/>
          <a:ln/>
        </p:spPr>
        <p:txBody>
          <a:bodyPr wrap="square" lIns="0" tIns="0" rIns="0" bIns="0" rtlCol="0" anchor="t"/>
          <a:lstStyle/>
          <a:p>
            <a:pPr indent="0" marL="0">
              <a:lnSpc>
                <a:spcPct val="105000"/>
              </a:lnSpc>
              <a:buNone/>
            </a:pPr>
            <a:r>
              <a:rPr lang="ko-KR" altLang="en-US" sz="1560" dirty="0">
                <a:solidFill>
                  <a:srgbClr val="52687B"/>
                </a:solidFill>
                <a:latin typeface="Noto Sans CJK KR" pitchFamily="34" charset="0"/>
                <a:ea typeface="Noto Sans CJK KR" pitchFamily="34" charset="-122"/>
                <a:cs typeface="Noto Sans CJK KR" pitchFamily="34" charset="-120"/>
              </a:rPr>
              <a:t>hit 경로 CPU·latch·동시성</a:t>
            </a:r>
            <a:endParaRPr lang="ko-KR" sz="1560" dirty="0"/>
          </a:p>
        </p:txBody>
      </p:sp>
      <p:sp>
        <p:nvSpPr>
          <p:cNvPr id="8" name="Shape 6"/>
          <p:cNvSpPr/>
          <p:nvPr/>
        </p:nvSpPr>
        <p:spPr>
          <a:xfrm>
            <a:off x="6416040" y="2148840"/>
            <a:ext cx="5029200" cy="320040"/>
          </a:xfrm>
          <a:prstGeom prst="rect">
            <a:avLst/>
          </a:prstGeom>
          <a:solidFill>
            <a:srgbClr val="DCE6ED"/>
          </a:solidFill>
          <a:ln w="12700">
            <a:solidFill>
              <a:srgbClr val="DCE6ED"/>
            </a:solidFill>
            <a:prstDash val="solid"/>
          </a:ln>
        </p:spPr>
      </p:sp>
      <p:sp>
        <p:nvSpPr>
          <p:cNvPr id="9" name="Shape 7"/>
          <p:cNvSpPr/>
          <p:nvPr/>
        </p:nvSpPr>
        <p:spPr>
          <a:xfrm>
            <a:off x="6416040" y="2148840"/>
            <a:ext cx="304800" cy="320040"/>
          </a:xfrm>
          <a:prstGeom prst="rect">
            <a:avLst/>
          </a:prstGeom>
          <a:solidFill>
            <a:srgbClr val="147D6D"/>
          </a:solidFill>
          <a:ln w="12700">
            <a:solidFill>
              <a:srgbClr val="147D6D"/>
            </a:solidFill>
            <a:prstDash val="solid"/>
          </a:ln>
        </p:spPr>
      </p:sp>
      <p:sp>
        <p:nvSpPr>
          <p:cNvPr id="10" name="Text 8"/>
          <p:cNvSpPr/>
          <p:nvPr/>
        </p:nvSpPr>
        <p:spPr>
          <a:xfrm>
            <a:off x="609600" y="3108960"/>
            <a:ext cx="1600200" cy="533400"/>
          </a:xfrm>
          <a:prstGeom prst="rect">
            <a:avLst/>
          </a:prstGeom>
          <a:noFill/>
          <a:ln/>
        </p:spPr>
        <p:txBody>
          <a:bodyPr wrap="square" lIns="0" tIns="0" rIns="0" bIns="0" rtlCol="0" anchor="t"/>
          <a:lstStyle/>
          <a:p>
            <a:pPr indent="0" marL="0">
              <a:lnSpc>
                <a:spcPct val="105000"/>
              </a:lnSpc>
              <a:buNone/>
            </a:pPr>
            <a:r>
              <a:rPr lang="ko-KR" altLang="en-US" sz="3120" b="1" dirty="0">
                <a:solidFill>
                  <a:srgbClr val="147D6D"/>
                </a:solidFill>
                <a:latin typeface="Noto Sans CJK KR" pitchFamily="34" charset="0"/>
                <a:ea typeface="Noto Sans CJK KR" pitchFamily="34" charset="-122"/>
                <a:cs typeface="Noto Sans CJK KR" pitchFamily="34" charset="-120"/>
              </a:rPr>
              <a:t>1×</a:t>
            </a:r>
            <a:endParaRPr lang="ko-KR" sz="3120" dirty="0"/>
          </a:p>
        </p:txBody>
      </p:sp>
      <p:sp>
        <p:nvSpPr>
          <p:cNvPr id="11" name="Text 9"/>
          <p:cNvSpPr/>
          <p:nvPr/>
        </p:nvSpPr>
        <p:spPr>
          <a:xfrm>
            <a:off x="2286000" y="3108960"/>
            <a:ext cx="3276600" cy="388620"/>
          </a:xfrm>
          <a:prstGeom prst="rect">
            <a:avLst/>
          </a:prstGeom>
          <a:noFill/>
          <a:ln/>
        </p:spPr>
        <p:txBody>
          <a:bodyPr wrap="square" lIns="0" tIns="0" rIns="0" bIns="0" rtlCol="0" anchor="t"/>
          <a:lstStyle/>
          <a:p>
            <a:pPr indent="0" marL="0">
              <a:lnSpc>
                <a:spcPct val="105000"/>
              </a:lnSpc>
              <a:buNone/>
            </a:pPr>
            <a:r>
              <a:rPr lang="ko-KR" altLang="en-US" sz="1980" b="1" dirty="0">
                <a:solidFill>
                  <a:srgbClr val="132D43"/>
                </a:solidFill>
                <a:latin typeface="Noto Sans CJK KR" pitchFamily="34" charset="0"/>
                <a:ea typeface="Noto Sans CJK KR" pitchFamily="34" charset="-122"/>
                <a:cs typeface="Noto Sans CJK KR" pitchFamily="34" charset="-120"/>
              </a:rPr>
              <a:t>용량 경계</a:t>
            </a:r>
            <a:endParaRPr lang="ko-KR" sz="1980" dirty="0"/>
          </a:p>
        </p:txBody>
      </p:sp>
      <p:sp>
        <p:nvSpPr>
          <p:cNvPr id="12" name="Text 10"/>
          <p:cNvSpPr/>
          <p:nvPr/>
        </p:nvSpPr>
        <p:spPr>
          <a:xfrm>
            <a:off x="2286000" y="3535680"/>
            <a:ext cx="3733800" cy="419100"/>
          </a:xfrm>
          <a:prstGeom prst="rect">
            <a:avLst/>
          </a:prstGeom>
          <a:noFill/>
          <a:ln/>
        </p:spPr>
        <p:txBody>
          <a:bodyPr wrap="square" lIns="0" tIns="0" rIns="0" bIns="0" rtlCol="0" anchor="t"/>
          <a:lstStyle/>
          <a:p>
            <a:pPr indent="0" marL="0">
              <a:lnSpc>
                <a:spcPct val="105000"/>
              </a:lnSpc>
              <a:buNone/>
            </a:pPr>
            <a:r>
              <a:rPr lang="ko-KR" altLang="en-US" sz="1560" dirty="0">
                <a:solidFill>
                  <a:srgbClr val="52687B"/>
                </a:solidFill>
                <a:latin typeface="Noto Sans CJK KR" pitchFamily="34" charset="0"/>
                <a:ea typeface="Noto Sans CJK KR" pitchFamily="34" charset="-122"/>
                <a:cs typeface="Noto Sans CJK KR" pitchFamily="34" charset="-120"/>
              </a:rPr>
              <a:t>locality·교체 민감도</a:t>
            </a:r>
            <a:endParaRPr lang="ko-KR" sz="1560" dirty="0"/>
          </a:p>
        </p:txBody>
      </p:sp>
      <p:sp>
        <p:nvSpPr>
          <p:cNvPr id="13" name="Shape 11"/>
          <p:cNvSpPr/>
          <p:nvPr/>
        </p:nvSpPr>
        <p:spPr>
          <a:xfrm>
            <a:off x="6416040" y="3291840"/>
            <a:ext cx="5029200" cy="320040"/>
          </a:xfrm>
          <a:prstGeom prst="rect">
            <a:avLst/>
          </a:prstGeom>
          <a:solidFill>
            <a:srgbClr val="DCE6ED"/>
          </a:solidFill>
          <a:ln w="12700">
            <a:solidFill>
              <a:srgbClr val="DCE6ED"/>
            </a:solidFill>
            <a:prstDash val="solid"/>
          </a:ln>
        </p:spPr>
      </p:sp>
      <p:sp>
        <p:nvSpPr>
          <p:cNvPr id="14" name="Shape 12"/>
          <p:cNvSpPr/>
          <p:nvPr/>
        </p:nvSpPr>
        <p:spPr>
          <a:xfrm>
            <a:off x="6416040" y="3291840"/>
            <a:ext cx="1219200" cy="320040"/>
          </a:xfrm>
          <a:prstGeom prst="rect">
            <a:avLst/>
          </a:prstGeom>
          <a:solidFill>
            <a:srgbClr val="147D6D"/>
          </a:solidFill>
          <a:ln w="12700">
            <a:solidFill>
              <a:srgbClr val="147D6D"/>
            </a:solidFill>
            <a:prstDash val="solid"/>
          </a:ln>
        </p:spPr>
      </p:sp>
      <p:sp>
        <p:nvSpPr>
          <p:cNvPr id="15" name="Text 13"/>
          <p:cNvSpPr/>
          <p:nvPr/>
        </p:nvSpPr>
        <p:spPr>
          <a:xfrm>
            <a:off x="609600" y="4251960"/>
            <a:ext cx="1600200" cy="533400"/>
          </a:xfrm>
          <a:prstGeom prst="rect">
            <a:avLst/>
          </a:prstGeom>
          <a:noFill/>
          <a:ln/>
        </p:spPr>
        <p:txBody>
          <a:bodyPr wrap="square" lIns="0" tIns="0" rIns="0" bIns="0" rtlCol="0" anchor="t"/>
          <a:lstStyle/>
          <a:p>
            <a:pPr indent="0" marL="0">
              <a:lnSpc>
                <a:spcPct val="105000"/>
              </a:lnSpc>
              <a:buNone/>
            </a:pPr>
            <a:r>
              <a:rPr lang="ko-KR" altLang="en-US" sz="3120" b="1" dirty="0">
                <a:solidFill>
                  <a:srgbClr val="147D6D"/>
                </a:solidFill>
                <a:latin typeface="Noto Sans CJK KR" pitchFamily="34" charset="0"/>
                <a:ea typeface="Noto Sans CJK KR" pitchFamily="34" charset="-122"/>
                <a:cs typeface="Noto Sans CJK KR" pitchFamily="34" charset="-120"/>
              </a:rPr>
              <a:t>4×</a:t>
            </a:r>
            <a:endParaRPr lang="ko-KR" sz="3120" dirty="0"/>
          </a:p>
        </p:txBody>
      </p:sp>
      <p:sp>
        <p:nvSpPr>
          <p:cNvPr id="16" name="Text 14"/>
          <p:cNvSpPr/>
          <p:nvPr/>
        </p:nvSpPr>
        <p:spPr>
          <a:xfrm>
            <a:off x="2286000" y="4251960"/>
            <a:ext cx="3276600" cy="388620"/>
          </a:xfrm>
          <a:prstGeom prst="rect">
            <a:avLst/>
          </a:prstGeom>
          <a:noFill/>
          <a:ln/>
        </p:spPr>
        <p:txBody>
          <a:bodyPr wrap="square" lIns="0" tIns="0" rIns="0" bIns="0" rtlCol="0" anchor="t"/>
          <a:lstStyle/>
          <a:p>
            <a:pPr indent="0" marL="0">
              <a:lnSpc>
                <a:spcPct val="105000"/>
              </a:lnSpc>
              <a:buNone/>
            </a:pPr>
            <a:r>
              <a:rPr lang="ko-KR" altLang="en-US" sz="1980" b="1" dirty="0">
                <a:solidFill>
                  <a:srgbClr val="132D43"/>
                </a:solidFill>
                <a:latin typeface="Noto Sans CJK KR" pitchFamily="34" charset="0"/>
                <a:ea typeface="Noto Sans CJK KR" pitchFamily="34" charset="-122"/>
                <a:cs typeface="Noto Sans CJK KR" pitchFamily="34" charset="-120"/>
              </a:rPr>
              <a:t>지속 miss를 유도</a:t>
            </a:r>
            <a:endParaRPr lang="ko-KR" sz="1980" dirty="0"/>
          </a:p>
        </p:txBody>
      </p:sp>
      <p:sp>
        <p:nvSpPr>
          <p:cNvPr id="17" name="Text 15"/>
          <p:cNvSpPr/>
          <p:nvPr/>
        </p:nvSpPr>
        <p:spPr>
          <a:xfrm>
            <a:off x="2286000" y="4678680"/>
            <a:ext cx="3733800" cy="419100"/>
          </a:xfrm>
          <a:prstGeom prst="rect">
            <a:avLst/>
          </a:prstGeom>
          <a:noFill/>
          <a:ln/>
        </p:spPr>
        <p:txBody>
          <a:bodyPr wrap="square" lIns="0" tIns="0" rIns="0" bIns="0" rtlCol="0" anchor="t"/>
          <a:lstStyle/>
          <a:p>
            <a:pPr indent="0" marL="0">
              <a:lnSpc>
                <a:spcPct val="105000"/>
              </a:lnSpc>
              <a:buNone/>
            </a:pPr>
            <a:r>
              <a:rPr lang="ko-KR" altLang="en-US" sz="1560" dirty="0">
                <a:solidFill>
                  <a:srgbClr val="52687B"/>
                </a:solidFill>
                <a:latin typeface="Noto Sans CJK KR" pitchFamily="34" charset="0"/>
                <a:ea typeface="Noto Sans CJK KR" pitchFamily="34" charset="-122"/>
                <a:cs typeface="Noto Sans CJK KR" pitchFamily="34" charset="-120"/>
              </a:rPr>
              <a:t>victim 탐색·페이지 읽기</a:t>
            </a:r>
            <a:endParaRPr lang="ko-KR" sz="1560" dirty="0"/>
          </a:p>
        </p:txBody>
      </p:sp>
      <p:sp>
        <p:nvSpPr>
          <p:cNvPr id="18" name="Shape 16"/>
          <p:cNvSpPr/>
          <p:nvPr/>
        </p:nvSpPr>
        <p:spPr>
          <a:xfrm>
            <a:off x="6416040" y="4434840"/>
            <a:ext cx="5029200" cy="320040"/>
          </a:xfrm>
          <a:prstGeom prst="rect">
            <a:avLst/>
          </a:prstGeom>
          <a:solidFill>
            <a:srgbClr val="DCE6ED"/>
          </a:solidFill>
          <a:ln w="12700">
            <a:solidFill>
              <a:srgbClr val="DCE6ED"/>
            </a:solidFill>
            <a:prstDash val="solid"/>
          </a:ln>
        </p:spPr>
      </p:sp>
      <p:sp>
        <p:nvSpPr>
          <p:cNvPr id="19" name="Shape 17"/>
          <p:cNvSpPr/>
          <p:nvPr/>
        </p:nvSpPr>
        <p:spPr>
          <a:xfrm>
            <a:off x="6416040" y="4434840"/>
            <a:ext cx="4876800" cy="320040"/>
          </a:xfrm>
          <a:prstGeom prst="rect">
            <a:avLst/>
          </a:prstGeom>
          <a:solidFill>
            <a:srgbClr val="147D6D"/>
          </a:solidFill>
          <a:ln w="12700">
            <a:solidFill>
              <a:srgbClr val="147D6D"/>
            </a:solidFill>
            <a:prstDash val="solid"/>
          </a:ln>
        </p:spPr>
      </p:sp>
      <p:sp>
        <p:nvSpPr>
          <p:cNvPr id="20" name="Text 18"/>
          <p:cNvSpPr/>
          <p:nvPr/>
        </p:nvSpPr>
        <p:spPr>
          <a:xfrm>
            <a:off x="609600" y="5257800"/>
            <a:ext cx="10744200" cy="800100"/>
          </a:xfrm>
          <a:prstGeom prst="rect">
            <a:avLst/>
          </a:prstGeom>
          <a:noFill/>
          <a:ln/>
        </p:spPr>
        <p:txBody>
          <a:bodyPr wrap="square" lIns="0" tIns="0" rIns="0" bIns="0" rtlCol="0" anchor="t"/>
          <a:lstStyle/>
          <a:p>
            <a:pPr indent="0" marL="0">
              <a:lnSpc>
                <a:spcPct val="105000"/>
              </a:lnSpc>
              <a:buNone/>
            </a:pPr>
            <a:r>
              <a:rPr lang="ko-KR" altLang="en-US" sz="1440" dirty="0">
                <a:solidFill>
                  <a:srgbClr val="52687B"/>
                </a:solidFill>
                <a:latin typeface="Noto Sans CJK KR" pitchFamily="34" charset="0"/>
                <a:ea typeface="Noto Sans CJK KR" pitchFamily="34" charset="-122"/>
                <a:cs typeface="Noto Sans CJK KR" pitchFamily="34" charset="-120"/>
              </a:rPr>
              <a:t>작업 집합 = 실제 접근하는 데이터·인덱스 페이지. 비율은 조건 예시이며 hit %를 보장하지 않는다.</a:t>
            </a:r>
            <a:endParaRPr lang="ko-KR" sz="1440" dirty="0"/>
          </a:p>
          <a:p>
            <a:pPr indent="0" marL="0">
              <a:lnSpc>
                <a:spcPct val="105000"/>
              </a:lnSpc>
              <a:buNone/>
            </a:pPr>
            <a:r>
              <a:rPr lang="ko-KR" altLang="en-US" sz="1440" dirty="0">
                <a:solidFill>
                  <a:srgbClr val="52687B"/>
                </a:solidFill>
                <a:latin typeface="Noto Sans CJK KR" pitchFamily="34" charset="0"/>
                <a:ea typeface="Noto Sans CJK KR" pitchFamily="34" charset="-122"/>
                <a:cs typeface="Noto Sans CJK KR" pitchFamily="34" charset="-120"/>
              </a:rPr>
              <a:t>예: 버퍼 4 GiB일 때 접근 footprint 1 / 4 / 16 GiB. 총 파일 크기와 구분한다.</a:t>
            </a:r>
            <a:endParaRPr lang="ko-KR" sz="1440" dirty="0"/>
          </a:p>
          <a:p>
            <a:pPr indent="0" marL="0">
              <a:lnSpc>
                <a:spcPct val="105000"/>
              </a:lnSpc>
              <a:buNone/>
            </a:pPr>
            <a:r>
              <a:rPr lang="ko-KR" altLang="en-US" sz="1440" dirty="0">
                <a:solidFill>
                  <a:srgbClr val="52687B"/>
                </a:solidFill>
                <a:latin typeface="Noto Sans CJK KR" pitchFamily="34" charset="0"/>
                <a:ea typeface="Noto Sans CJK KR" pitchFamily="34" charset="-122"/>
                <a:cs typeface="Noto Sans CJK KR" pitchFamily="34" charset="-120"/>
              </a:rPr>
              <a:t>B의 설정: CUBRID data_buffer_size / MySQL innodb_buffer_pool_size / PostgreSQL shared_buffers</a:t>
            </a:r>
            <a:endParaRPr lang="ko-KR" sz="1440" dirty="0"/>
          </a:p>
        </p:txBody>
      </p:sp>
      <p:sp>
        <p:nvSpPr>
          <p:cNvPr id="21" name="Shape 19"/>
          <p:cNvSpPr/>
          <p:nvPr/>
        </p:nvSpPr>
        <p:spPr>
          <a:xfrm>
            <a:off x="579120" y="6316980"/>
            <a:ext cx="10911840" cy="7620"/>
          </a:xfrm>
          <a:prstGeom prst="rect">
            <a:avLst/>
          </a:prstGeom>
          <a:solidFill>
            <a:srgbClr val="D7E1E8"/>
          </a:solidFill>
          <a:ln w="12700">
            <a:solidFill>
              <a:srgbClr val="D7E1E8"/>
            </a:solidFill>
            <a:prstDash val="solid"/>
          </a:ln>
        </p:spPr>
      </p:sp>
      <p:sp>
        <p:nvSpPr>
          <p:cNvPr id="22" name="Text 20"/>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23" name="Text 21"/>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04 / 25</a:t>
            </a:r>
            <a:endParaRPr lang="ko-KR" sz="10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04  /  CANDIDATE MAP</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후보 5종: 버퍼 원인 분석과 업무 대표성을 나눠 선택</a:t>
            </a:r>
            <a:endParaRPr lang="ko-KR" sz="3180" dirty="0"/>
          </a:p>
        </p:txBody>
      </p:sp>
      <p:sp>
        <p:nvSpPr>
          <p:cNvPr id="5" name="Shape 3"/>
          <p:cNvSpPr/>
          <p:nvPr/>
        </p:nvSpPr>
        <p:spPr>
          <a:xfrm>
            <a:off x="579120" y="1866900"/>
            <a:ext cx="2133600" cy="632460"/>
          </a:xfrm>
          <a:prstGeom prst="rect">
            <a:avLst/>
          </a:prstGeom>
          <a:solidFill>
            <a:srgbClr val="132D43"/>
          </a:solidFill>
          <a:ln w="12700">
            <a:solidFill>
              <a:srgbClr val="132D43"/>
            </a:solidFill>
            <a:prstDash val="solid"/>
          </a:ln>
        </p:spPr>
      </p:sp>
      <p:sp>
        <p:nvSpPr>
          <p:cNvPr id="6" name="Text 4"/>
          <p:cNvSpPr/>
          <p:nvPr/>
        </p:nvSpPr>
        <p:spPr>
          <a:xfrm>
            <a:off x="716280" y="1996440"/>
            <a:ext cx="1889760" cy="457200"/>
          </a:xfrm>
          <a:prstGeom prst="rect">
            <a:avLst/>
          </a:prstGeom>
          <a:noFill/>
          <a:ln/>
        </p:spPr>
        <p:txBody>
          <a:bodyPr wrap="square" lIns="0" tIns="0" rIns="0" bIns="0" rtlCol="0" anchor="t"/>
          <a:lstStyle/>
          <a:p>
            <a:pPr indent="0" marL="0">
              <a:lnSpc>
                <a:spcPct val="105000"/>
              </a:lnSpc>
              <a:buNone/>
            </a:pPr>
            <a:r>
              <a:rPr lang="ko-KR" altLang="en-US" sz="1500" b="1" dirty="0">
                <a:solidFill>
                  <a:srgbClr val="FFFFFF"/>
                </a:solidFill>
                <a:latin typeface="Noto Sans CJK KR" pitchFamily="34" charset="0"/>
                <a:ea typeface="Noto Sans CJK KR" pitchFamily="34" charset="-122"/>
                <a:cs typeface="Noto Sans CJK KR" pitchFamily="34" charset="-120"/>
              </a:rPr>
              <a:t>후보</a:t>
            </a:r>
            <a:endParaRPr lang="ko-KR" sz="1500" dirty="0"/>
          </a:p>
        </p:txBody>
      </p:sp>
      <p:sp>
        <p:nvSpPr>
          <p:cNvPr id="7" name="Shape 5"/>
          <p:cNvSpPr/>
          <p:nvPr/>
        </p:nvSpPr>
        <p:spPr>
          <a:xfrm>
            <a:off x="2712720" y="1866900"/>
            <a:ext cx="3048000" cy="632460"/>
          </a:xfrm>
          <a:prstGeom prst="rect">
            <a:avLst/>
          </a:prstGeom>
          <a:solidFill>
            <a:srgbClr val="132D43"/>
          </a:solidFill>
          <a:ln w="12700">
            <a:solidFill>
              <a:srgbClr val="132D43"/>
            </a:solidFill>
            <a:prstDash val="solid"/>
          </a:ln>
        </p:spPr>
      </p:sp>
      <p:sp>
        <p:nvSpPr>
          <p:cNvPr id="8" name="Text 6"/>
          <p:cNvSpPr/>
          <p:nvPr/>
        </p:nvSpPr>
        <p:spPr>
          <a:xfrm>
            <a:off x="2849880" y="1996440"/>
            <a:ext cx="2804160" cy="457200"/>
          </a:xfrm>
          <a:prstGeom prst="rect">
            <a:avLst/>
          </a:prstGeom>
          <a:noFill/>
          <a:ln/>
        </p:spPr>
        <p:txBody>
          <a:bodyPr wrap="square" lIns="0" tIns="0" rIns="0" bIns="0" rtlCol="0" anchor="t"/>
          <a:lstStyle/>
          <a:p>
            <a:pPr indent="0" marL="0">
              <a:lnSpc>
                <a:spcPct val="105000"/>
              </a:lnSpc>
              <a:buNone/>
            </a:pPr>
            <a:r>
              <a:rPr lang="ko-KR" altLang="en-US" sz="1500" b="1" dirty="0">
                <a:solidFill>
                  <a:srgbClr val="FFFFFF"/>
                </a:solidFill>
                <a:latin typeface="Noto Sans CJK KR" pitchFamily="34" charset="0"/>
                <a:ea typeface="Noto Sans CJK KR" pitchFamily="34" charset="-122"/>
                <a:cs typeface="Noto Sans CJK KR" pitchFamily="34" charset="-120"/>
              </a:rPr>
              <a:t>잘 보는 것</a:t>
            </a:r>
            <a:endParaRPr lang="ko-KR" sz="1500" dirty="0"/>
          </a:p>
        </p:txBody>
      </p:sp>
      <p:sp>
        <p:nvSpPr>
          <p:cNvPr id="9" name="Shape 7"/>
          <p:cNvSpPr/>
          <p:nvPr/>
        </p:nvSpPr>
        <p:spPr>
          <a:xfrm>
            <a:off x="5760720" y="1866900"/>
            <a:ext cx="3124200" cy="632460"/>
          </a:xfrm>
          <a:prstGeom prst="rect">
            <a:avLst/>
          </a:prstGeom>
          <a:solidFill>
            <a:srgbClr val="132D43"/>
          </a:solidFill>
          <a:ln w="12700">
            <a:solidFill>
              <a:srgbClr val="132D43"/>
            </a:solidFill>
            <a:prstDash val="solid"/>
          </a:ln>
        </p:spPr>
      </p:sp>
      <p:sp>
        <p:nvSpPr>
          <p:cNvPr id="10" name="Text 8"/>
          <p:cNvSpPr/>
          <p:nvPr/>
        </p:nvSpPr>
        <p:spPr>
          <a:xfrm>
            <a:off x="5897880" y="1996440"/>
            <a:ext cx="2880360" cy="457200"/>
          </a:xfrm>
          <a:prstGeom prst="rect">
            <a:avLst/>
          </a:prstGeom>
          <a:noFill/>
          <a:ln/>
        </p:spPr>
        <p:txBody>
          <a:bodyPr wrap="square" lIns="0" tIns="0" rIns="0" bIns="0" rtlCol="0" anchor="t"/>
          <a:lstStyle/>
          <a:p>
            <a:pPr indent="0" marL="0">
              <a:lnSpc>
                <a:spcPct val="105000"/>
              </a:lnSpc>
              <a:buNone/>
            </a:pPr>
            <a:r>
              <a:rPr lang="ko-KR" altLang="en-US" sz="1500" b="1" dirty="0">
                <a:solidFill>
                  <a:srgbClr val="FFFFFF"/>
                </a:solidFill>
                <a:latin typeface="Noto Sans CJK KR" pitchFamily="34" charset="0"/>
                <a:ea typeface="Noto Sans CJK KR" pitchFamily="34" charset="-122"/>
                <a:cs typeface="Noto Sans CJK KR" pitchFamily="34" charset="-120"/>
              </a:rPr>
              <a:t>CUBRID 연동</a:t>
            </a:r>
            <a:endParaRPr lang="ko-KR" sz="1500" dirty="0"/>
          </a:p>
        </p:txBody>
      </p:sp>
      <p:sp>
        <p:nvSpPr>
          <p:cNvPr id="11" name="Shape 9"/>
          <p:cNvSpPr/>
          <p:nvPr/>
        </p:nvSpPr>
        <p:spPr>
          <a:xfrm>
            <a:off x="8884920" y="1866900"/>
            <a:ext cx="2606040" cy="632460"/>
          </a:xfrm>
          <a:prstGeom prst="rect">
            <a:avLst/>
          </a:prstGeom>
          <a:solidFill>
            <a:srgbClr val="132D43"/>
          </a:solidFill>
          <a:ln w="12700">
            <a:solidFill>
              <a:srgbClr val="132D43"/>
            </a:solidFill>
            <a:prstDash val="solid"/>
          </a:ln>
        </p:spPr>
      </p:sp>
      <p:sp>
        <p:nvSpPr>
          <p:cNvPr id="12" name="Text 10"/>
          <p:cNvSpPr/>
          <p:nvPr/>
        </p:nvSpPr>
        <p:spPr>
          <a:xfrm>
            <a:off x="9022080" y="1996440"/>
            <a:ext cx="2362200" cy="457200"/>
          </a:xfrm>
          <a:prstGeom prst="rect">
            <a:avLst/>
          </a:prstGeom>
          <a:noFill/>
          <a:ln/>
        </p:spPr>
        <p:txBody>
          <a:bodyPr wrap="square" lIns="0" tIns="0" rIns="0" bIns="0" rtlCol="0" anchor="t"/>
          <a:lstStyle/>
          <a:p>
            <a:pPr indent="0" marL="0">
              <a:lnSpc>
                <a:spcPct val="105000"/>
              </a:lnSpc>
              <a:buNone/>
            </a:pPr>
            <a:r>
              <a:rPr lang="ko-KR" altLang="en-US" sz="1500" b="1" dirty="0">
                <a:solidFill>
                  <a:srgbClr val="FFFFFF"/>
                </a:solidFill>
                <a:latin typeface="Noto Sans CJK KR" pitchFamily="34" charset="0"/>
                <a:ea typeface="Noto Sans CJK KR" pitchFamily="34" charset="-122"/>
                <a:cs typeface="Noto Sans CJK KR" pitchFamily="34" charset="-120"/>
              </a:rPr>
              <a:t>이번 용도</a:t>
            </a:r>
            <a:endParaRPr lang="ko-KR" sz="1500" dirty="0"/>
          </a:p>
        </p:txBody>
      </p:sp>
      <p:sp>
        <p:nvSpPr>
          <p:cNvPr id="13" name="Shape 11"/>
          <p:cNvSpPr/>
          <p:nvPr/>
        </p:nvSpPr>
        <p:spPr>
          <a:xfrm>
            <a:off x="579120" y="2499360"/>
            <a:ext cx="2133600" cy="632460"/>
          </a:xfrm>
          <a:prstGeom prst="rect">
            <a:avLst/>
          </a:prstGeom>
          <a:solidFill>
            <a:srgbClr val="FFFFFF"/>
          </a:solidFill>
          <a:ln w="12700">
            <a:solidFill>
              <a:srgbClr val="FFFFFF"/>
            </a:solidFill>
            <a:prstDash val="solid"/>
          </a:ln>
        </p:spPr>
      </p:sp>
      <p:sp>
        <p:nvSpPr>
          <p:cNvPr id="14" name="Text 12"/>
          <p:cNvSpPr/>
          <p:nvPr/>
        </p:nvSpPr>
        <p:spPr>
          <a:xfrm>
            <a:off x="716280" y="2628900"/>
            <a:ext cx="188976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공통 JDBC 부하</a:t>
            </a:r>
            <a:endParaRPr lang="ko-KR" sz="1500" dirty="0"/>
          </a:p>
        </p:txBody>
      </p:sp>
      <p:sp>
        <p:nvSpPr>
          <p:cNvPr id="15" name="Shape 13"/>
          <p:cNvSpPr/>
          <p:nvPr/>
        </p:nvSpPr>
        <p:spPr>
          <a:xfrm>
            <a:off x="2712720" y="2499360"/>
            <a:ext cx="3048000" cy="632460"/>
          </a:xfrm>
          <a:prstGeom prst="rect">
            <a:avLst/>
          </a:prstGeom>
          <a:solidFill>
            <a:srgbClr val="FFFFFF"/>
          </a:solidFill>
          <a:ln w="12700">
            <a:solidFill>
              <a:srgbClr val="FFFFFF"/>
            </a:solidFill>
            <a:prstDash val="solid"/>
          </a:ln>
        </p:spPr>
      </p:sp>
      <p:sp>
        <p:nvSpPr>
          <p:cNvPr id="16" name="Text 14"/>
          <p:cNvSpPr/>
          <p:nvPr/>
        </p:nvSpPr>
        <p:spPr>
          <a:xfrm>
            <a:off x="2849880" y="2628900"/>
            <a:ext cx="280416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hit·miss·scan을 직접 통제</a:t>
            </a:r>
            <a:endParaRPr lang="ko-KR" sz="1500" dirty="0"/>
          </a:p>
        </p:txBody>
      </p:sp>
      <p:sp>
        <p:nvSpPr>
          <p:cNvPr id="17" name="Shape 15"/>
          <p:cNvSpPr/>
          <p:nvPr/>
        </p:nvSpPr>
        <p:spPr>
          <a:xfrm>
            <a:off x="5760720" y="2499360"/>
            <a:ext cx="3124200" cy="632460"/>
          </a:xfrm>
          <a:prstGeom prst="rect">
            <a:avLst/>
          </a:prstGeom>
          <a:solidFill>
            <a:srgbClr val="FFFFFF"/>
          </a:solidFill>
          <a:ln w="12700">
            <a:solidFill>
              <a:srgbClr val="FFFFFF"/>
            </a:solidFill>
            <a:prstDash val="solid"/>
          </a:ln>
        </p:spPr>
      </p:sp>
      <p:sp>
        <p:nvSpPr>
          <p:cNvPr id="18" name="Text 16"/>
          <p:cNvSpPr/>
          <p:nvPr/>
        </p:nvSpPr>
        <p:spPr>
          <a:xfrm>
            <a:off x="5897880" y="2628900"/>
            <a:ext cx="288036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직접 구현·검증</a:t>
            </a:r>
            <a:endParaRPr lang="ko-KR" sz="1500" dirty="0"/>
          </a:p>
        </p:txBody>
      </p:sp>
      <p:sp>
        <p:nvSpPr>
          <p:cNvPr id="19" name="Shape 17"/>
          <p:cNvSpPr/>
          <p:nvPr/>
        </p:nvSpPr>
        <p:spPr>
          <a:xfrm>
            <a:off x="8884920" y="2499360"/>
            <a:ext cx="2606040" cy="632460"/>
          </a:xfrm>
          <a:prstGeom prst="rect">
            <a:avLst/>
          </a:prstGeom>
          <a:solidFill>
            <a:srgbClr val="FFFFFF"/>
          </a:solidFill>
          <a:ln w="12700">
            <a:solidFill>
              <a:srgbClr val="FFFFFF"/>
            </a:solidFill>
            <a:prstDash val="solid"/>
          </a:ln>
        </p:spPr>
      </p:sp>
      <p:sp>
        <p:nvSpPr>
          <p:cNvPr id="20" name="Text 18"/>
          <p:cNvSpPr/>
          <p:nvPr/>
        </p:nvSpPr>
        <p:spPr>
          <a:xfrm>
            <a:off x="9022080" y="2628900"/>
            <a:ext cx="236220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1차 원인 분석</a:t>
            </a:r>
            <a:endParaRPr lang="ko-KR" sz="1500" dirty="0"/>
          </a:p>
        </p:txBody>
      </p:sp>
      <p:sp>
        <p:nvSpPr>
          <p:cNvPr id="21" name="Shape 19"/>
          <p:cNvSpPr/>
          <p:nvPr/>
        </p:nvSpPr>
        <p:spPr>
          <a:xfrm>
            <a:off x="579120" y="3131820"/>
            <a:ext cx="2133600" cy="632460"/>
          </a:xfrm>
          <a:prstGeom prst="rect">
            <a:avLst/>
          </a:prstGeom>
          <a:solidFill>
            <a:srgbClr val="EAF0F4"/>
          </a:solidFill>
          <a:ln w="12700">
            <a:solidFill>
              <a:srgbClr val="EAF0F4"/>
            </a:solidFill>
            <a:prstDash val="solid"/>
          </a:ln>
        </p:spPr>
      </p:sp>
      <p:sp>
        <p:nvSpPr>
          <p:cNvPr id="22" name="Text 20"/>
          <p:cNvSpPr/>
          <p:nvPr/>
        </p:nvSpPr>
        <p:spPr>
          <a:xfrm>
            <a:off x="716280" y="3261360"/>
            <a:ext cx="188976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YCSB</a:t>
            </a:r>
            <a:endParaRPr lang="ko-KR" sz="1500" dirty="0"/>
          </a:p>
        </p:txBody>
      </p:sp>
      <p:sp>
        <p:nvSpPr>
          <p:cNvPr id="23" name="Shape 21"/>
          <p:cNvSpPr/>
          <p:nvPr/>
        </p:nvSpPr>
        <p:spPr>
          <a:xfrm>
            <a:off x="2712720" y="3131820"/>
            <a:ext cx="3048000" cy="632460"/>
          </a:xfrm>
          <a:prstGeom prst="rect">
            <a:avLst/>
          </a:prstGeom>
          <a:solidFill>
            <a:srgbClr val="EAF0F4"/>
          </a:solidFill>
          <a:ln w="12700">
            <a:solidFill>
              <a:srgbClr val="EAF0F4"/>
            </a:solidFill>
            <a:prstDash val="solid"/>
          </a:ln>
        </p:spPr>
      </p:sp>
      <p:sp>
        <p:nvSpPr>
          <p:cNvPr id="24" name="Text 22"/>
          <p:cNvSpPr/>
          <p:nvPr/>
        </p:nvSpPr>
        <p:spPr>
          <a:xfrm>
            <a:off x="2849880" y="3261360"/>
            <a:ext cx="280416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키 기반 읽기·쓰기·locality</a:t>
            </a:r>
            <a:endParaRPr lang="ko-KR" sz="1500" dirty="0"/>
          </a:p>
        </p:txBody>
      </p:sp>
      <p:sp>
        <p:nvSpPr>
          <p:cNvPr id="25" name="Shape 23"/>
          <p:cNvSpPr/>
          <p:nvPr/>
        </p:nvSpPr>
        <p:spPr>
          <a:xfrm>
            <a:off x="5760720" y="3131820"/>
            <a:ext cx="3124200" cy="632460"/>
          </a:xfrm>
          <a:prstGeom prst="rect">
            <a:avLst/>
          </a:prstGeom>
          <a:solidFill>
            <a:srgbClr val="EAF0F4"/>
          </a:solidFill>
          <a:ln w="12700">
            <a:solidFill>
              <a:srgbClr val="EAF0F4"/>
            </a:solidFill>
            <a:prstDash val="solid"/>
          </a:ln>
        </p:spPr>
      </p:sp>
      <p:sp>
        <p:nvSpPr>
          <p:cNvPr id="26" name="Text 24"/>
          <p:cNvSpPr/>
          <p:nvPr/>
        </p:nvSpPr>
        <p:spPr>
          <a:xfrm>
            <a:off x="5897880" y="3261360"/>
            <a:ext cx="288036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JDBC 호환성 검증 필요</a:t>
            </a:r>
            <a:endParaRPr lang="ko-KR" sz="1500" dirty="0"/>
          </a:p>
        </p:txBody>
      </p:sp>
      <p:sp>
        <p:nvSpPr>
          <p:cNvPr id="27" name="Shape 25"/>
          <p:cNvSpPr/>
          <p:nvPr/>
        </p:nvSpPr>
        <p:spPr>
          <a:xfrm>
            <a:off x="8884920" y="3131820"/>
            <a:ext cx="2606040" cy="632460"/>
          </a:xfrm>
          <a:prstGeom prst="rect">
            <a:avLst/>
          </a:prstGeom>
          <a:solidFill>
            <a:srgbClr val="EAF0F4"/>
          </a:solidFill>
          <a:ln w="12700">
            <a:solidFill>
              <a:srgbClr val="EAF0F4"/>
            </a:solidFill>
            <a:prstDash val="solid"/>
          </a:ln>
        </p:spPr>
      </p:sp>
      <p:sp>
        <p:nvSpPr>
          <p:cNvPr id="28" name="Text 26"/>
          <p:cNvSpPr/>
          <p:nvPr/>
        </p:nvSpPr>
        <p:spPr>
          <a:xfrm>
            <a:off x="9022080" y="3261360"/>
            <a:ext cx="236220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1차 공통 부하 후보</a:t>
            </a:r>
            <a:endParaRPr lang="ko-KR" sz="1500" dirty="0"/>
          </a:p>
        </p:txBody>
      </p:sp>
      <p:sp>
        <p:nvSpPr>
          <p:cNvPr id="29" name="Shape 27"/>
          <p:cNvSpPr/>
          <p:nvPr/>
        </p:nvSpPr>
        <p:spPr>
          <a:xfrm>
            <a:off x="579120" y="3764280"/>
            <a:ext cx="2133600" cy="632460"/>
          </a:xfrm>
          <a:prstGeom prst="rect">
            <a:avLst/>
          </a:prstGeom>
          <a:solidFill>
            <a:srgbClr val="FFFFFF"/>
          </a:solidFill>
          <a:ln w="12700">
            <a:solidFill>
              <a:srgbClr val="FFFFFF"/>
            </a:solidFill>
            <a:prstDash val="solid"/>
          </a:ln>
        </p:spPr>
      </p:sp>
      <p:sp>
        <p:nvSpPr>
          <p:cNvPr id="30" name="Text 28"/>
          <p:cNvSpPr/>
          <p:nvPr/>
        </p:nvSpPr>
        <p:spPr>
          <a:xfrm>
            <a:off x="716280" y="3893820"/>
            <a:ext cx="188976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sysbench OLTP</a:t>
            </a:r>
            <a:endParaRPr lang="ko-KR" sz="1500" dirty="0"/>
          </a:p>
        </p:txBody>
      </p:sp>
      <p:sp>
        <p:nvSpPr>
          <p:cNvPr id="31" name="Shape 29"/>
          <p:cNvSpPr/>
          <p:nvPr/>
        </p:nvSpPr>
        <p:spPr>
          <a:xfrm>
            <a:off x="2712720" y="3764280"/>
            <a:ext cx="3048000" cy="632460"/>
          </a:xfrm>
          <a:prstGeom prst="rect">
            <a:avLst/>
          </a:prstGeom>
          <a:solidFill>
            <a:srgbClr val="FFFFFF"/>
          </a:solidFill>
          <a:ln w="12700">
            <a:solidFill>
              <a:srgbClr val="FFFFFF"/>
            </a:solidFill>
            <a:prstDash val="solid"/>
          </a:ln>
        </p:spPr>
      </p:sp>
      <p:sp>
        <p:nvSpPr>
          <p:cNvPr id="32" name="Text 30"/>
          <p:cNvSpPr/>
          <p:nvPr/>
        </p:nvSpPr>
        <p:spPr>
          <a:xfrm>
            <a:off x="2849880" y="3893820"/>
            <a:ext cx="280416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간단한 OLTP·동시성</a:t>
            </a:r>
            <a:endParaRPr lang="ko-KR" sz="1500" dirty="0"/>
          </a:p>
        </p:txBody>
      </p:sp>
      <p:sp>
        <p:nvSpPr>
          <p:cNvPr id="33" name="Shape 31"/>
          <p:cNvSpPr/>
          <p:nvPr/>
        </p:nvSpPr>
        <p:spPr>
          <a:xfrm>
            <a:off x="5760720" y="3764280"/>
            <a:ext cx="3124200" cy="632460"/>
          </a:xfrm>
          <a:prstGeom prst="rect">
            <a:avLst/>
          </a:prstGeom>
          <a:solidFill>
            <a:srgbClr val="FFFFFF"/>
          </a:solidFill>
          <a:ln w="12700">
            <a:solidFill>
              <a:srgbClr val="FFFFFF"/>
            </a:solidFill>
            <a:prstDash val="solid"/>
          </a:ln>
        </p:spPr>
      </p:sp>
      <p:sp>
        <p:nvSpPr>
          <p:cNvPr id="34" name="Text 32"/>
          <p:cNvSpPr/>
          <p:nvPr/>
        </p:nvSpPr>
        <p:spPr>
          <a:xfrm>
            <a:off x="5897880" y="3893820"/>
            <a:ext cx="288036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기본 CUBRID driver 없음</a:t>
            </a:r>
            <a:endParaRPr lang="ko-KR" sz="1500" dirty="0"/>
          </a:p>
        </p:txBody>
      </p:sp>
      <p:sp>
        <p:nvSpPr>
          <p:cNvPr id="35" name="Shape 33"/>
          <p:cNvSpPr/>
          <p:nvPr/>
        </p:nvSpPr>
        <p:spPr>
          <a:xfrm>
            <a:off x="8884920" y="3764280"/>
            <a:ext cx="2606040" cy="632460"/>
          </a:xfrm>
          <a:prstGeom prst="rect">
            <a:avLst/>
          </a:prstGeom>
          <a:solidFill>
            <a:srgbClr val="FFFFFF"/>
          </a:solidFill>
          <a:ln w="12700">
            <a:solidFill>
              <a:srgbClr val="FFFFFF"/>
            </a:solidFill>
            <a:prstDash val="solid"/>
          </a:ln>
        </p:spPr>
      </p:sp>
      <p:sp>
        <p:nvSpPr>
          <p:cNvPr id="36" name="Text 34"/>
          <p:cNvSpPr/>
          <p:nvPr/>
        </p:nvSpPr>
        <p:spPr>
          <a:xfrm>
            <a:off x="9022080" y="3893820"/>
            <a:ext cx="236220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참조·이식 비용 검토</a:t>
            </a:r>
            <a:endParaRPr lang="ko-KR" sz="1500" dirty="0"/>
          </a:p>
        </p:txBody>
      </p:sp>
      <p:sp>
        <p:nvSpPr>
          <p:cNvPr id="37" name="Shape 35"/>
          <p:cNvSpPr/>
          <p:nvPr/>
        </p:nvSpPr>
        <p:spPr>
          <a:xfrm>
            <a:off x="579120" y="4396740"/>
            <a:ext cx="2133600" cy="632460"/>
          </a:xfrm>
          <a:prstGeom prst="rect">
            <a:avLst/>
          </a:prstGeom>
          <a:solidFill>
            <a:srgbClr val="EAF0F4"/>
          </a:solidFill>
          <a:ln w="12700">
            <a:solidFill>
              <a:srgbClr val="EAF0F4"/>
            </a:solidFill>
            <a:prstDash val="solid"/>
          </a:ln>
        </p:spPr>
      </p:sp>
      <p:sp>
        <p:nvSpPr>
          <p:cNvPr id="38" name="Text 36"/>
          <p:cNvSpPr/>
          <p:nvPr/>
        </p:nvSpPr>
        <p:spPr>
          <a:xfrm>
            <a:off x="716280" y="4526280"/>
            <a:ext cx="188976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TPC-C 계열</a:t>
            </a:r>
            <a:endParaRPr lang="ko-KR" sz="1500" dirty="0"/>
          </a:p>
        </p:txBody>
      </p:sp>
      <p:sp>
        <p:nvSpPr>
          <p:cNvPr id="39" name="Shape 37"/>
          <p:cNvSpPr/>
          <p:nvPr/>
        </p:nvSpPr>
        <p:spPr>
          <a:xfrm>
            <a:off x="2712720" y="4396740"/>
            <a:ext cx="3048000" cy="632460"/>
          </a:xfrm>
          <a:prstGeom prst="rect">
            <a:avLst/>
          </a:prstGeom>
          <a:solidFill>
            <a:srgbClr val="EAF0F4"/>
          </a:solidFill>
          <a:ln w="12700">
            <a:solidFill>
              <a:srgbClr val="EAF0F4"/>
            </a:solidFill>
            <a:prstDash val="solid"/>
          </a:ln>
        </p:spPr>
      </p:sp>
      <p:sp>
        <p:nvSpPr>
          <p:cNvPr id="40" name="Text 38"/>
          <p:cNvSpPr/>
          <p:nvPr/>
        </p:nvSpPr>
        <p:spPr>
          <a:xfrm>
            <a:off x="2849880" y="4526280"/>
            <a:ext cx="280416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트랜잭션·dirty·flush</a:t>
            </a:r>
            <a:endParaRPr lang="ko-KR" sz="1500" dirty="0"/>
          </a:p>
        </p:txBody>
      </p:sp>
      <p:sp>
        <p:nvSpPr>
          <p:cNvPr id="41" name="Shape 39"/>
          <p:cNvSpPr/>
          <p:nvPr/>
        </p:nvSpPr>
        <p:spPr>
          <a:xfrm>
            <a:off x="5760720" y="4396740"/>
            <a:ext cx="3124200" cy="632460"/>
          </a:xfrm>
          <a:prstGeom prst="rect">
            <a:avLst/>
          </a:prstGeom>
          <a:solidFill>
            <a:srgbClr val="EAF0F4"/>
          </a:solidFill>
          <a:ln w="12700">
            <a:solidFill>
              <a:srgbClr val="EAF0F4"/>
            </a:solidFill>
            <a:prstDash val="solid"/>
          </a:ln>
        </p:spPr>
      </p:sp>
      <p:sp>
        <p:nvSpPr>
          <p:cNvPr id="42" name="Text 40"/>
          <p:cNvSpPr/>
          <p:nvPr/>
        </p:nvSpPr>
        <p:spPr>
          <a:xfrm>
            <a:off x="5897880" y="4526280"/>
            <a:ext cx="288036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HammerDB/BenchBase 이식</a:t>
            </a:r>
            <a:endParaRPr lang="ko-KR" sz="1500" dirty="0"/>
          </a:p>
        </p:txBody>
      </p:sp>
      <p:sp>
        <p:nvSpPr>
          <p:cNvPr id="43" name="Shape 41"/>
          <p:cNvSpPr/>
          <p:nvPr/>
        </p:nvSpPr>
        <p:spPr>
          <a:xfrm>
            <a:off x="8884920" y="4396740"/>
            <a:ext cx="2606040" cy="632460"/>
          </a:xfrm>
          <a:prstGeom prst="rect">
            <a:avLst/>
          </a:prstGeom>
          <a:solidFill>
            <a:srgbClr val="EAF0F4"/>
          </a:solidFill>
          <a:ln w="12700">
            <a:solidFill>
              <a:srgbClr val="EAF0F4"/>
            </a:solidFill>
            <a:prstDash val="solid"/>
          </a:ln>
        </p:spPr>
      </p:sp>
      <p:sp>
        <p:nvSpPr>
          <p:cNvPr id="44" name="Text 42"/>
          <p:cNvSpPr/>
          <p:nvPr/>
        </p:nvSpPr>
        <p:spPr>
          <a:xfrm>
            <a:off x="9022080" y="4526280"/>
            <a:ext cx="236220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2차 업무 부하</a:t>
            </a:r>
            <a:endParaRPr lang="ko-KR" sz="1500" dirty="0"/>
          </a:p>
        </p:txBody>
      </p:sp>
      <p:sp>
        <p:nvSpPr>
          <p:cNvPr id="45" name="Shape 43"/>
          <p:cNvSpPr/>
          <p:nvPr/>
        </p:nvSpPr>
        <p:spPr>
          <a:xfrm>
            <a:off x="579120" y="5029200"/>
            <a:ext cx="2133600" cy="632460"/>
          </a:xfrm>
          <a:prstGeom prst="rect">
            <a:avLst/>
          </a:prstGeom>
          <a:solidFill>
            <a:srgbClr val="FFFFFF"/>
          </a:solidFill>
          <a:ln w="12700">
            <a:solidFill>
              <a:srgbClr val="FFFFFF"/>
            </a:solidFill>
            <a:prstDash val="solid"/>
          </a:ln>
        </p:spPr>
      </p:sp>
      <p:sp>
        <p:nvSpPr>
          <p:cNvPr id="46" name="Text 44"/>
          <p:cNvSpPr/>
          <p:nvPr/>
        </p:nvSpPr>
        <p:spPr>
          <a:xfrm>
            <a:off x="716280" y="5158740"/>
            <a:ext cx="188976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pgbench</a:t>
            </a:r>
            <a:endParaRPr lang="ko-KR" sz="1500" dirty="0"/>
          </a:p>
        </p:txBody>
      </p:sp>
      <p:sp>
        <p:nvSpPr>
          <p:cNvPr id="47" name="Shape 45"/>
          <p:cNvSpPr/>
          <p:nvPr/>
        </p:nvSpPr>
        <p:spPr>
          <a:xfrm>
            <a:off x="2712720" y="5029200"/>
            <a:ext cx="3048000" cy="632460"/>
          </a:xfrm>
          <a:prstGeom prst="rect">
            <a:avLst/>
          </a:prstGeom>
          <a:solidFill>
            <a:srgbClr val="FFFFFF"/>
          </a:solidFill>
          <a:ln w="12700">
            <a:solidFill>
              <a:srgbClr val="FFFFFF"/>
            </a:solidFill>
            <a:prstDash val="solid"/>
          </a:ln>
        </p:spPr>
      </p:sp>
      <p:sp>
        <p:nvSpPr>
          <p:cNvPr id="48" name="Text 46"/>
          <p:cNvSpPr/>
          <p:nvPr/>
        </p:nvSpPr>
        <p:spPr>
          <a:xfrm>
            <a:off x="2849880" y="5158740"/>
            <a:ext cx="280416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PostgreSQL 내부 기준선</a:t>
            </a:r>
            <a:endParaRPr lang="ko-KR" sz="1500" dirty="0"/>
          </a:p>
        </p:txBody>
      </p:sp>
      <p:sp>
        <p:nvSpPr>
          <p:cNvPr id="49" name="Shape 47"/>
          <p:cNvSpPr/>
          <p:nvPr/>
        </p:nvSpPr>
        <p:spPr>
          <a:xfrm>
            <a:off x="5760720" y="5029200"/>
            <a:ext cx="3124200" cy="632460"/>
          </a:xfrm>
          <a:prstGeom prst="rect">
            <a:avLst/>
          </a:prstGeom>
          <a:solidFill>
            <a:srgbClr val="FFFFFF"/>
          </a:solidFill>
          <a:ln w="12700">
            <a:solidFill>
              <a:srgbClr val="FFFFFF"/>
            </a:solidFill>
            <a:prstDash val="solid"/>
          </a:ln>
        </p:spPr>
      </p:sp>
      <p:sp>
        <p:nvSpPr>
          <p:cNvPr id="50" name="Text 48"/>
          <p:cNvSpPr/>
          <p:nvPr/>
        </p:nvSpPr>
        <p:spPr>
          <a:xfrm>
            <a:off x="5897880" y="5158740"/>
            <a:ext cx="288036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PostgreSQL 전용</a:t>
            </a:r>
            <a:endParaRPr lang="ko-KR" sz="1500" dirty="0"/>
          </a:p>
        </p:txBody>
      </p:sp>
      <p:sp>
        <p:nvSpPr>
          <p:cNvPr id="51" name="Shape 49"/>
          <p:cNvSpPr/>
          <p:nvPr/>
        </p:nvSpPr>
        <p:spPr>
          <a:xfrm>
            <a:off x="8884920" y="5029200"/>
            <a:ext cx="2606040" cy="632460"/>
          </a:xfrm>
          <a:prstGeom prst="rect">
            <a:avLst/>
          </a:prstGeom>
          <a:solidFill>
            <a:srgbClr val="FFFFFF"/>
          </a:solidFill>
          <a:ln w="12700">
            <a:solidFill>
              <a:srgbClr val="FFFFFF"/>
            </a:solidFill>
            <a:prstDash val="solid"/>
          </a:ln>
        </p:spPr>
      </p:sp>
      <p:sp>
        <p:nvSpPr>
          <p:cNvPr id="52" name="Text 50"/>
          <p:cNvSpPr/>
          <p:nvPr/>
        </p:nvSpPr>
        <p:spPr>
          <a:xfrm>
            <a:off x="9022080" y="5158740"/>
            <a:ext cx="2362200" cy="4572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PG 교차 확인용</a:t>
            </a:r>
            <a:endParaRPr lang="ko-KR" sz="1500" dirty="0"/>
          </a:p>
        </p:txBody>
      </p:sp>
      <p:sp>
        <p:nvSpPr>
          <p:cNvPr id="53" name="Shape 51"/>
          <p:cNvSpPr/>
          <p:nvPr/>
        </p:nvSpPr>
        <p:spPr>
          <a:xfrm>
            <a:off x="579120" y="5661660"/>
            <a:ext cx="10911840" cy="7620"/>
          </a:xfrm>
          <a:prstGeom prst="rect">
            <a:avLst/>
          </a:prstGeom>
          <a:solidFill>
            <a:srgbClr val="D7E1E8"/>
          </a:solidFill>
          <a:ln w="12700">
            <a:solidFill>
              <a:srgbClr val="D7E1E8"/>
            </a:solidFill>
            <a:prstDash val="solid"/>
          </a:ln>
        </p:spPr>
      </p:sp>
      <p:sp>
        <p:nvSpPr>
          <p:cNvPr id="54" name="Shape 52"/>
          <p:cNvSpPr/>
          <p:nvPr/>
        </p:nvSpPr>
        <p:spPr>
          <a:xfrm>
            <a:off x="579120" y="6316980"/>
            <a:ext cx="10911840" cy="7620"/>
          </a:xfrm>
          <a:prstGeom prst="rect">
            <a:avLst/>
          </a:prstGeom>
          <a:solidFill>
            <a:srgbClr val="D7E1E8"/>
          </a:solidFill>
          <a:ln w="12700">
            <a:solidFill>
              <a:srgbClr val="D7E1E8"/>
            </a:solidFill>
            <a:prstDash val="solid"/>
          </a:ln>
        </p:spPr>
      </p:sp>
      <p:sp>
        <p:nvSpPr>
          <p:cNvPr id="55" name="Text 53"/>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56" name="Text 54"/>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05 / 25</a:t>
            </a:r>
            <a:endParaRPr lang="ko-KR" sz="1080" dirty="0"/>
          </a:p>
        </p:txBody>
      </p:sp>
      <p:sp>
        <p:nvSpPr>
          <p:cNvPr id="57" name="Text 55">
            <a:hlinkClick r:id="rId1" tooltip=""/>
          </p:cNvPr>
          <p:cNvSpPr/>
          <p:nvPr/>
        </p:nvSpPr>
        <p:spPr>
          <a:xfrm>
            <a:off x="5791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근거</a:t>
            </a:r>
            <a:endParaRPr lang="ko-KR" sz="960" dirty="0"/>
          </a:p>
        </p:txBody>
      </p:sp>
      <p:sp>
        <p:nvSpPr>
          <p:cNvPr id="58" name="Text 56">
            <a:hlinkClick r:id="rId2" tooltip=""/>
          </p:cNvPr>
          <p:cNvSpPr/>
          <p:nvPr/>
        </p:nvSpPr>
        <p:spPr>
          <a:xfrm>
            <a:off x="16078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2" invalidUrl="" action="" tgtFrame="" tooltip="" history="1" highlightClick="0" endSnd="0">
                  <a:extLst>
                    <a:ext uri="{A12FA001-AC4F-418D-AE19-62706E023703}">
                      <ahyp:hlinkClr xmlns:ahyp="http://schemas.microsoft.com/office/drawing/2018/hyperlinkcolor" val="tx"/>
                    </a:ext>
                  </a:extLst>
                </a:hlinkClick>
              </a:rPr>
              <a:t>[S2] 근거</a:t>
            </a:r>
            <a:endParaRPr lang="ko-KR" sz="960" dirty="0"/>
          </a:p>
        </p:txBody>
      </p:sp>
      <p:sp>
        <p:nvSpPr>
          <p:cNvPr id="59" name="Text 57">
            <a:hlinkClick r:id="rId3" tooltip=""/>
          </p:cNvPr>
          <p:cNvSpPr/>
          <p:nvPr/>
        </p:nvSpPr>
        <p:spPr>
          <a:xfrm>
            <a:off x="26365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3" invalidUrl="" action="" tgtFrame="" tooltip="" history="1" highlightClick="0" endSnd="0">
                  <a:extLst>
                    <a:ext uri="{A12FA001-AC4F-418D-AE19-62706E023703}">
                      <ahyp:hlinkClr xmlns:ahyp="http://schemas.microsoft.com/office/drawing/2018/hyperlinkcolor" val="tx"/>
                    </a:ext>
                  </a:extLst>
                </a:hlinkClick>
              </a:rPr>
              <a:t>[S3] 근거</a:t>
            </a:r>
            <a:endParaRPr lang="ko-KR" sz="960" dirty="0"/>
          </a:p>
        </p:txBody>
      </p:sp>
      <p:sp>
        <p:nvSpPr>
          <p:cNvPr id="60" name="Text 58">
            <a:hlinkClick r:id="rId4" tooltip=""/>
          </p:cNvPr>
          <p:cNvSpPr/>
          <p:nvPr/>
        </p:nvSpPr>
        <p:spPr>
          <a:xfrm>
            <a:off x="36652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4" invalidUrl="" action="" tgtFrame="" tooltip="" history="1" highlightClick="0" endSnd="0">
                  <a:extLst>
                    <a:ext uri="{A12FA001-AC4F-418D-AE19-62706E023703}">
                      <ahyp:hlinkClr xmlns:ahyp="http://schemas.microsoft.com/office/drawing/2018/hyperlinkcolor" val="tx"/>
                    </a:ext>
                  </a:extLst>
                </a:hlinkClick>
              </a:rPr>
              <a:t>[S5] 근거</a:t>
            </a:r>
            <a:endParaRPr lang="ko-KR" sz="960" dirty="0"/>
          </a:p>
        </p:txBody>
      </p:sp>
      <p:sp>
        <p:nvSpPr>
          <p:cNvPr id="61" name="Text 59">
            <a:hlinkClick r:id="rId5" tooltip=""/>
          </p:cNvPr>
          <p:cNvSpPr/>
          <p:nvPr/>
        </p:nvSpPr>
        <p:spPr>
          <a:xfrm>
            <a:off x="46939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5" invalidUrl="" action="" tgtFrame="" tooltip="" history="1" highlightClick="0" endSnd="0">
                  <a:extLst>
                    <a:ext uri="{A12FA001-AC4F-418D-AE19-62706E023703}">
                      <ahyp:hlinkClr xmlns:ahyp="http://schemas.microsoft.com/office/drawing/2018/hyperlinkcolor" val="tx"/>
                    </a:ext>
                  </a:extLst>
                </a:hlinkClick>
              </a:rPr>
              <a:t>[S6] 근거</a:t>
            </a:r>
            <a:endParaRPr lang="ko-KR" sz="960" dirty="0"/>
          </a:p>
        </p:txBody>
      </p:sp>
      <p:sp>
        <p:nvSpPr>
          <p:cNvPr id="62" name="Text 60">
            <a:hlinkClick r:id="rId6" tooltip=""/>
          </p:cNvPr>
          <p:cNvSpPr/>
          <p:nvPr/>
        </p:nvSpPr>
        <p:spPr>
          <a:xfrm>
            <a:off x="57226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6" invalidUrl="" action="" tgtFrame="" tooltip="" history="1" highlightClick="0" endSnd="0">
                  <a:extLst>
                    <a:ext uri="{A12FA001-AC4F-418D-AE19-62706E023703}">
                      <ahyp:hlinkClr xmlns:ahyp="http://schemas.microsoft.com/office/drawing/2018/hyperlinkcolor" val="tx"/>
                    </a:ext>
                  </a:extLst>
                </a:hlinkClick>
              </a:rPr>
              <a:t>[S10] 근거</a:t>
            </a:r>
            <a:endParaRPr lang="ko-KR" sz="96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05  /  SYSBENCH</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sysbench: 단순하고 빠르지만 CUBRID driver가 필요</a:t>
            </a:r>
            <a:endParaRPr lang="ko-KR" sz="3180" dirty="0"/>
          </a:p>
        </p:txBody>
      </p:sp>
      <p:sp>
        <p:nvSpPr>
          <p:cNvPr id="5" name="Text 3"/>
          <p:cNvSpPr/>
          <p:nvPr/>
        </p:nvSpPr>
        <p:spPr>
          <a:xfrm>
            <a:off x="609600" y="1920240"/>
            <a:ext cx="52578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특징</a:t>
            </a:r>
            <a:endParaRPr lang="ko-KR" sz="1920" dirty="0"/>
          </a:p>
        </p:txBody>
      </p:sp>
      <p:sp>
        <p:nvSpPr>
          <p:cNvPr id="6" name="Text 4"/>
          <p:cNvSpPr/>
          <p:nvPr/>
        </p:nvSpPr>
        <p:spPr>
          <a:xfrm>
            <a:off x="609600" y="2362200"/>
            <a:ext cx="52578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oltp_point_select / read_only / read_write</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동시 접속 수·시간·키 분포를 조절</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DB hit rate는 별도 모니터로 수집</a:t>
            </a:r>
            <a:endParaRPr lang="ko-KR" sz="1740" dirty="0"/>
          </a:p>
        </p:txBody>
      </p:sp>
      <p:sp>
        <p:nvSpPr>
          <p:cNvPr id="7" name="Text 5"/>
          <p:cNvSpPr/>
          <p:nvPr/>
        </p:nvSpPr>
        <p:spPr>
          <a:xfrm>
            <a:off x="6362700" y="1920240"/>
            <a:ext cx="51054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장점</a:t>
            </a:r>
            <a:endParaRPr lang="ko-KR" sz="1920" dirty="0"/>
          </a:p>
        </p:txBody>
      </p:sp>
      <p:sp>
        <p:nvSpPr>
          <p:cNvPr id="8" name="Text 6"/>
          <p:cNvSpPr/>
          <p:nvPr/>
        </p:nvSpPr>
        <p:spPr>
          <a:xfrm>
            <a:off x="6362700" y="2362200"/>
            <a:ext cx="51054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단순한 랜덤 읽기 baseline에 적합</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부하 설정·반복 자동화가 쉬움</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분포를 고정해 locality 영향 비교</a:t>
            </a:r>
            <a:endParaRPr lang="ko-KR" sz="1740" dirty="0"/>
          </a:p>
        </p:txBody>
      </p:sp>
      <p:sp>
        <p:nvSpPr>
          <p:cNvPr id="9" name="Text 7"/>
          <p:cNvSpPr/>
          <p:nvPr/>
        </p:nvSpPr>
        <p:spPr>
          <a:xfrm>
            <a:off x="609600" y="3779520"/>
            <a:ext cx="52578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BD8737"/>
                </a:solidFill>
                <a:latin typeface="Noto Sans CJK KR" pitchFamily="34" charset="0"/>
                <a:ea typeface="Noto Sans CJK KR" pitchFamily="34" charset="-122"/>
                <a:cs typeface="Noto Sans CJK KR" pitchFamily="34" charset="-120"/>
              </a:rPr>
              <a:t>단점·주의</a:t>
            </a:r>
            <a:endParaRPr lang="ko-KR" sz="1920" dirty="0"/>
          </a:p>
        </p:txBody>
      </p:sp>
      <p:sp>
        <p:nvSpPr>
          <p:cNvPr id="10" name="Text 8"/>
          <p:cNvSpPr/>
          <p:nvPr/>
        </p:nvSpPr>
        <p:spPr>
          <a:xfrm>
            <a:off x="609600" y="4221480"/>
            <a:ext cx="52578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기본 DB driver는 MySQL·PostgreSQL</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CUBRID는 driver/외부 연동 구현 필요</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memory·fileio 모드는 DB 버퍼 측정이 아님</a:t>
            </a:r>
            <a:endParaRPr lang="ko-KR" sz="1740" dirty="0"/>
          </a:p>
        </p:txBody>
      </p:sp>
      <p:sp>
        <p:nvSpPr>
          <p:cNvPr id="11" name="Text 9"/>
          <p:cNvSpPr/>
          <p:nvPr/>
        </p:nvSpPr>
        <p:spPr>
          <a:xfrm>
            <a:off x="6362700" y="3779520"/>
            <a:ext cx="51054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245E8A"/>
                </a:solidFill>
                <a:latin typeface="Noto Sans CJK KR" pitchFamily="34" charset="0"/>
                <a:ea typeface="Noto Sans CJK KR" pitchFamily="34" charset="-122"/>
                <a:cs typeface="Noto Sans CJK KR" pitchFamily="34" charset="-120"/>
              </a:rPr>
              <a:t>실행 시간 예산</a:t>
            </a:r>
            <a:endParaRPr lang="ko-KR" sz="1920" dirty="0"/>
          </a:p>
        </p:txBody>
      </p:sp>
      <p:sp>
        <p:nvSpPr>
          <p:cNvPr id="12" name="Text 10"/>
          <p:cNvSpPr/>
          <p:nvPr/>
        </p:nvSpPr>
        <p:spPr>
          <a:xfrm>
            <a:off x="6362700" y="4221480"/>
            <a:ext cx="51054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warm-up 3–5분 + 측정 10–15분</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1회 약 13–20분 / 데이터 준비 별도</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배포판의 실제 옵션은 --help로 확인</a:t>
            </a:r>
            <a:endParaRPr lang="ko-KR" sz="1740" dirty="0"/>
          </a:p>
        </p:txBody>
      </p:sp>
      <p:sp>
        <p:nvSpPr>
          <p:cNvPr id="13" name="Shape 11"/>
          <p:cNvSpPr/>
          <p:nvPr/>
        </p:nvSpPr>
        <p:spPr>
          <a:xfrm>
            <a:off x="579120" y="6316980"/>
            <a:ext cx="10911840" cy="7620"/>
          </a:xfrm>
          <a:prstGeom prst="rect">
            <a:avLst/>
          </a:prstGeom>
          <a:solidFill>
            <a:srgbClr val="D7E1E8"/>
          </a:solidFill>
          <a:ln w="12700">
            <a:solidFill>
              <a:srgbClr val="D7E1E8"/>
            </a:solidFill>
            <a:prstDash val="solid"/>
          </a:ln>
        </p:spPr>
      </p:sp>
      <p:sp>
        <p:nvSpPr>
          <p:cNvPr id="14" name="Text 12"/>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15" name="Text 13"/>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06 / 25</a:t>
            </a:r>
            <a:endParaRPr lang="ko-KR" sz="1080" dirty="0"/>
          </a:p>
        </p:txBody>
      </p:sp>
      <p:sp>
        <p:nvSpPr>
          <p:cNvPr id="16" name="Text 14">
            <a:hlinkClick r:id="rId1" tooltip=""/>
          </p:cNvPr>
          <p:cNvSpPr/>
          <p:nvPr/>
        </p:nvSpPr>
        <p:spPr>
          <a:xfrm>
            <a:off x="5791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근거</a:t>
            </a:r>
            <a:endParaRPr lang="ko-KR" sz="96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06  /  YCSB</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YCSB: locality와 읽기·쓰기 비율을 비교하기 좋다</a:t>
            </a:r>
            <a:endParaRPr lang="ko-KR" sz="3180" dirty="0"/>
          </a:p>
        </p:txBody>
      </p:sp>
      <p:sp>
        <p:nvSpPr>
          <p:cNvPr id="5" name="Text 3"/>
          <p:cNvSpPr/>
          <p:nvPr/>
        </p:nvSpPr>
        <p:spPr>
          <a:xfrm>
            <a:off x="609600" y="1905000"/>
            <a:ext cx="52578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특징</a:t>
            </a:r>
            <a:endParaRPr lang="ko-KR" sz="1920" dirty="0"/>
          </a:p>
        </p:txBody>
      </p:sp>
      <p:sp>
        <p:nvSpPr>
          <p:cNvPr id="6" name="Text 4"/>
          <p:cNvSpPr/>
          <p:nvPr/>
        </p:nvSpPr>
        <p:spPr>
          <a:xfrm>
            <a:off x="609600" y="2346960"/>
            <a:ext cx="52578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C: 100% read / B: 95% read·5% update</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A: 50% read·50% update</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키 분포·record 크기·thread 수를 조절</a:t>
            </a:r>
            <a:endParaRPr lang="ko-KR" sz="1740" dirty="0"/>
          </a:p>
        </p:txBody>
      </p:sp>
      <p:sp>
        <p:nvSpPr>
          <p:cNvPr id="7" name="Text 5"/>
          <p:cNvSpPr/>
          <p:nvPr/>
        </p:nvSpPr>
        <p:spPr>
          <a:xfrm>
            <a:off x="6362700" y="1905000"/>
            <a:ext cx="51054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장점</a:t>
            </a:r>
            <a:endParaRPr lang="ko-KR" sz="1920" dirty="0"/>
          </a:p>
        </p:txBody>
      </p:sp>
      <p:sp>
        <p:nvSpPr>
          <p:cNvPr id="8" name="Text 6"/>
          <p:cNvSpPr/>
          <p:nvPr/>
        </p:nvSpPr>
        <p:spPr>
          <a:xfrm>
            <a:off x="6362700" y="2346960"/>
            <a:ext cx="51054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같은 단순 부하를 여러 DB에 적용</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uniform ↔ Zipfian으로 locality 비교</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DB 교체와 부하 정의를 분리 가능</a:t>
            </a:r>
            <a:endParaRPr lang="ko-KR" sz="1740" dirty="0"/>
          </a:p>
        </p:txBody>
      </p:sp>
      <p:sp>
        <p:nvSpPr>
          <p:cNvPr id="9" name="Text 7"/>
          <p:cNvSpPr/>
          <p:nvPr/>
        </p:nvSpPr>
        <p:spPr>
          <a:xfrm>
            <a:off x="609600" y="3771900"/>
            <a:ext cx="52578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BD8737"/>
                </a:solidFill>
                <a:latin typeface="Noto Sans CJK KR" pitchFamily="34" charset="0"/>
                <a:ea typeface="Noto Sans CJK KR" pitchFamily="34" charset="-122"/>
                <a:cs typeface="Noto Sans CJK KR" pitchFamily="34" charset="-120"/>
              </a:rPr>
              <a:t>단점·주의</a:t>
            </a:r>
            <a:endParaRPr lang="ko-KR" sz="1920" dirty="0"/>
          </a:p>
        </p:txBody>
      </p:sp>
      <p:sp>
        <p:nvSpPr>
          <p:cNvPr id="10" name="Text 8"/>
          <p:cNvSpPr/>
          <p:nvPr/>
        </p:nvSpPr>
        <p:spPr>
          <a:xfrm>
            <a:off x="609600" y="4213860"/>
            <a:ext cx="52578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JDBC binding의 DDL·쿼리 호환성 검증</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기본 schema는 실제 업무의 join을 대표하지 않음</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scan은 full table scan과 동일하지 않음</a:t>
            </a:r>
            <a:endParaRPr lang="ko-KR" sz="1740" dirty="0"/>
          </a:p>
        </p:txBody>
      </p:sp>
      <p:sp>
        <p:nvSpPr>
          <p:cNvPr id="11" name="Text 9"/>
          <p:cNvSpPr/>
          <p:nvPr/>
        </p:nvSpPr>
        <p:spPr>
          <a:xfrm>
            <a:off x="6362700" y="3771900"/>
            <a:ext cx="51054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245E8A"/>
                </a:solidFill>
                <a:latin typeface="Noto Sans CJK KR" pitchFamily="34" charset="0"/>
                <a:ea typeface="Noto Sans CJK KR" pitchFamily="34" charset="-122"/>
                <a:cs typeface="Noto Sans CJK KR" pitchFamily="34" charset="-120"/>
              </a:rPr>
              <a:t>실행 시간 예산</a:t>
            </a:r>
            <a:endParaRPr lang="ko-KR" sz="1920" dirty="0"/>
          </a:p>
        </p:txBody>
      </p:sp>
      <p:sp>
        <p:nvSpPr>
          <p:cNvPr id="12" name="Text 10"/>
          <p:cNvSpPr/>
          <p:nvPr/>
        </p:nvSpPr>
        <p:spPr>
          <a:xfrm>
            <a:off x="6362700" y="4213860"/>
            <a:ext cx="51054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warm-up 3–5분 + 측정 10–15분</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1회 약 13–20분 / load 단계 별도</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기본 1,000 records는 압력 실험에 너무 작음</a:t>
            </a:r>
            <a:endParaRPr lang="ko-KR" sz="1740" dirty="0"/>
          </a:p>
        </p:txBody>
      </p:sp>
      <p:sp>
        <p:nvSpPr>
          <p:cNvPr id="13" name="Shape 11"/>
          <p:cNvSpPr/>
          <p:nvPr/>
        </p:nvSpPr>
        <p:spPr>
          <a:xfrm>
            <a:off x="579120" y="6316980"/>
            <a:ext cx="10911840" cy="7620"/>
          </a:xfrm>
          <a:prstGeom prst="rect">
            <a:avLst/>
          </a:prstGeom>
          <a:solidFill>
            <a:srgbClr val="D7E1E8"/>
          </a:solidFill>
          <a:ln w="12700">
            <a:solidFill>
              <a:srgbClr val="D7E1E8"/>
            </a:solidFill>
            <a:prstDash val="solid"/>
          </a:ln>
        </p:spPr>
      </p:sp>
      <p:sp>
        <p:nvSpPr>
          <p:cNvPr id="14" name="Text 12"/>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15" name="Text 13"/>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07 / 25</a:t>
            </a:r>
            <a:endParaRPr lang="ko-KR" sz="1080" dirty="0"/>
          </a:p>
        </p:txBody>
      </p:sp>
      <p:sp>
        <p:nvSpPr>
          <p:cNvPr id="16" name="Text 14">
            <a:hlinkClick r:id="rId1" tooltip=""/>
          </p:cNvPr>
          <p:cNvSpPr/>
          <p:nvPr/>
        </p:nvSpPr>
        <p:spPr>
          <a:xfrm>
            <a:off x="5791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[S2] 근거</a:t>
            </a:r>
            <a:endParaRPr lang="ko-KR" sz="960" dirty="0"/>
          </a:p>
        </p:txBody>
      </p:sp>
      <p:sp>
        <p:nvSpPr>
          <p:cNvPr id="17" name="Text 15">
            <a:hlinkClick r:id="rId2" tooltip=""/>
          </p:cNvPr>
          <p:cNvSpPr/>
          <p:nvPr/>
        </p:nvSpPr>
        <p:spPr>
          <a:xfrm>
            <a:off x="16078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2" invalidUrl="" action="" tgtFrame="" tooltip="" history="1" highlightClick="0" endSnd="0">
                  <a:extLst>
                    <a:ext uri="{A12FA001-AC4F-418D-AE19-62706E023703}">
                      <ahyp:hlinkClr xmlns:ahyp="http://schemas.microsoft.com/office/drawing/2018/hyperlinkcolor" val="tx"/>
                    </a:ext>
                  </a:extLst>
                </a:hlinkClick>
              </a:rPr>
              <a:t>[S3] 근거</a:t>
            </a:r>
            <a:endParaRPr lang="ko-KR" sz="9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07  /  TPC-C · TPROC-C</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TPC-C 계열: 현실적인 혼합 부하, 원인 분리는 어렵다</a:t>
            </a:r>
            <a:endParaRPr lang="ko-KR" sz="3180" dirty="0"/>
          </a:p>
        </p:txBody>
      </p:sp>
      <p:sp>
        <p:nvSpPr>
          <p:cNvPr id="5" name="Text 3"/>
          <p:cNvSpPr/>
          <p:nvPr/>
        </p:nvSpPr>
        <p:spPr>
          <a:xfrm>
            <a:off x="609600" y="1920240"/>
            <a:ext cx="52578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특징</a:t>
            </a:r>
            <a:endParaRPr lang="ko-KR" sz="1920" dirty="0"/>
          </a:p>
        </p:txBody>
      </p:sp>
      <p:sp>
        <p:nvSpPr>
          <p:cNvPr id="6" name="Text 4"/>
          <p:cNvSpPr/>
          <p:nvPr/>
        </p:nvSpPr>
        <p:spPr>
          <a:xfrm>
            <a:off x="609600" y="2362200"/>
            <a:ext cx="52578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주문·결제 등 여러 트랜잭션의 조합</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warehouse 규모로 데이터량 조절</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읽기·쓰기·동시성과 flush를 함께 자극</a:t>
            </a:r>
            <a:endParaRPr lang="ko-KR" sz="1740" dirty="0"/>
          </a:p>
        </p:txBody>
      </p:sp>
      <p:sp>
        <p:nvSpPr>
          <p:cNvPr id="7" name="Text 5"/>
          <p:cNvSpPr/>
          <p:nvPr/>
        </p:nvSpPr>
        <p:spPr>
          <a:xfrm>
            <a:off x="6362700" y="1920240"/>
            <a:ext cx="51054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장점</a:t>
            </a:r>
            <a:endParaRPr lang="ko-KR" sz="1920" dirty="0"/>
          </a:p>
        </p:txBody>
      </p:sp>
      <p:sp>
        <p:nvSpPr>
          <p:cNvPr id="8" name="Text 6"/>
          <p:cNvSpPr/>
          <p:nvPr/>
        </p:nvSpPr>
        <p:spPr>
          <a:xfrm>
            <a:off x="6362700" y="2362200"/>
            <a:ext cx="51054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버퍼 개선이 업무 성능에 주는 영향 확인</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장시간 dirty·checkpoint 동작 관찰</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검증된 업무형 부하와 연결 가능</a:t>
            </a:r>
            <a:endParaRPr lang="ko-KR" sz="1740" dirty="0"/>
          </a:p>
        </p:txBody>
      </p:sp>
      <p:sp>
        <p:nvSpPr>
          <p:cNvPr id="9" name="Text 7"/>
          <p:cNvSpPr/>
          <p:nvPr/>
        </p:nvSpPr>
        <p:spPr>
          <a:xfrm>
            <a:off x="609600" y="3771900"/>
            <a:ext cx="52578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BD8737"/>
                </a:solidFill>
                <a:latin typeface="Noto Sans CJK KR" pitchFamily="34" charset="0"/>
                <a:ea typeface="Noto Sans CJK KR" pitchFamily="34" charset="-122"/>
                <a:cs typeface="Noto Sans CJK KR" pitchFamily="34" charset="-120"/>
              </a:rPr>
              <a:t>단점·CUBRID 연동</a:t>
            </a:r>
            <a:endParaRPr lang="ko-KR" sz="1920" dirty="0"/>
          </a:p>
        </p:txBody>
      </p:sp>
      <p:sp>
        <p:nvSpPr>
          <p:cNvPr id="10" name="Text 8"/>
          <p:cNvSpPr/>
          <p:nvPr/>
        </p:nvSpPr>
        <p:spPr>
          <a:xfrm>
            <a:off x="609600" y="4213860"/>
            <a:ext cx="52578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lock·log·클라이언트 병목이 섞일 수 있음</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HammerDB·BenchBase 기본 목록에 CUBRID 없음</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DDL·SQL·트랜잭션 의미까지 이식·검증</a:t>
            </a:r>
            <a:endParaRPr lang="ko-KR" sz="1740" dirty="0"/>
          </a:p>
        </p:txBody>
      </p:sp>
      <p:sp>
        <p:nvSpPr>
          <p:cNvPr id="11" name="Text 9"/>
          <p:cNvSpPr/>
          <p:nvPr/>
        </p:nvSpPr>
        <p:spPr>
          <a:xfrm>
            <a:off x="6362700" y="3771900"/>
            <a:ext cx="51054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245E8A"/>
                </a:solidFill>
                <a:latin typeface="Noto Sans CJK KR" pitchFamily="34" charset="0"/>
                <a:ea typeface="Noto Sans CJK KR" pitchFamily="34" charset="-122"/>
                <a:cs typeface="Noto Sans CJK KR" pitchFamily="34" charset="-120"/>
              </a:rPr>
              <a:t>실행 시간 예산</a:t>
            </a:r>
            <a:endParaRPr lang="ko-KR" sz="1920" dirty="0"/>
          </a:p>
        </p:txBody>
      </p:sp>
      <p:sp>
        <p:nvSpPr>
          <p:cNvPr id="12" name="Text 10"/>
          <p:cNvSpPr/>
          <p:nvPr/>
        </p:nvSpPr>
        <p:spPr>
          <a:xfrm>
            <a:off x="6362700" y="4213860"/>
            <a:ext cx="51054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엔지니어링: warm-up 10–30분</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측정 30–60분 → 총 40–90분</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정식 TPC-C: 정상 상태 뒤 측정 최소 120분</a:t>
            </a:r>
            <a:endParaRPr lang="ko-KR" sz="1740" dirty="0"/>
          </a:p>
        </p:txBody>
      </p:sp>
      <p:sp>
        <p:nvSpPr>
          <p:cNvPr id="13" name="Shape 11"/>
          <p:cNvSpPr/>
          <p:nvPr/>
        </p:nvSpPr>
        <p:spPr>
          <a:xfrm>
            <a:off x="579120" y="6316980"/>
            <a:ext cx="10911840" cy="7620"/>
          </a:xfrm>
          <a:prstGeom prst="rect">
            <a:avLst/>
          </a:prstGeom>
          <a:solidFill>
            <a:srgbClr val="D7E1E8"/>
          </a:solidFill>
          <a:ln w="12700">
            <a:solidFill>
              <a:srgbClr val="D7E1E8"/>
            </a:solidFill>
            <a:prstDash val="solid"/>
          </a:ln>
        </p:spPr>
      </p:sp>
      <p:sp>
        <p:nvSpPr>
          <p:cNvPr id="14" name="Text 12"/>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15" name="Text 13"/>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08 / 25</a:t>
            </a:r>
            <a:endParaRPr lang="ko-KR" sz="1080" dirty="0"/>
          </a:p>
        </p:txBody>
      </p:sp>
      <p:sp>
        <p:nvSpPr>
          <p:cNvPr id="16" name="Text 14">
            <a:hlinkClick r:id="rId1" tooltip=""/>
          </p:cNvPr>
          <p:cNvSpPr/>
          <p:nvPr/>
        </p:nvSpPr>
        <p:spPr>
          <a:xfrm>
            <a:off x="5791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[S4] 근거</a:t>
            </a:r>
            <a:endParaRPr lang="ko-KR" sz="960" dirty="0"/>
          </a:p>
        </p:txBody>
      </p:sp>
      <p:sp>
        <p:nvSpPr>
          <p:cNvPr id="17" name="Text 15">
            <a:hlinkClick r:id="rId2" tooltip=""/>
          </p:cNvPr>
          <p:cNvSpPr/>
          <p:nvPr/>
        </p:nvSpPr>
        <p:spPr>
          <a:xfrm>
            <a:off x="16078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2" invalidUrl="" action="" tgtFrame="" tooltip="" history="1" highlightClick="0" endSnd="0">
                  <a:extLst>
                    <a:ext uri="{A12FA001-AC4F-418D-AE19-62706E023703}">
                      <ahyp:hlinkClr xmlns:ahyp="http://schemas.microsoft.com/office/drawing/2018/hyperlinkcolor" val="tx"/>
                    </a:ext>
                  </a:extLst>
                </a:hlinkClick>
              </a:rPr>
              <a:t>[S5] 근거</a:t>
            </a:r>
            <a:endParaRPr lang="ko-KR" sz="960" dirty="0"/>
          </a:p>
        </p:txBody>
      </p:sp>
      <p:sp>
        <p:nvSpPr>
          <p:cNvPr id="18" name="Text 16">
            <a:hlinkClick r:id="rId3" tooltip=""/>
          </p:cNvPr>
          <p:cNvSpPr/>
          <p:nvPr/>
        </p:nvSpPr>
        <p:spPr>
          <a:xfrm>
            <a:off x="26365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3" invalidUrl="" action="" tgtFrame="" tooltip="" history="1" highlightClick="0" endSnd="0">
                  <a:extLst>
                    <a:ext uri="{A12FA001-AC4F-418D-AE19-62706E023703}">
                      <ahyp:hlinkClr xmlns:ahyp="http://schemas.microsoft.com/office/drawing/2018/hyperlinkcolor" val="tx"/>
                    </a:ext>
                  </a:extLst>
                </a:hlinkClick>
              </a:rPr>
              <a:t>[S6] 근거</a:t>
            </a:r>
            <a:endParaRPr lang="ko-KR" sz="9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08  /  CONTROLLED JDBC WORKLOAD</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공통 JDBC 부하: page buffer 질문에 가장 직접적</a:t>
            </a:r>
            <a:endParaRPr lang="ko-KR" sz="3180" dirty="0"/>
          </a:p>
        </p:txBody>
      </p:sp>
      <p:sp>
        <p:nvSpPr>
          <p:cNvPr id="5" name="Text 3"/>
          <p:cNvSpPr/>
          <p:nvPr/>
        </p:nvSpPr>
        <p:spPr>
          <a:xfrm>
            <a:off x="609600" y="1905000"/>
            <a:ext cx="52578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최소 부하</a:t>
            </a:r>
            <a:endParaRPr lang="ko-KR" sz="1920" dirty="0"/>
          </a:p>
        </p:txBody>
      </p:sp>
      <p:sp>
        <p:nvSpPr>
          <p:cNvPr id="6" name="Text 4"/>
          <p:cNvSpPr/>
          <p:nvPr/>
        </p:nvSpPr>
        <p:spPr>
          <a:xfrm>
            <a:off x="609600" y="2346960"/>
            <a:ext cx="52578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SELECT payload FROM bench WHERE id = ?</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동일 schema 의미·row 폭·인덱스</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동일 seed와 client별 키 요청열</a:t>
            </a:r>
            <a:endParaRPr lang="ko-KR" sz="1740" dirty="0"/>
          </a:p>
        </p:txBody>
      </p:sp>
      <p:sp>
        <p:nvSpPr>
          <p:cNvPr id="7" name="Text 5"/>
          <p:cNvSpPr/>
          <p:nvPr/>
        </p:nvSpPr>
        <p:spPr>
          <a:xfrm>
            <a:off x="6362700" y="1905000"/>
            <a:ext cx="51054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장점</a:t>
            </a:r>
            <a:endParaRPr lang="ko-KR" sz="1920" dirty="0"/>
          </a:p>
        </p:txBody>
      </p:sp>
      <p:sp>
        <p:nvSpPr>
          <p:cNvPr id="8" name="Text 6"/>
          <p:cNvSpPr/>
          <p:nvPr/>
        </p:nvSpPr>
        <p:spPr>
          <a:xfrm>
            <a:off x="6362700" y="2346960"/>
            <a:ext cx="51054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부하를 한 변수씩 바꿔 원인 분석</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hot-key / uniform / scan 단계 직접 제어</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CUBRID·MySQL·PG에 공통 JDBC 실행기</a:t>
            </a:r>
            <a:endParaRPr lang="ko-KR" sz="1740" dirty="0"/>
          </a:p>
        </p:txBody>
      </p:sp>
      <p:sp>
        <p:nvSpPr>
          <p:cNvPr id="9" name="Text 7"/>
          <p:cNvSpPr/>
          <p:nvPr/>
        </p:nvSpPr>
        <p:spPr>
          <a:xfrm>
            <a:off x="609600" y="3771900"/>
            <a:ext cx="52578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BD8737"/>
                </a:solidFill>
                <a:latin typeface="Noto Sans CJK KR" pitchFamily="34" charset="0"/>
                <a:ea typeface="Noto Sans CJK KR" pitchFamily="34" charset="-122"/>
                <a:cs typeface="Noto Sans CJK KR" pitchFamily="34" charset="-120"/>
              </a:rPr>
              <a:t>단점·검증 범위</a:t>
            </a:r>
            <a:endParaRPr lang="ko-KR" sz="1920" dirty="0"/>
          </a:p>
        </p:txBody>
      </p:sp>
      <p:sp>
        <p:nvSpPr>
          <p:cNvPr id="10" name="Text 8"/>
          <p:cNvSpPr/>
          <p:nvPr/>
        </p:nvSpPr>
        <p:spPr>
          <a:xfrm>
            <a:off x="609600" y="4213860"/>
            <a:ext cx="52578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구현·결과 검증·지연 계측을 직접 책임</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공식 표준 benchmark 점수는 아님</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JDBC·network·query 실행 비용도 포함</a:t>
            </a:r>
            <a:endParaRPr lang="ko-KR" sz="1740" dirty="0"/>
          </a:p>
        </p:txBody>
      </p:sp>
      <p:sp>
        <p:nvSpPr>
          <p:cNvPr id="11" name="Text 9"/>
          <p:cNvSpPr/>
          <p:nvPr/>
        </p:nvSpPr>
        <p:spPr>
          <a:xfrm>
            <a:off x="6362700" y="3771900"/>
            <a:ext cx="51054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245E8A"/>
                </a:solidFill>
                <a:latin typeface="Noto Sans CJK KR" pitchFamily="34" charset="0"/>
                <a:ea typeface="Noto Sans CJK KR" pitchFamily="34" charset="-122"/>
                <a:cs typeface="Noto Sans CJK KR" pitchFamily="34" charset="-120"/>
              </a:rPr>
              <a:t>실행 시간 예산</a:t>
            </a:r>
            <a:endParaRPr lang="ko-KR" sz="1920" dirty="0"/>
          </a:p>
        </p:txBody>
      </p:sp>
      <p:sp>
        <p:nvSpPr>
          <p:cNvPr id="12" name="Text 10"/>
          <p:cNvSpPr/>
          <p:nvPr/>
        </p:nvSpPr>
        <p:spPr>
          <a:xfrm>
            <a:off x="6362700" y="4213860"/>
            <a:ext cx="51054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기본 읽기: warm-up 5분 + 측정 10분</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hot → scan 동시 실행 → 회복: 15–30분</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개발·호환성 검증 시간은 별도</a:t>
            </a:r>
            <a:endParaRPr lang="ko-KR" sz="1740" dirty="0"/>
          </a:p>
        </p:txBody>
      </p:sp>
      <p:sp>
        <p:nvSpPr>
          <p:cNvPr id="13" name="Shape 11"/>
          <p:cNvSpPr/>
          <p:nvPr/>
        </p:nvSpPr>
        <p:spPr>
          <a:xfrm>
            <a:off x="579120" y="6316980"/>
            <a:ext cx="10911840" cy="7620"/>
          </a:xfrm>
          <a:prstGeom prst="rect">
            <a:avLst/>
          </a:prstGeom>
          <a:solidFill>
            <a:srgbClr val="D7E1E8"/>
          </a:solidFill>
          <a:ln w="12700">
            <a:solidFill>
              <a:srgbClr val="D7E1E8"/>
            </a:solidFill>
            <a:prstDash val="solid"/>
          </a:ln>
        </p:spPr>
      </p:sp>
      <p:sp>
        <p:nvSpPr>
          <p:cNvPr id="14" name="Text 12"/>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15" name="Text 13"/>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09 / 25</a:t>
            </a:r>
            <a:endParaRPr lang="ko-KR" sz="1080" dirty="0"/>
          </a:p>
        </p:txBody>
      </p:sp>
      <p:sp>
        <p:nvSpPr>
          <p:cNvPr id="16" name="Text 14"/>
          <p:cNvSpPr/>
          <p:nvPr/>
        </p:nvSpPr>
        <p:spPr>
          <a:xfrm>
            <a:off x="579120" y="6126480"/>
            <a:ext cx="952500" cy="17526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[S12] 근거</a:t>
            </a:r>
            <a:endParaRPr lang="ko-KR" sz="9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09  /  PGBENCH</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pgbench: PostgreSQL 기준선 확인용 보조 도구</a:t>
            </a:r>
            <a:endParaRPr lang="ko-KR" sz="3180" dirty="0"/>
          </a:p>
        </p:txBody>
      </p:sp>
      <p:sp>
        <p:nvSpPr>
          <p:cNvPr id="5" name="Text 3"/>
          <p:cNvSpPr/>
          <p:nvPr/>
        </p:nvSpPr>
        <p:spPr>
          <a:xfrm>
            <a:off x="609600" y="1905000"/>
            <a:ext cx="52578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특징·장점</a:t>
            </a:r>
            <a:endParaRPr lang="ko-KR" sz="1920" dirty="0"/>
          </a:p>
        </p:txBody>
      </p:sp>
      <p:sp>
        <p:nvSpPr>
          <p:cNvPr id="6" name="Text 4"/>
          <p:cNvSpPr/>
          <p:nvPr/>
        </p:nvSpPr>
        <p:spPr>
          <a:xfrm>
            <a:off x="609600" y="2346960"/>
            <a:ext cx="52578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PostgreSQL용 부하 생성 도구</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-S: select-only / -f: custom script</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간단한 PG 단독 재현·성능 교차 확인</a:t>
            </a:r>
            <a:endParaRPr lang="ko-KR" sz="1740" dirty="0"/>
          </a:p>
        </p:txBody>
      </p:sp>
      <p:sp>
        <p:nvSpPr>
          <p:cNvPr id="7" name="Text 5"/>
          <p:cNvSpPr/>
          <p:nvPr/>
        </p:nvSpPr>
        <p:spPr>
          <a:xfrm>
            <a:off x="6362700" y="1905000"/>
            <a:ext cx="51054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사용 목적</a:t>
            </a:r>
            <a:endParaRPr lang="ko-KR" sz="1920" dirty="0"/>
          </a:p>
        </p:txBody>
      </p:sp>
      <p:sp>
        <p:nvSpPr>
          <p:cNvPr id="8" name="Text 6"/>
          <p:cNvSpPr/>
          <p:nvPr/>
        </p:nvSpPr>
        <p:spPr>
          <a:xfrm>
            <a:off x="6362700" y="2346960"/>
            <a:ext cx="51054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공통 JDBC 부하 결과와 PG 자체 부하 비교</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클라이언트 병목 가능성 조사</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PG buffer-pressure 결과의 보조 기준선</a:t>
            </a:r>
            <a:endParaRPr lang="ko-KR" sz="1740" dirty="0"/>
          </a:p>
        </p:txBody>
      </p:sp>
      <p:sp>
        <p:nvSpPr>
          <p:cNvPr id="9" name="Text 7"/>
          <p:cNvSpPr/>
          <p:nvPr/>
        </p:nvSpPr>
        <p:spPr>
          <a:xfrm>
            <a:off x="609600" y="3771900"/>
            <a:ext cx="52578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BD8737"/>
                </a:solidFill>
                <a:latin typeface="Noto Sans CJK KR" pitchFamily="34" charset="0"/>
                <a:ea typeface="Noto Sans CJK KR" pitchFamily="34" charset="-122"/>
                <a:cs typeface="Noto Sans CJK KR" pitchFamily="34" charset="-120"/>
              </a:rPr>
              <a:t>단점·주의</a:t>
            </a:r>
            <a:endParaRPr lang="ko-KR" sz="1920" dirty="0"/>
          </a:p>
        </p:txBody>
      </p:sp>
      <p:sp>
        <p:nvSpPr>
          <p:cNvPr id="10" name="Text 8"/>
          <p:cNvSpPr/>
          <p:nvPr/>
        </p:nvSpPr>
        <p:spPr>
          <a:xfrm>
            <a:off x="609600" y="4213860"/>
            <a:ext cx="52578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세 DB 공통 비교의 주 실행기로 부적합</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기본 부하는 TPC-B 파생이며 TPC-C 아님</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서로 다른 부하의 TPS를 직접 비교하지 않음</a:t>
            </a:r>
            <a:endParaRPr lang="ko-KR" sz="1740" dirty="0"/>
          </a:p>
        </p:txBody>
      </p:sp>
      <p:sp>
        <p:nvSpPr>
          <p:cNvPr id="11" name="Text 9"/>
          <p:cNvSpPr/>
          <p:nvPr/>
        </p:nvSpPr>
        <p:spPr>
          <a:xfrm>
            <a:off x="6362700" y="3771900"/>
            <a:ext cx="51054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245E8A"/>
                </a:solidFill>
                <a:latin typeface="Noto Sans CJK KR" pitchFamily="34" charset="0"/>
                <a:ea typeface="Noto Sans CJK KR" pitchFamily="34" charset="-122"/>
                <a:cs typeface="Noto Sans CJK KR" pitchFamily="34" charset="-120"/>
              </a:rPr>
              <a:t>실행 시간 예산</a:t>
            </a:r>
            <a:endParaRPr lang="ko-KR" sz="1920" dirty="0"/>
          </a:p>
        </p:txBody>
      </p:sp>
      <p:sp>
        <p:nvSpPr>
          <p:cNvPr id="12" name="Text 10"/>
          <p:cNvSpPr/>
          <p:nvPr/>
        </p:nvSpPr>
        <p:spPr>
          <a:xfrm>
            <a:off x="6362700" y="4213860"/>
            <a:ext cx="51054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warm-up 3–5분 + 측정 10–15분</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1회 약 13–20분</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초기화·index 생성·통계 준비는 별도</a:t>
            </a:r>
            <a:endParaRPr lang="ko-KR" sz="1740" dirty="0"/>
          </a:p>
        </p:txBody>
      </p:sp>
      <p:sp>
        <p:nvSpPr>
          <p:cNvPr id="13" name="Shape 11"/>
          <p:cNvSpPr/>
          <p:nvPr/>
        </p:nvSpPr>
        <p:spPr>
          <a:xfrm>
            <a:off x="579120" y="6316980"/>
            <a:ext cx="10911840" cy="7620"/>
          </a:xfrm>
          <a:prstGeom prst="rect">
            <a:avLst/>
          </a:prstGeom>
          <a:solidFill>
            <a:srgbClr val="D7E1E8"/>
          </a:solidFill>
          <a:ln w="12700">
            <a:solidFill>
              <a:srgbClr val="D7E1E8"/>
            </a:solidFill>
            <a:prstDash val="solid"/>
          </a:ln>
        </p:spPr>
      </p:sp>
      <p:sp>
        <p:nvSpPr>
          <p:cNvPr id="14" name="Text 12"/>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15" name="Text 13"/>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10 / 25</a:t>
            </a:r>
            <a:endParaRPr lang="ko-KR" sz="1080" dirty="0"/>
          </a:p>
        </p:txBody>
      </p:sp>
      <p:sp>
        <p:nvSpPr>
          <p:cNvPr id="16" name="Text 14">
            <a:hlinkClick r:id="rId1" tooltip=""/>
          </p:cNvPr>
          <p:cNvSpPr/>
          <p:nvPr/>
        </p:nvSpPr>
        <p:spPr>
          <a:xfrm>
            <a:off x="5791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[S10] 근거</a:t>
            </a:r>
            <a:endParaRPr lang="ko-KR" sz="96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10  /  EXPERIMENT SET — PROPOSAL</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권장 workload 세트: hit 경로부터 flush까지</a:t>
            </a:r>
            <a:endParaRPr lang="ko-KR" sz="3180" dirty="0"/>
          </a:p>
        </p:txBody>
      </p:sp>
      <p:sp>
        <p:nvSpPr>
          <p:cNvPr id="5" name="Shape 3"/>
          <p:cNvSpPr/>
          <p:nvPr/>
        </p:nvSpPr>
        <p:spPr>
          <a:xfrm>
            <a:off x="579120" y="1866900"/>
            <a:ext cx="2247900" cy="624840"/>
          </a:xfrm>
          <a:prstGeom prst="rect">
            <a:avLst/>
          </a:prstGeom>
          <a:solidFill>
            <a:srgbClr val="132D43"/>
          </a:solidFill>
          <a:ln w="12700">
            <a:solidFill>
              <a:srgbClr val="132D43"/>
            </a:solidFill>
            <a:prstDash val="solid"/>
          </a:ln>
        </p:spPr>
      </p:sp>
      <p:sp>
        <p:nvSpPr>
          <p:cNvPr id="6" name="Text 4"/>
          <p:cNvSpPr/>
          <p:nvPr/>
        </p:nvSpPr>
        <p:spPr>
          <a:xfrm>
            <a:off x="716280" y="1996440"/>
            <a:ext cx="2004060" cy="449580"/>
          </a:xfrm>
          <a:prstGeom prst="rect">
            <a:avLst/>
          </a:prstGeom>
          <a:noFill/>
          <a:ln/>
        </p:spPr>
        <p:txBody>
          <a:bodyPr wrap="square" lIns="0" tIns="0" rIns="0" bIns="0" rtlCol="0" anchor="t"/>
          <a:lstStyle/>
          <a:p>
            <a:pPr indent="0" marL="0">
              <a:lnSpc>
                <a:spcPct val="105000"/>
              </a:lnSpc>
              <a:buNone/>
            </a:pPr>
            <a:r>
              <a:rPr lang="ko-KR" altLang="en-US" sz="1560" b="1" dirty="0">
                <a:solidFill>
                  <a:srgbClr val="FFFFFF"/>
                </a:solidFill>
                <a:latin typeface="Noto Sans CJK KR" pitchFamily="34" charset="0"/>
                <a:ea typeface="Noto Sans CJK KR" pitchFamily="34" charset="-122"/>
                <a:cs typeface="Noto Sans CJK KR" pitchFamily="34" charset="-120"/>
              </a:rPr>
              <a:t>조건</a:t>
            </a:r>
            <a:endParaRPr lang="ko-KR" sz="1560" dirty="0"/>
          </a:p>
        </p:txBody>
      </p:sp>
      <p:sp>
        <p:nvSpPr>
          <p:cNvPr id="7" name="Shape 5"/>
          <p:cNvSpPr/>
          <p:nvPr/>
        </p:nvSpPr>
        <p:spPr>
          <a:xfrm>
            <a:off x="2827020" y="1866900"/>
            <a:ext cx="4572000" cy="624840"/>
          </a:xfrm>
          <a:prstGeom prst="rect">
            <a:avLst/>
          </a:prstGeom>
          <a:solidFill>
            <a:srgbClr val="132D43"/>
          </a:solidFill>
          <a:ln w="12700">
            <a:solidFill>
              <a:srgbClr val="132D43"/>
            </a:solidFill>
            <a:prstDash val="solid"/>
          </a:ln>
        </p:spPr>
      </p:sp>
      <p:sp>
        <p:nvSpPr>
          <p:cNvPr id="8" name="Text 6"/>
          <p:cNvSpPr/>
          <p:nvPr/>
        </p:nvSpPr>
        <p:spPr>
          <a:xfrm>
            <a:off x="2964180" y="1996440"/>
            <a:ext cx="4328160" cy="449580"/>
          </a:xfrm>
          <a:prstGeom prst="rect">
            <a:avLst/>
          </a:prstGeom>
          <a:noFill/>
          <a:ln/>
        </p:spPr>
        <p:txBody>
          <a:bodyPr wrap="square" lIns="0" tIns="0" rIns="0" bIns="0" rtlCol="0" anchor="t"/>
          <a:lstStyle/>
          <a:p>
            <a:pPr indent="0" marL="0">
              <a:lnSpc>
                <a:spcPct val="105000"/>
              </a:lnSpc>
              <a:buNone/>
            </a:pPr>
            <a:r>
              <a:rPr lang="ko-KR" altLang="en-US" sz="1560" b="1" dirty="0">
                <a:solidFill>
                  <a:srgbClr val="FFFFFF"/>
                </a:solidFill>
                <a:latin typeface="Noto Sans CJK KR" pitchFamily="34" charset="0"/>
                <a:ea typeface="Noto Sans CJK KR" pitchFamily="34" charset="-122"/>
                <a:cs typeface="Noto Sans CJK KR" pitchFamily="34" charset="-120"/>
              </a:rPr>
              <a:t>설정 예시</a:t>
            </a:r>
            <a:endParaRPr lang="ko-KR" sz="1560" dirty="0"/>
          </a:p>
        </p:txBody>
      </p:sp>
      <p:sp>
        <p:nvSpPr>
          <p:cNvPr id="9" name="Shape 7"/>
          <p:cNvSpPr/>
          <p:nvPr/>
        </p:nvSpPr>
        <p:spPr>
          <a:xfrm>
            <a:off x="7399020" y="1866900"/>
            <a:ext cx="4091940" cy="624840"/>
          </a:xfrm>
          <a:prstGeom prst="rect">
            <a:avLst/>
          </a:prstGeom>
          <a:solidFill>
            <a:srgbClr val="132D43"/>
          </a:solidFill>
          <a:ln w="12700">
            <a:solidFill>
              <a:srgbClr val="132D43"/>
            </a:solidFill>
            <a:prstDash val="solid"/>
          </a:ln>
        </p:spPr>
      </p:sp>
      <p:sp>
        <p:nvSpPr>
          <p:cNvPr id="10" name="Text 8"/>
          <p:cNvSpPr/>
          <p:nvPr/>
        </p:nvSpPr>
        <p:spPr>
          <a:xfrm>
            <a:off x="7536180" y="1996440"/>
            <a:ext cx="3848100" cy="449580"/>
          </a:xfrm>
          <a:prstGeom prst="rect">
            <a:avLst/>
          </a:prstGeom>
          <a:noFill/>
          <a:ln/>
        </p:spPr>
        <p:txBody>
          <a:bodyPr wrap="square" lIns="0" tIns="0" rIns="0" bIns="0" rtlCol="0" anchor="t"/>
          <a:lstStyle/>
          <a:p>
            <a:pPr indent="0" marL="0">
              <a:lnSpc>
                <a:spcPct val="105000"/>
              </a:lnSpc>
              <a:buNone/>
            </a:pPr>
            <a:r>
              <a:rPr lang="ko-KR" altLang="en-US" sz="1560" b="1" dirty="0">
                <a:solidFill>
                  <a:srgbClr val="FFFFFF"/>
                </a:solidFill>
                <a:latin typeface="Noto Sans CJK KR" pitchFamily="34" charset="0"/>
                <a:ea typeface="Noto Sans CJK KR" pitchFamily="34" charset="-122"/>
                <a:cs typeface="Noto Sans CJK KR" pitchFamily="34" charset="-120"/>
              </a:rPr>
              <a:t>분리해서 볼 질문</a:t>
            </a:r>
            <a:endParaRPr lang="ko-KR" sz="1560" dirty="0"/>
          </a:p>
        </p:txBody>
      </p:sp>
      <p:sp>
        <p:nvSpPr>
          <p:cNvPr id="11" name="Shape 9"/>
          <p:cNvSpPr/>
          <p:nvPr/>
        </p:nvSpPr>
        <p:spPr>
          <a:xfrm>
            <a:off x="579120" y="2491740"/>
            <a:ext cx="2247900" cy="624840"/>
          </a:xfrm>
          <a:prstGeom prst="rect">
            <a:avLst/>
          </a:prstGeom>
          <a:solidFill>
            <a:srgbClr val="FFFFFF"/>
          </a:solidFill>
          <a:ln w="12700">
            <a:solidFill>
              <a:srgbClr val="FFFFFF"/>
            </a:solidFill>
            <a:prstDash val="solid"/>
          </a:ln>
        </p:spPr>
      </p:sp>
      <p:sp>
        <p:nvSpPr>
          <p:cNvPr id="12" name="Text 10"/>
          <p:cNvSpPr/>
          <p:nvPr/>
        </p:nvSpPr>
        <p:spPr>
          <a:xfrm>
            <a:off x="716280" y="2621280"/>
            <a:ext cx="20040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R1 / cached</a:t>
            </a:r>
            <a:endParaRPr lang="ko-KR" sz="1560" dirty="0"/>
          </a:p>
        </p:txBody>
      </p:sp>
      <p:sp>
        <p:nvSpPr>
          <p:cNvPr id="13" name="Shape 11"/>
          <p:cNvSpPr/>
          <p:nvPr/>
        </p:nvSpPr>
        <p:spPr>
          <a:xfrm>
            <a:off x="2827020" y="2491740"/>
            <a:ext cx="4572000" cy="624840"/>
          </a:xfrm>
          <a:prstGeom prst="rect">
            <a:avLst/>
          </a:prstGeom>
          <a:solidFill>
            <a:srgbClr val="FFFFFF"/>
          </a:solidFill>
          <a:ln w="12700">
            <a:solidFill>
              <a:srgbClr val="FFFFFF"/>
            </a:solidFill>
            <a:prstDash val="solid"/>
          </a:ln>
        </p:spPr>
      </p:sp>
      <p:sp>
        <p:nvSpPr>
          <p:cNvPr id="14" name="Text 12"/>
          <p:cNvSpPr/>
          <p:nvPr/>
        </p:nvSpPr>
        <p:spPr>
          <a:xfrm>
            <a:off x="2964180" y="2621280"/>
            <a:ext cx="43281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uniform read · W/B ≈ 0.25</a:t>
            </a:r>
            <a:endParaRPr lang="ko-KR" sz="1560" dirty="0"/>
          </a:p>
        </p:txBody>
      </p:sp>
      <p:sp>
        <p:nvSpPr>
          <p:cNvPr id="15" name="Shape 13"/>
          <p:cNvSpPr/>
          <p:nvPr/>
        </p:nvSpPr>
        <p:spPr>
          <a:xfrm>
            <a:off x="7399020" y="2491740"/>
            <a:ext cx="4091940" cy="624840"/>
          </a:xfrm>
          <a:prstGeom prst="rect">
            <a:avLst/>
          </a:prstGeom>
          <a:solidFill>
            <a:srgbClr val="FFFFFF"/>
          </a:solidFill>
          <a:ln w="12700">
            <a:solidFill>
              <a:srgbClr val="FFFFFF"/>
            </a:solidFill>
            <a:prstDash val="solid"/>
          </a:ln>
        </p:spPr>
      </p:sp>
      <p:sp>
        <p:nvSpPr>
          <p:cNvPr id="16" name="Text 14"/>
          <p:cNvSpPr/>
          <p:nvPr/>
        </p:nvSpPr>
        <p:spPr>
          <a:xfrm>
            <a:off x="7536180" y="2621280"/>
            <a:ext cx="384810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hit 경로 CPU 비용과 동시성</a:t>
            </a:r>
            <a:endParaRPr lang="ko-KR" sz="1560" dirty="0"/>
          </a:p>
        </p:txBody>
      </p:sp>
      <p:sp>
        <p:nvSpPr>
          <p:cNvPr id="17" name="Shape 15"/>
          <p:cNvSpPr/>
          <p:nvPr/>
        </p:nvSpPr>
        <p:spPr>
          <a:xfrm>
            <a:off x="579120" y="3116580"/>
            <a:ext cx="2247900" cy="624840"/>
          </a:xfrm>
          <a:prstGeom prst="rect">
            <a:avLst/>
          </a:prstGeom>
          <a:solidFill>
            <a:srgbClr val="EAF0F4"/>
          </a:solidFill>
          <a:ln w="12700">
            <a:solidFill>
              <a:srgbClr val="EAF0F4"/>
            </a:solidFill>
            <a:prstDash val="solid"/>
          </a:ln>
        </p:spPr>
      </p:sp>
      <p:sp>
        <p:nvSpPr>
          <p:cNvPr id="18" name="Text 16"/>
          <p:cNvSpPr/>
          <p:nvPr/>
        </p:nvSpPr>
        <p:spPr>
          <a:xfrm>
            <a:off x="716280" y="3246120"/>
            <a:ext cx="20040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R2 / pressure</a:t>
            </a:r>
            <a:endParaRPr lang="ko-KR" sz="1560" dirty="0"/>
          </a:p>
        </p:txBody>
      </p:sp>
      <p:sp>
        <p:nvSpPr>
          <p:cNvPr id="19" name="Shape 17"/>
          <p:cNvSpPr/>
          <p:nvPr/>
        </p:nvSpPr>
        <p:spPr>
          <a:xfrm>
            <a:off x="2827020" y="3116580"/>
            <a:ext cx="4572000" cy="624840"/>
          </a:xfrm>
          <a:prstGeom prst="rect">
            <a:avLst/>
          </a:prstGeom>
          <a:solidFill>
            <a:srgbClr val="EAF0F4"/>
          </a:solidFill>
          <a:ln w="12700">
            <a:solidFill>
              <a:srgbClr val="EAF0F4"/>
            </a:solidFill>
            <a:prstDash val="solid"/>
          </a:ln>
        </p:spPr>
      </p:sp>
      <p:sp>
        <p:nvSpPr>
          <p:cNvPr id="20" name="Text 18"/>
          <p:cNvSpPr/>
          <p:nvPr/>
        </p:nvSpPr>
        <p:spPr>
          <a:xfrm>
            <a:off x="2964180" y="3246120"/>
            <a:ext cx="43281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uniform read · W/B ≈ 1, 4</a:t>
            </a:r>
            <a:endParaRPr lang="ko-KR" sz="1560" dirty="0"/>
          </a:p>
        </p:txBody>
      </p:sp>
      <p:sp>
        <p:nvSpPr>
          <p:cNvPr id="21" name="Shape 19"/>
          <p:cNvSpPr/>
          <p:nvPr/>
        </p:nvSpPr>
        <p:spPr>
          <a:xfrm>
            <a:off x="7399020" y="3116580"/>
            <a:ext cx="4091940" cy="624840"/>
          </a:xfrm>
          <a:prstGeom prst="rect">
            <a:avLst/>
          </a:prstGeom>
          <a:solidFill>
            <a:srgbClr val="EAF0F4"/>
          </a:solidFill>
          <a:ln w="12700">
            <a:solidFill>
              <a:srgbClr val="EAF0F4"/>
            </a:solidFill>
            <a:prstDash val="solid"/>
          </a:ln>
        </p:spPr>
      </p:sp>
      <p:sp>
        <p:nvSpPr>
          <p:cNvPr id="22" name="Text 20"/>
          <p:cNvSpPr/>
          <p:nvPr/>
        </p:nvSpPr>
        <p:spPr>
          <a:xfrm>
            <a:off x="7536180" y="3246120"/>
            <a:ext cx="384810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용량 경계·miss·victim 탐색 비용</a:t>
            </a:r>
            <a:endParaRPr lang="ko-KR" sz="1560" dirty="0"/>
          </a:p>
        </p:txBody>
      </p:sp>
      <p:sp>
        <p:nvSpPr>
          <p:cNvPr id="23" name="Shape 21"/>
          <p:cNvSpPr/>
          <p:nvPr/>
        </p:nvSpPr>
        <p:spPr>
          <a:xfrm>
            <a:off x="579120" y="3741420"/>
            <a:ext cx="2247900" cy="624840"/>
          </a:xfrm>
          <a:prstGeom prst="rect">
            <a:avLst/>
          </a:prstGeom>
          <a:solidFill>
            <a:srgbClr val="FFFFFF"/>
          </a:solidFill>
          <a:ln w="12700">
            <a:solidFill>
              <a:srgbClr val="FFFFFF"/>
            </a:solidFill>
            <a:prstDash val="solid"/>
          </a:ln>
        </p:spPr>
      </p:sp>
      <p:sp>
        <p:nvSpPr>
          <p:cNvPr id="24" name="Text 22"/>
          <p:cNvSpPr/>
          <p:nvPr/>
        </p:nvSpPr>
        <p:spPr>
          <a:xfrm>
            <a:off x="716280" y="3870960"/>
            <a:ext cx="20040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R3 / locality</a:t>
            </a:r>
            <a:endParaRPr lang="ko-KR" sz="1560" dirty="0"/>
          </a:p>
        </p:txBody>
      </p:sp>
      <p:sp>
        <p:nvSpPr>
          <p:cNvPr id="25" name="Shape 23"/>
          <p:cNvSpPr/>
          <p:nvPr/>
        </p:nvSpPr>
        <p:spPr>
          <a:xfrm>
            <a:off x="2827020" y="3741420"/>
            <a:ext cx="4572000" cy="624840"/>
          </a:xfrm>
          <a:prstGeom prst="rect">
            <a:avLst/>
          </a:prstGeom>
          <a:solidFill>
            <a:srgbClr val="FFFFFF"/>
          </a:solidFill>
          <a:ln w="12700">
            <a:solidFill>
              <a:srgbClr val="FFFFFF"/>
            </a:solidFill>
            <a:prstDash val="solid"/>
          </a:ln>
        </p:spPr>
      </p:sp>
      <p:sp>
        <p:nvSpPr>
          <p:cNvPr id="26" name="Text 24"/>
          <p:cNvSpPr/>
          <p:nvPr/>
        </p:nvSpPr>
        <p:spPr>
          <a:xfrm>
            <a:off x="2964180" y="3870960"/>
            <a:ext cx="43281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같은 W/B에서 Zipfian read</a:t>
            </a:r>
            <a:endParaRPr lang="ko-KR" sz="1560" dirty="0"/>
          </a:p>
        </p:txBody>
      </p:sp>
      <p:sp>
        <p:nvSpPr>
          <p:cNvPr id="27" name="Shape 25"/>
          <p:cNvSpPr/>
          <p:nvPr/>
        </p:nvSpPr>
        <p:spPr>
          <a:xfrm>
            <a:off x="7399020" y="3741420"/>
            <a:ext cx="4091940" cy="624840"/>
          </a:xfrm>
          <a:prstGeom prst="rect">
            <a:avLst/>
          </a:prstGeom>
          <a:solidFill>
            <a:srgbClr val="FFFFFF"/>
          </a:solidFill>
          <a:ln w="12700">
            <a:solidFill>
              <a:srgbClr val="FFFFFF"/>
            </a:solidFill>
            <a:prstDash val="solid"/>
          </a:ln>
        </p:spPr>
      </p:sp>
      <p:sp>
        <p:nvSpPr>
          <p:cNvPr id="28" name="Text 26"/>
          <p:cNvSpPr/>
          <p:nvPr/>
        </p:nvSpPr>
        <p:spPr>
          <a:xfrm>
            <a:off x="7536180" y="3870960"/>
            <a:ext cx="384810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인기 페이지를 잘 보존하는가</a:t>
            </a:r>
            <a:endParaRPr lang="ko-KR" sz="1560" dirty="0"/>
          </a:p>
        </p:txBody>
      </p:sp>
      <p:sp>
        <p:nvSpPr>
          <p:cNvPr id="29" name="Shape 27"/>
          <p:cNvSpPr/>
          <p:nvPr/>
        </p:nvSpPr>
        <p:spPr>
          <a:xfrm>
            <a:off x="579120" y="4366260"/>
            <a:ext cx="2247900" cy="624840"/>
          </a:xfrm>
          <a:prstGeom prst="rect">
            <a:avLst/>
          </a:prstGeom>
          <a:solidFill>
            <a:srgbClr val="EAF0F4"/>
          </a:solidFill>
          <a:ln w="12700">
            <a:solidFill>
              <a:srgbClr val="EAF0F4"/>
            </a:solidFill>
            <a:prstDash val="solid"/>
          </a:ln>
        </p:spPr>
      </p:sp>
      <p:sp>
        <p:nvSpPr>
          <p:cNvPr id="30" name="Text 28"/>
          <p:cNvSpPr/>
          <p:nvPr/>
        </p:nvSpPr>
        <p:spPr>
          <a:xfrm>
            <a:off x="716280" y="4495800"/>
            <a:ext cx="20040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R4 / scan</a:t>
            </a:r>
            <a:endParaRPr lang="ko-KR" sz="1560" dirty="0"/>
          </a:p>
        </p:txBody>
      </p:sp>
      <p:sp>
        <p:nvSpPr>
          <p:cNvPr id="31" name="Shape 29"/>
          <p:cNvSpPr/>
          <p:nvPr/>
        </p:nvSpPr>
        <p:spPr>
          <a:xfrm>
            <a:off x="2827020" y="4366260"/>
            <a:ext cx="4572000" cy="624840"/>
          </a:xfrm>
          <a:prstGeom prst="rect">
            <a:avLst/>
          </a:prstGeom>
          <a:solidFill>
            <a:srgbClr val="EAF0F4"/>
          </a:solidFill>
          <a:ln w="12700">
            <a:solidFill>
              <a:srgbClr val="EAF0F4"/>
            </a:solidFill>
            <a:prstDash val="solid"/>
          </a:ln>
        </p:spPr>
      </p:sp>
      <p:sp>
        <p:nvSpPr>
          <p:cNvPr id="32" name="Text 30"/>
          <p:cNvSpPr/>
          <p:nvPr/>
        </p:nvSpPr>
        <p:spPr>
          <a:xfrm>
            <a:off x="2964180" y="4495800"/>
            <a:ext cx="43281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hot read → 큰 scan 병행 → 회복</a:t>
            </a:r>
            <a:endParaRPr lang="ko-KR" sz="1560" dirty="0"/>
          </a:p>
        </p:txBody>
      </p:sp>
      <p:sp>
        <p:nvSpPr>
          <p:cNvPr id="33" name="Shape 31"/>
          <p:cNvSpPr/>
          <p:nvPr/>
        </p:nvSpPr>
        <p:spPr>
          <a:xfrm>
            <a:off x="7399020" y="4366260"/>
            <a:ext cx="4091940" cy="624840"/>
          </a:xfrm>
          <a:prstGeom prst="rect">
            <a:avLst/>
          </a:prstGeom>
          <a:solidFill>
            <a:srgbClr val="EAF0F4"/>
          </a:solidFill>
          <a:ln w="12700">
            <a:solidFill>
              <a:srgbClr val="EAF0F4"/>
            </a:solidFill>
            <a:prstDash val="solid"/>
          </a:ln>
        </p:spPr>
      </p:sp>
      <p:sp>
        <p:nvSpPr>
          <p:cNvPr id="34" name="Text 32"/>
          <p:cNvSpPr/>
          <p:nvPr/>
        </p:nvSpPr>
        <p:spPr>
          <a:xfrm>
            <a:off x="7536180" y="4495800"/>
            <a:ext cx="384810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hot 요청의 p99·hit·회복 시간</a:t>
            </a:r>
            <a:endParaRPr lang="ko-KR" sz="1560" dirty="0"/>
          </a:p>
        </p:txBody>
      </p:sp>
      <p:sp>
        <p:nvSpPr>
          <p:cNvPr id="35" name="Shape 33"/>
          <p:cNvSpPr/>
          <p:nvPr/>
        </p:nvSpPr>
        <p:spPr>
          <a:xfrm>
            <a:off x="579120" y="4991100"/>
            <a:ext cx="2247900" cy="624840"/>
          </a:xfrm>
          <a:prstGeom prst="rect">
            <a:avLst/>
          </a:prstGeom>
          <a:solidFill>
            <a:srgbClr val="FFFFFF"/>
          </a:solidFill>
          <a:ln w="12700">
            <a:solidFill>
              <a:srgbClr val="FFFFFF"/>
            </a:solidFill>
            <a:prstDash val="solid"/>
          </a:ln>
        </p:spPr>
      </p:sp>
      <p:sp>
        <p:nvSpPr>
          <p:cNvPr id="36" name="Text 34"/>
          <p:cNvSpPr/>
          <p:nvPr/>
        </p:nvSpPr>
        <p:spPr>
          <a:xfrm>
            <a:off x="716280" y="5120640"/>
            <a:ext cx="20040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W1 / mixed</a:t>
            </a:r>
            <a:endParaRPr lang="ko-KR" sz="1560" dirty="0"/>
          </a:p>
        </p:txBody>
      </p:sp>
      <p:sp>
        <p:nvSpPr>
          <p:cNvPr id="37" name="Shape 35"/>
          <p:cNvSpPr/>
          <p:nvPr/>
        </p:nvSpPr>
        <p:spPr>
          <a:xfrm>
            <a:off x="2827020" y="4991100"/>
            <a:ext cx="4572000" cy="624840"/>
          </a:xfrm>
          <a:prstGeom prst="rect">
            <a:avLst/>
          </a:prstGeom>
          <a:solidFill>
            <a:srgbClr val="FFFFFF"/>
          </a:solidFill>
          <a:ln w="12700">
            <a:solidFill>
              <a:srgbClr val="FFFFFF"/>
            </a:solidFill>
            <a:prstDash val="solid"/>
          </a:ln>
        </p:spPr>
      </p:sp>
      <p:sp>
        <p:nvSpPr>
          <p:cNvPr id="38" name="Text 36"/>
          <p:cNvSpPr/>
          <p:nvPr/>
        </p:nvSpPr>
        <p:spPr>
          <a:xfrm>
            <a:off x="2964180" y="5120640"/>
            <a:ext cx="43281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95/5 또는 50/50 read/update</a:t>
            </a:r>
            <a:endParaRPr lang="ko-KR" sz="1560" dirty="0"/>
          </a:p>
        </p:txBody>
      </p:sp>
      <p:sp>
        <p:nvSpPr>
          <p:cNvPr id="39" name="Shape 37"/>
          <p:cNvSpPr/>
          <p:nvPr/>
        </p:nvSpPr>
        <p:spPr>
          <a:xfrm>
            <a:off x="7399020" y="4991100"/>
            <a:ext cx="4091940" cy="624840"/>
          </a:xfrm>
          <a:prstGeom prst="rect">
            <a:avLst/>
          </a:prstGeom>
          <a:solidFill>
            <a:srgbClr val="FFFFFF"/>
          </a:solidFill>
          <a:ln w="12700">
            <a:solidFill>
              <a:srgbClr val="FFFFFF"/>
            </a:solidFill>
            <a:prstDash val="solid"/>
          </a:ln>
        </p:spPr>
      </p:sp>
      <p:sp>
        <p:nvSpPr>
          <p:cNvPr id="40" name="Text 38"/>
          <p:cNvSpPr/>
          <p:nvPr/>
        </p:nvSpPr>
        <p:spPr>
          <a:xfrm>
            <a:off x="7536180" y="5120640"/>
            <a:ext cx="384810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dirty·flush·대기·장치 쓰기</a:t>
            </a:r>
            <a:endParaRPr lang="ko-KR" sz="1560" dirty="0"/>
          </a:p>
        </p:txBody>
      </p:sp>
      <p:sp>
        <p:nvSpPr>
          <p:cNvPr id="41" name="Shape 39"/>
          <p:cNvSpPr/>
          <p:nvPr/>
        </p:nvSpPr>
        <p:spPr>
          <a:xfrm>
            <a:off x="579120" y="5615940"/>
            <a:ext cx="10911840" cy="7620"/>
          </a:xfrm>
          <a:prstGeom prst="rect">
            <a:avLst/>
          </a:prstGeom>
          <a:solidFill>
            <a:srgbClr val="D7E1E8"/>
          </a:solidFill>
          <a:ln w="12700">
            <a:solidFill>
              <a:srgbClr val="D7E1E8"/>
            </a:solidFill>
            <a:prstDash val="solid"/>
          </a:ln>
        </p:spPr>
      </p:sp>
      <p:sp>
        <p:nvSpPr>
          <p:cNvPr id="42" name="Text 40"/>
          <p:cNvSpPr/>
          <p:nvPr/>
        </p:nvSpPr>
        <p:spPr>
          <a:xfrm>
            <a:off x="609600" y="5798820"/>
            <a:ext cx="10744200" cy="259080"/>
          </a:xfrm>
          <a:prstGeom prst="rect">
            <a:avLst/>
          </a:prstGeom>
          <a:noFill/>
          <a:ln/>
        </p:spPr>
        <p:txBody>
          <a:bodyPr wrap="square" lIns="0" tIns="0" rIns="0" bIns="0" rtlCol="0" anchor="t"/>
          <a:lstStyle/>
          <a:p>
            <a:pPr indent="0" marL="0">
              <a:lnSpc>
                <a:spcPct val="105000"/>
              </a:lnSpc>
              <a:buNone/>
            </a:pPr>
            <a:r>
              <a:rPr lang="ko-KR" altLang="en-US" sz="1440" dirty="0">
                <a:solidFill>
                  <a:srgbClr val="52687B"/>
                </a:solidFill>
                <a:latin typeface="Noto Sans CJK KR" pitchFamily="34" charset="0"/>
                <a:ea typeface="Noto Sans CJK KR" pitchFamily="34" charset="-122"/>
                <a:cs typeface="Noto Sans CJK KR" pitchFamily="34" charset="-120"/>
              </a:rPr>
              <a:t>W/B = active footprint / engine buffer bytes. 단일 client로 시작하고 8·32 clients 등으로 확장한다.</a:t>
            </a:r>
            <a:endParaRPr lang="ko-KR" sz="1440" dirty="0"/>
          </a:p>
        </p:txBody>
      </p:sp>
      <p:sp>
        <p:nvSpPr>
          <p:cNvPr id="43" name="Shape 41"/>
          <p:cNvSpPr/>
          <p:nvPr/>
        </p:nvSpPr>
        <p:spPr>
          <a:xfrm>
            <a:off x="579120" y="6316980"/>
            <a:ext cx="10911840" cy="7620"/>
          </a:xfrm>
          <a:prstGeom prst="rect">
            <a:avLst/>
          </a:prstGeom>
          <a:solidFill>
            <a:srgbClr val="D7E1E8"/>
          </a:solidFill>
          <a:ln w="12700">
            <a:solidFill>
              <a:srgbClr val="D7E1E8"/>
            </a:solidFill>
            <a:prstDash val="solid"/>
          </a:ln>
        </p:spPr>
      </p:sp>
      <p:sp>
        <p:nvSpPr>
          <p:cNvPr id="44" name="Text 42"/>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45" name="Text 43"/>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11 / 25</a:t>
            </a:r>
            <a:endParaRPr lang="ko-KR" sz="10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11  /  FAIR COMPARISON</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공정한 비교는 두 질문을 별도 실험으로 답한다</a:t>
            </a:r>
            <a:endParaRPr lang="ko-KR" sz="3180" dirty="0"/>
          </a:p>
        </p:txBody>
      </p:sp>
      <p:sp>
        <p:nvSpPr>
          <p:cNvPr id="5" name="Shape 3"/>
          <p:cNvSpPr/>
          <p:nvPr/>
        </p:nvSpPr>
        <p:spPr>
          <a:xfrm>
            <a:off x="579120" y="1981200"/>
            <a:ext cx="5303520" cy="3147060"/>
          </a:xfrm>
          <a:prstGeom prst="rect">
            <a:avLst/>
          </a:prstGeom>
          <a:solidFill>
            <a:srgbClr val="FFFFFF"/>
          </a:solidFill>
          <a:ln w="7620">
            <a:solidFill>
              <a:srgbClr val="D7E1E8"/>
            </a:solidFill>
            <a:prstDash val="solid"/>
          </a:ln>
        </p:spPr>
      </p:sp>
      <p:sp>
        <p:nvSpPr>
          <p:cNvPr id="6" name="Text 4"/>
          <p:cNvSpPr/>
          <p:nvPr/>
        </p:nvSpPr>
        <p:spPr>
          <a:xfrm>
            <a:off x="769620" y="2209800"/>
            <a:ext cx="4953000" cy="716280"/>
          </a:xfrm>
          <a:prstGeom prst="rect">
            <a:avLst/>
          </a:prstGeom>
          <a:noFill/>
          <a:ln/>
        </p:spPr>
        <p:txBody>
          <a:bodyPr wrap="square" lIns="0" tIns="0" rIns="0" bIns="0" rtlCol="0" anchor="t"/>
          <a:lstStyle/>
          <a:p>
            <a:pPr indent="0" marL="0">
              <a:lnSpc>
                <a:spcPct val="105000"/>
              </a:lnSpc>
              <a:buNone/>
            </a:pPr>
            <a:r>
              <a:rPr lang="ko-KR" altLang="en-US" sz="2040" b="1" dirty="0">
                <a:solidFill>
                  <a:srgbClr val="245E8A"/>
                </a:solidFill>
                <a:latin typeface="Noto Sans CJK KR" pitchFamily="34" charset="0"/>
                <a:ea typeface="Noto Sans CJK KR" pitchFamily="34" charset="-122"/>
                <a:cs typeface="Noto Sans CJK KR" pitchFamily="34" charset="-120"/>
              </a:rPr>
              <a:t>A. 같은 업무·자원에서 누가 빠른가</a:t>
            </a:r>
            <a:endParaRPr lang="ko-KR" sz="2040" dirty="0"/>
          </a:p>
        </p:txBody>
      </p:sp>
      <p:sp>
        <p:nvSpPr>
          <p:cNvPr id="7" name="Text 5"/>
          <p:cNvSpPr/>
          <p:nvPr/>
        </p:nvSpPr>
        <p:spPr>
          <a:xfrm>
            <a:off x="769620" y="3162300"/>
            <a:ext cx="4953000" cy="163068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같은 row 수·payload·키 요청열·SQL 의미</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같은 총 메모리·CPU·storage 예산</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격리·durability·동시 접속 조건 명시</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DB별 실제 데이터·인덱스 footprint 기록</a:t>
            </a:r>
            <a:endParaRPr lang="ko-KR" sz="1740" dirty="0"/>
          </a:p>
        </p:txBody>
      </p:sp>
      <p:sp>
        <p:nvSpPr>
          <p:cNvPr id="8" name="Shape 6"/>
          <p:cNvSpPr/>
          <p:nvPr/>
        </p:nvSpPr>
        <p:spPr>
          <a:xfrm>
            <a:off x="6187440" y="1981200"/>
            <a:ext cx="5303520" cy="3147060"/>
          </a:xfrm>
          <a:prstGeom prst="rect">
            <a:avLst/>
          </a:prstGeom>
          <a:solidFill>
            <a:srgbClr val="FFFFFF"/>
          </a:solidFill>
          <a:ln w="7620">
            <a:solidFill>
              <a:srgbClr val="D7E1E8"/>
            </a:solidFill>
            <a:prstDash val="solid"/>
          </a:ln>
        </p:spPr>
      </p:sp>
      <p:sp>
        <p:nvSpPr>
          <p:cNvPr id="9" name="Text 7"/>
          <p:cNvSpPr/>
          <p:nvPr/>
        </p:nvSpPr>
        <p:spPr>
          <a:xfrm>
            <a:off x="6377940" y="2209800"/>
            <a:ext cx="4953000" cy="716280"/>
          </a:xfrm>
          <a:prstGeom prst="rect">
            <a:avLst/>
          </a:prstGeom>
          <a:noFill/>
          <a:ln/>
        </p:spPr>
        <p:txBody>
          <a:bodyPr wrap="square" lIns="0" tIns="0" rIns="0" bIns="0" rtlCol="0" anchor="t"/>
          <a:lstStyle/>
          <a:p>
            <a:pPr indent="0" marL="0">
              <a:lnSpc>
                <a:spcPct val="105000"/>
              </a:lnSpc>
              <a:buNone/>
            </a:pPr>
            <a:r>
              <a:rPr lang="ko-KR" altLang="en-US" sz="2040" b="1" dirty="0">
                <a:solidFill>
                  <a:srgbClr val="147D6D"/>
                </a:solidFill>
                <a:latin typeface="Noto Sans CJK KR" pitchFamily="34" charset="0"/>
                <a:ea typeface="Noto Sans CJK KR" pitchFamily="34" charset="-122"/>
                <a:cs typeface="Noto Sans CJK KR" pitchFamily="34" charset="-120"/>
              </a:rPr>
              <a:t>B. 같은 buffer 압력에서 어떻게 동작하는가</a:t>
            </a:r>
            <a:endParaRPr lang="ko-KR" sz="2040" dirty="0"/>
          </a:p>
        </p:txBody>
      </p:sp>
      <p:sp>
        <p:nvSpPr>
          <p:cNvPr id="10" name="Text 8"/>
          <p:cNvSpPr/>
          <p:nvPr/>
        </p:nvSpPr>
        <p:spPr>
          <a:xfrm>
            <a:off x="6377940" y="3162300"/>
            <a:ext cx="4953000" cy="163068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DB마다 W/B를 0.25 / 1 / 4로 맞춤</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페이지 크기·저장 구조의 차이 기록</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부하 의미·locality·동시성은 고정</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동일 engine buffer만으로 RAM 공정성을 주장하지 않음</a:t>
            </a:r>
            <a:endParaRPr lang="ko-KR" sz="1740" dirty="0"/>
          </a:p>
        </p:txBody>
      </p:sp>
      <p:sp>
        <p:nvSpPr>
          <p:cNvPr id="11" name="Shape 9"/>
          <p:cNvSpPr/>
          <p:nvPr/>
        </p:nvSpPr>
        <p:spPr>
          <a:xfrm>
            <a:off x="579120" y="5562600"/>
            <a:ext cx="10911840" cy="533400"/>
          </a:xfrm>
          <a:prstGeom prst="rect">
            <a:avLst/>
          </a:prstGeom>
          <a:solidFill>
            <a:srgbClr val="DDEFEA"/>
          </a:solidFill>
          <a:ln w="12700">
            <a:solidFill>
              <a:srgbClr val="DDEFEA"/>
            </a:solidFill>
            <a:prstDash val="solid"/>
          </a:ln>
        </p:spPr>
      </p:sp>
      <p:sp>
        <p:nvSpPr>
          <p:cNvPr id="12" name="Text 10"/>
          <p:cNvSpPr/>
          <p:nvPr/>
        </p:nvSpPr>
        <p:spPr>
          <a:xfrm>
            <a:off x="762000" y="5692140"/>
            <a:ext cx="10546080" cy="320040"/>
          </a:xfrm>
          <a:prstGeom prst="rect">
            <a:avLst/>
          </a:prstGeom>
          <a:noFill/>
          <a:ln/>
        </p:spPr>
        <p:txBody>
          <a:bodyPr wrap="square" lIns="0" tIns="0" rIns="0" bIns="0" rtlCol="0" anchor="t"/>
          <a:lstStyle/>
          <a:p>
            <a:pPr indent="0" marL="0">
              <a:lnSpc>
                <a:spcPct val="105000"/>
              </a:lnSpc>
              <a:buNone/>
            </a:pPr>
            <a:r>
              <a:rPr lang="ko-KR" altLang="en-US" sz="1620" b="1" dirty="0">
                <a:solidFill>
                  <a:srgbClr val="147D6D"/>
                </a:solidFill>
                <a:latin typeface="Noto Sans CJK KR" pitchFamily="34" charset="0"/>
                <a:ea typeface="Noto Sans CJK KR" pitchFamily="34" charset="-122"/>
                <a:cs typeface="Noto Sans CJK KR" pitchFamily="34" charset="-120"/>
              </a:rPr>
              <a:t>하나의 실행에 두 공정성을 억지로 섞지 않는다. OS cache·총 메모리·실제 footprint를 함께 보고한다.</a:t>
            </a:r>
            <a:endParaRPr lang="ko-KR" sz="1620" dirty="0"/>
          </a:p>
        </p:txBody>
      </p:sp>
      <p:sp>
        <p:nvSpPr>
          <p:cNvPr id="13" name="Shape 11"/>
          <p:cNvSpPr/>
          <p:nvPr/>
        </p:nvSpPr>
        <p:spPr>
          <a:xfrm>
            <a:off x="579120" y="6316980"/>
            <a:ext cx="10911840" cy="7620"/>
          </a:xfrm>
          <a:prstGeom prst="rect">
            <a:avLst/>
          </a:prstGeom>
          <a:solidFill>
            <a:srgbClr val="D7E1E8"/>
          </a:solidFill>
          <a:ln w="12700">
            <a:solidFill>
              <a:srgbClr val="D7E1E8"/>
            </a:solidFill>
            <a:prstDash val="solid"/>
          </a:ln>
        </p:spPr>
      </p:sp>
      <p:sp>
        <p:nvSpPr>
          <p:cNvPr id="14" name="Text 12"/>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15" name="Text 13"/>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12 / 25</a:t>
            </a:r>
            <a:endParaRPr lang="ko-KR" sz="10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0283D"/>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0283D"/>
          </a:solidFill>
          <a:ln w="12700">
            <a:solidFill>
              <a:srgbClr val="10283D"/>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12  /  INTERVAL METRICS</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FFFFFF"/>
                </a:solidFill>
                <a:latin typeface="Noto Sans CJK KR" pitchFamily="34" charset="0"/>
                <a:ea typeface="Noto Sans CJK KR" pitchFamily="34" charset="-122"/>
                <a:cs typeface="Noto Sans CJK KR" pitchFamily="34" charset="-120"/>
              </a:rPr>
              <a:t>hit / miss는 측정 구간의 카운터 차이로 계산</a:t>
            </a:r>
            <a:endParaRPr lang="ko-KR" sz="3180" dirty="0"/>
          </a:p>
        </p:txBody>
      </p:sp>
      <p:sp>
        <p:nvSpPr>
          <p:cNvPr id="5" name="Text 3"/>
          <p:cNvSpPr/>
          <p:nvPr/>
        </p:nvSpPr>
        <p:spPr>
          <a:xfrm>
            <a:off x="609600" y="1943100"/>
            <a:ext cx="10668000" cy="495300"/>
          </a:xfrm>
          <a:prstGeom prst="rect">
            <a:avLst/>
          </a:prstGeom>
          <a:noFill/>
          <a:ln/>
        </p:spPr>
        <p:txBody>
          <a:bodyPr wrap="square" lIns="0" tIns="0" rIns="0" bIns="0" rtlCol="0" anchor="t"/>
          <a:lstStyle/>
          <a:p>
            <a:pPr indent="0" marL="0">
              <a:lnSpc>
                <a:spcPct val="105000"/>
              </a:lnSpc>
              <a:buNone/>
            </a:pPr>
            <a:r>
              <a:rPr lang="ko-KR" altLang="en-US" sz="2520" b="1" dirty="0">
                <a:solidFill>
                  <a:srgbClr val="BD8737"/>
                </a:solidFill>
                <a:latin typeface="Noto Sans CJK KR" pitchFamily="34" charset="0"/>
                <a:ea typeface="Noto Sans CJK KR" pitchFamily="34" charset="-122"/>
                <a:cs typeface="Noto Sans CJK KR" pitchFamily="34" charset="-120"/>
              </a:rPr>
              <a:t>Δcounter = 측정 종료값 − 측정 시작값</a:t>
            </a:r>
            <a:endParaRPr lang="ko-KR" sz="2520" dirty="0"/>
          </a:p>
        </p:txBody>
      </p:sp>
      <p:sp>
        <p:nvSpPr>
          <p:cNvPr id="6" name="Shape 4"/>
          <p:cNvSpPr/>
          <p:nvPr/>
        </p:nvSpPr>
        <p:spPr>
          <a:xfrm>
            <a:off x="579120" y="2743200"/>
            <a:ext cx="5303520" cy="1691640"/>
          </a:xfrm>
          <a:prstGeom prst="rect">
            <a:avLst/>
          </a:prstGeom>
          <a:solidFill>
            <a:srgbClr val="1A3A51"/>
          </a:solidFill>
          <a:ln w="12700">
            <a:solidFill>
              <a:srgbClr val="1A3A51"/>
            </a:solidFill>
            <a:prstDash val="solid"/>
          </a:ln>
        </p:spPr>
      </p:sp>
      <p:sp>
        <p:nvSpPr>
          <p:cNvPr id="7" name="Shape 5"/>
          <p:cNvSpPr/>
          <p:nvPr/>
        </p:nvSpPr>
        <p:spPr>
          <a:xfrm>
            <a:off x="6187440" y="2743200"/>
            <a:ext cx="5303520" cy="1691640"/>
          </a:xfrm>
          <a:prstGeom prst="rect">
            <a:avLst/>
          </a:prstGeom>
          <a:solidFill>
            <a:srgbClr val="1A3A51"/>
          </a:solidFill>
          <a:ln w="12700">
            <a:solidFill>
              <a:srgbClr val="1A3A51"/>
            </a:solidFill>
            <a:prstDash val="solid"/>
          </a:ln>
        </p:spPr>
      </p:sp>
      <p:sp>
        <p:nvSpPr>
          <p:cNvPr id="8" name="Text 6"/>
          <p:cNvSpPr/>
          <p:nvPr/>
        </p:nvSpPr>
        <p:spPr>
          <a:xfrm>
            <a:off x="792480" y="2926080"/>
            <a:ext cx="4876800" cy="350520"/>
          </a:xfrm>
          <a:prstGeom prst="rect">
            <a:avLst/>
          </a:prstGeom>
          <a:noFill/>
          <a:ln/>
        </p:spPr>
        <p:txBody>
          <a:bodyPr wrap="square" lIns="0" tIns="0" rIns="0" bIns="0" rtlCol="0" anchor="t"/>
          <a:lstStyle/>
          <a:p>
            <a:pPr indent="0" marL="0">
              <a:lnSpc>
                <a:spcPct val="105000"/>
              </a:lnSpc>
              <a:buNone/>
            </a:pPr>
            <a:r>
              <a:rPr lang="ko-KR" altLang="en-US" sz="1920" b="1" dirty="0">
                <a:solidFill>
                  <a:srgbClr val="74BEAD"/>
                </a:solidFill>
                <a:latin typeface="Noto Sans CJK KR" pitchFamily="34" charset="0"/>
                <a:ea typeface="Noto Sans CJK KR" pitchFamily="34" charset="-122"/>
                <a:cs typeface="Noto Sans CJK KR" pitchFamily="34" charset="-120"/>
              </a:rPr>
              <a:t>CUBRID / MySQL</a:t>
            </a:r>
            <a:endParaRPr lang="ko-KR" sz="1920" dirty="0"/>
          </a:p>
        </p:txBody>
      </p:sp>
      <p:sp>
        <p:nvSpPr>
          <p:cNvPr id="9" name="Text 7"/>
          <p:cNvSpPr/>
          <p:nvPr/>
        </p:nvSpPr>
        <p:spPr>
          <a:xfrm>
            <a:off x="792480" y="3489960"/>
            <a:ext cx="4800600" cy="716280"/>
          </a:xfrm>
          <a:prstGeom prst="rect">
            <a:avLst/>
          </a:prstGeom>
          <a:noFill/>
          <a:ln/>
        </p:spPr>
        <p:txBody>
          <a:bodyPr wrap="square" lIns="0" tIns="0" rIns="0" bIns="0" rtlCol="0" anchor="t"/>
          <a:lstStyle/>
          <a:p>
            <a:pPr indent="0" marL="0">
              <a:lnSpc>
                <a:spcPct val="105000"/>
              </a:lnSpc>
              <a:buNone/>
            </a:pPr>
            <a:r>
              <a:rPr lang="ko-KR" altLang="en-US" sz="1740" dirty="0">
                <a:solidFill>
                  <a:srgbClr val="FFFFFF"/>
                </a:solidFill>
                <a:latin typeface="DejaVu Sans Mono" pitchFamily="34" charset="0"/>
                <a:ea typeface="DejaVu Sans Mono" pitchFamily="34" charset="-122"/>
                <a:cs typeface="DejaVu Sans Mono" pitchFamily="34" charset="-120"/>
              </a:rPr>
              <a:t>miss proxy = Δreads / Δfetches</a:t>
            </a:r>
            <a:endParaRPr lang="ko-KR" sz="1740" dirty="0"/>
          </a:p>
          <a:p>
            <a:pPr indent="0" marL="0">
              <a:lnSpc>
                <a:spcPct val="105000"/>
              </a:lnSpc>
              <a:buNone/>
            </a:pPr>
            <a:r>
              <a:rPr lang="ko-KR" altLang="en-US" sz="1740" dirty="0">
                <a:solidFill>
                  <a:srgbClr val="FFFFFF"/>
                </a:solidFill>
                <a:latin typeface="DejaVu Sans Mono" pitchFamily="34" charset="0"/>
                <a:ea typeface="DejaVu Sans Mono" pitchFamily="34" charset="-122"/>
                <a:cs typeface="DejaVu Sans Mono" pitchFamily="34" charset="-120"/>
              </a:rPr>
              <a:t>hit proxy = 1 − miss proxy</a:t>
            </a:r>
            <a:endParaRPr lang="ko-KR" sz="1740" dirty="0"/>
          </a:p>
        </p:txBody>
      </p:sp>
      <p:sp>
        <p:nvSpPr>
          <p:cNvPr id="10" name="Text 8"/>
          <p:cNvSpPr/>
          <p:nvPr/>
        </p:nvSpPr>
        <p:spPr>
          <a:xfrm>
            <a:off x="6400800" y="2926080"/>
            <a:ext cx="4876800" cy="350520"/>
          </a:xfrm>
          <a:prstGeom prst="rect">
            <a:avLst/>
          </a:prstGeom>
          <a:noFill/>
          <a:ln/>
        </p:spPr>
        <p:txBody>
          <a:bodyPr wrap="square" lIns="0" tIns="0" rIns="0" bIns="0" rtlCol="0" anchor="t"/>
          <a:lstStyle/>
          <a:p>
            <a:pPr indent="0" marL="0">
              <a:lnSpc>
                <a:spcPct val="105000"/>
              </a:lnSpc>
              <a:buNone/>
            </a:pPr>
            <a:r>
              <a:rPr lang="ko-KR" altLang="en-US" sz="1920" b="1" dirty="0">
                <a:solidFill>
                  <a:srgbClr val="85B7D8"/>
                </a:solidFill>
                <a:latin typeface="Noto Sans CJK KR" pitchFamily="34" charset="0"/>
                <a:ea typeface="Noto Sans CJK KR" pitchFamily="34" charset="-122"/>
                <a:cs typeface="Noto Sans CJK KR" pitchFamily="34" charset="-120"/>
              </a:rPr>
              <a:t>PostgreSQL</a:t>
            </a:r>
            <a:endParaRPr lang="ko-KR" sz="1920" dirty="0"/>
          </a:p>
        </p:txBody>
      </p:sp>
      <p:sp>
        <p:nvSpPr>
          <p:cNvPr id="11" name="Text 9"/>
          <p:cNvSpPr/>
          <p:nvPr/>
        </p:nvSpPr>
        <p:spPr>
          <a:xfrm>
            <a:off x="6400800" y="3489960"/>
            <a:ext cx="4800600" cy="716280"/>
          </a:xfrm>
          <a:prstGeom prst="rect">
            <a:avLst/>
          </a:prstGeom>
          <a:noFill/>
          <a:ln/>
        </p:spPr>
        <p:txBody>
          <a:bodyPr wrap="square" lIns="0" tIns="0" rIns="0" bIns="0" rtlCol="0" anchor="t"/>
          <a:lstStyle/>
          <a:p>
            <a:pPr indent="0" marL="0">
              <a:lnSpc>
                <a:spcPct val="105000"/>
              </a:lnSpc>
              <a:buNone/>
            </a:pPr>
            <a:r>
              <a:rPr lang="ko-KR" altLang="en-US" sz="1740" dirty="0">
                <a:solidFill>
                  <a:srgbClr val="FFFFFF"/>
                </a:solidFill>
                <a:latin typeface="DejaVu Sans Mono" pitchFamily="34" charset="0"/>
                <a:ea typeface="DejaVu Sans Mono" pitchFamily="34" charset="-122"/>
                <a:cs typeface="DejaVu Sans Mono" pitchFamily="34" charset="-120"/>
              </a:rPr>
              <a:t>hit = Δhits / (Δhits + Δreads)</a:t>
            </a:r>
            <a:endParaRPr lang="ko-KR" sz="1740" dirty="0"/>
          </a:p>
          <a:p>
            <a:pPr indent="0" marL="0">
              <a:lnSpc>
                <a:spcPct val="105000"/>
              </a:lnSpc>
              <a:buNone/>
            </a:pPr>
            <a:r>
              <a:rPr lang="ko-KR" altLang="en-US" sz="1740" dirty="0">
                <a:solidFill>
                  <a:srgbClr val="FFFFFF"/>
                </a:solidFill>
                <a:latin typeface="DejaVu Sans Mono" pitchFamily="34" charset="0"/>
                <a:ea typeface="DejaVu Sans Mono" pitchFamily="34" charset="-122"/>
                <a:cs typeface="DejaVu Sans Mono" pitchFamily="34" charset="-120"/>
              </a:rPr>
              <a:t>miss = Δreads / (Δhits + Δreads)</a:t>
            </a:r>
            <a:endParaRPr lang="ko-KR" sz="1740" dirty="0"/>
          </a:p>
        </p:txBody>
      </p:sp>
      <p:sp>
        <p:nvSpPr>
          <p:cNvPr id="12" name="Text 10"/>
          <p:cNvSpPr/>
          <p:nvPr/>
        </p:nvSpPr>
        <p:spPr>
          <a:xfrm>
            <a:off x="609600" y="4838700"/>
            <a:ext cx="10744200" cy="571500"/>
          </a:xfrm>
          <a:prstGeom prst="rect">
            <a:avLst/>
          </a:prstGeom>
          <a:noFill/>
          <a:ln/>
        </p:spPr>
        <p:txBody>
          <a:bodyPr wrap="square" lIns="0" tIns="0" rIns="0" bIns="0" rtlCol="0" anchor="t"/>
          <a:lstStyle/>
          <a:p>
            <a:pPr indent="0" marL="0">
              <a:lnSpc>
                <a:spcPct val="105000"/>
              </a:lnSpc>
              <a:buNone/>
            </a:pPr>
            <a:r>
              <a:rPr lang="ko-KR" altLang="en-US" sz="1680" dirty="0">
                <a:solidFill>
                  <a:srgbClr val="CADAE5"/>
                </a:solidFill>
                <a:latin typeface="Noto Sans CJK KR" pitchFamily="34" charset="0"/>
                <a:ea typeface="Noto Sans CJK KR" pitchFamily="34" charset="-122"/>
                <a:cs typeface="Noto Sans CJK KR" pitchFamily="34" charset="-120"/>
              </a:rPr>
              <a:t>분모 0은 N/A. counter reset·서버 재시작이 있으면 구간을 무효 처리한다.</a:t>
            </a:r>
            <a:endParaRPr lang="ko-KR" sz="1680" dirty="0"/>
          </a:p>
          <a:p>
            <a:pPr indent="0" marL="0">
              <a:lnSpc>
                <a:spcPct val="105000"/>
              </a:lnSpc>
              <a:buNone/>
            </a:pPr>
            <a:r>
              <a:rPr lang="ko-KR" altLang="en-US" sz="1680" dirty="0">
                <a:solidFill>
                  <a:srgbClr val="CADAE5"/>
                </a:solidFill>
                <a:latin typeface="Noto Sans CJK KR" pitchFamily="34" charset="0"/>
                <a:ea typeface="Noto Sans CJK KR" pitchFamily="34" charset="-122"/>
                <a:cs typeface="Noto Sans CJK KR" pitchFamily="34" charset="-120"/>
              </a:rPr>
              <a:t>샘플 hit %를 단순 평균하지 말고, 구간 카운터 합계로 전체 비율을 계산한다.</a:t>
            </a:r>
            <a:endParaRPr lang="ko-KR" sz="1680" dirty="0"/>
          </a:p>
        </p:txBody>
      </p:sp>
      <p:sp>
        <p:nvSpPr>
          <p:cNvPr id="13" name="Shape 11"/>
          <p:cNvSpPr/>
          <p:nvPr/>
        </p:nvSpPr>
        <p:spPr>
          <a:xfrm>
            <a:off x="579120" y="5562600"/>
            <a:ext cx="10911840" cy="533400"/>
          </a:xfrm>
          <a:prstGeom prst="rect">
            <a:avLst/>
          </a:prstGeom>
          <a:solidFill>
            <a:srgbClr val="183D4B"/>
          </a:solidFill>
          <a:ln w="12700">
            <a:solidFill>
              <a:srgbClr val="183D4B"/>
            </a:solidFill>
            <a:prstDash val="solid"/>
          </a:ln>
        </p:spPr>
      </p:sp>
      <p:sp>
        <p:nvSpPr>
          <p:cNvPr id="14" name="Text 12"/>
          <p:cNvSpPr/>
          <p:nvPr/>
        </p:nvSpPr>
        <p:spPr>
          <a:xfrm>
            <a:off x="762000" y="5692140"/>
            <a:ext cx="10546080" cy="320040"/>
          </a:xfrm>
          <a:prstGeom prst="rect">
            <a:avLst/>
          </a:prstGeom>
          <a:noFill/>
          <a:ln/>
        </p:spPr>
        <p:txBody>
          <a:bodyPr wrap="square" lIns="0" tIns="0" rIns="0" bIns="0" rtlCol="0" anchor="t"/>
          <a:lstStyle/>
          <a:p>
            <a:pPr indent="0" marL="0">
              <a:lnSpc>
                <a:spcPct val="105000"/>
              </a:lnSpc>
              <a:buNone/>
            </a:pPr>
            <a:r>
              <a:rPr lang="ko-KR" altLang="en-US" sz="1620" b="1" dirty="0">
                <a:solidFill>
                  <a:srgbClr val="FFFFFF"/>
                </a:solidFill>
                <a:latin typeface="Noto Sans CJK KR" pitchFamily="34" charset="0"/>
                <a:ea typeface="Noto Sans CJK KR" pitchFamily="34" charset="-122"/>
                <a:cs typeface="Noto Sans CJK KR" pitchFamily="34" charset="-120"/>
              </a:rPr>
              <a:t>서로 다른 DB의 counter를 같은 페이지 요청의 정확한 계수로 간주하지 않는다.</a:t>
            </a:r>
            <a:endParaRPr lang="ko-KR" sz="1620" dirty="0"/>
          </a:p>
        </p:txBody>
      </p:sp>
      <p:sp>
        <p:nvSpPr>
          <p:cNvPr id="15" name="Shape 13"/>
          <p:cNvSpPr/>
          <p:nvPr/>
        </p:nvSpPr>
        <p:spPr>
          <a:xfrm>
            <a:off x="579120" y="6316980"/>
            <a:ext cx="10911840" cy="7620"/>
          </a:xfrm>
          <a:prstGeom prst="rect">
            <a:avLst/>
          </a:prstGeom>
          <a:solidFill>
            <a:srgbClr val="355064"/>
          </a:solidFill>
          <a:ln w="12700">
            <a:solidFill>
              <a:srgbClr val="355064"/>
            </a:solidFill>
            <a:prstDash val="solid"/>
          </a:ln>
        </p:spPr>
      </p:sp>
      <p:sp>
        <p:nvSpPr>
          <p:cNvPr id="16" name="Text 14"/>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BACBD8"/>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17" name="Text 15"/>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BACBD8"/>
                </a:solidFill>
                <a:latin typeface="Noto Sans CJK KR" pitchFamily="34" charset="0"/>
                <a:ea typeface="Noto Sans CJK KR" pitchFamily="34" charset="-122"/>
                <a:cs typeface="Noto Sans CJK KR" pitchFamily="34" charset="-120"/>
              </a:rPr>
              <a:t>13 / 25</a:t>
            </a:r>
            <a:endParaRPr lang="ko-KR" sz="1080" dirty="0"/>
          </a:p>
        </p:txBody>
      </p:sp>
      <p:sp>
        <p:nvSpPr>
          <p:cNvPr id="18" name="Text 16">
            <a:hlinkClick r:id="rId1" tooltip=""/>
          </p:cNvPr>
          <p:cNvSpPr/>
          <p:nvPr/>
        </p:nvSpPr>
        <p:spPr>
          <a:xfrm>
            <a:off x="5791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BACBD8"/>
                </a:solidFill>
                <a:latin typeface="Noto Sans CJK KR" pitchFamily="34" charset="0"/>
                <a:ea typeface="Noto Sans CJK KR" pitchFamily="34" charset="-122"/>
                <a:cs typeface="Noto Sans CJK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[S7] 근거</a:t>
            </a:r>
            <a:endParaRPr lang="ko-KR" sz="960" dirty="0"/>
          </a:p>
        </p:txBody>
      </p:sp>
      <p:sp>
        <p:nvSpPr>
          <p:cNvPr id="19" name="Text 17">
            <a:hlinkClick r:id="rId2" tooltip=""/>
          </p:cNvPr>
          <p:cNvSpPr/>
          <p:nvPr/>
        </p:nvSpPr>
        <p:spPr>
          <a:xfrm>
            <a:off x="16078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BACBD8"/>
                </a:solidFill>
                <a:latin typeface="Noto Sans CJK KR" pitchFamily="34" charset="0"/>
                <a:ea typeface="Noto Sans CJK KR" pitchFamily="34" charset="-122"/>
                <a:cs typeface="Noto Sans CJK KR" pitchFamily="34" charset="-120"/>
                <a:hlinkClick r:id="rId2" invalidUrl="" action="" tgtFrame="" tooltip="" history="1" highlightClick="0" endSnd="0">
                  <a:extLst>
                    <a:ext uri="{A12FA001-AC4F-418D-AE19-62706E023703}">
                      <ahyp:hlinkClr xmlns:ahyp="http://schemas.microsoft.com/office/drawing/2018/hyperlinkcolor" val="tx"/>
                    </a:ext>
                  </a:extLst>
                </a:hlinkClick>
              </a:rPr>
              <a:t>[S8] 근거</a:t>
            </a:r>
            <a:endParaRPr lang="ko-KR" sz="960" dirty="0"/>
          </a:p>
        </p:txBody>
      </p:sp>
      <p:sp>
        <p:nvSpPr>
          <p:cNvPr id="20" name="Text 18">
            <a:hlinkClick r:id="rId3" tooltip=""/>
          </p:cNvPr>
          <p:cNvSpPr/>
          <p:nvPr/>
        </p:nvSpPr>
        <p:spPr>
          <a:xfrm>
            <a:off x="26365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BACBD8"/>
                </a:solidFill>
                <a:latin typeface="Noto Sans CJK KR" pitchFamily="34" charset="0"/>
                <a:ea typeface="Noto Sans CJK KR" pitchFamily="34" charset="-122"/>
                <a:cs typeface="Noto Sans CJK KR" pitchFamily="34" charset="-120"/>
                <a:hlinkClick r:id="rId3" invalidUrl="" action="" tgtFrame="" tooltip="" history="1" highlightClick="0" endSnd="0">
                  <a:extLst>
                    <a:ext uri="{A12FA001-AC4F-418D-AE19-62706E023703}">
                      <ahyp:hlinkClr xmlns:ahyp="http://schemas.microsoft.com/office/drawing/2018/hyperlinkcolor" val="tx"/>
                    </a:ext>
                  </a:extLst>
                </a:hlinkClick>
              </a:rPr>
              <a:t>[S9] 근거</a:t>
            </a:r>
            <a:endParaRPr lang="ko-KR" sz="960" dirty="0"/>
          </a:p>
        </p:txBody>
      </p:sp>
      <p:sp>
        <p:nvSpPr>
          <p:cNvPr id="21" name="Text 19">
            <a:hlinkClick r:id="rId4" tooltip=""/>
          </p:cNvPr>
          <p:cNvSpPr/>
          <p:nvPr/>
        </p:nvSpPr>
        <p:spPr>
          <a:xfrm>
            <a:off x="36652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BACBD8"/>
                </a:solidFill>
                <a:latin typeface="Noto Sans CJK KR" pitchFamily="34" charset="0"/>
                <a:ea typeface="Noto Sans CJK KR" pitchFamily="34" charset="-122"/>
                <a:cs typeface="Noto Sans CJK KR" pitchFamily="34" charset="-120"/>
                <a:hlinkClick r:id="rId4" invalidUrl="" action="" tgtFrame="" tooltip="" history="1" highlightClick="0" endSnd="0">
                  <a:extLst>
                    <a:ext uri="{A12FA001-AC4F-418D-AE19-62706E023703}">
                      <ahyp:hlinkClr xmlns:ahyp="http://schemas.microsoft.com/office/drawing/2018/hyperlinkcolor" val="tx"/>
                    </a:ext>
                  </a:extLst>
                </a:hlinkClick>
              </a:rPr>
              <a:t>[S11] 근거</a:t>
            </a:r>
            <a:endParaRPr lang="ko-KR" sz="96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13  /  CUBRID TRACKING</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CUBRID: statdump raw counter를 함께 보존</a:t>
            </a:r>
            <a:endParaRPr lang="ko-KR" sz="3180" dirty="0"/>
          </a:p>
        </p:txBody>
      </p:sp>
      <p:sp>
        <p:nvSpPr>
          <p:cNvPr id="5" name="Shape 3"/>
          <p:cNvSpPr/>
          <p:nvPr/>
        </p:nvSpPr>
        <p:spPr>
          <a:xfrm>
            <a:off x="579120" y="1905000"/>
            <a:ext cx="10911840" cy="800100"/>
          </a:xfrm>
          <a:prstGeom prst="rect">
            <a:avLst/>
          </a:prstGeom>
          <a:solidFill>
            <a:srgbClr val="132D43"/>
          </a:solidFill>
          <a:ln w="12700">
            <a:solidFill>
              <a:srgbClr val="132D43"/>
            </a:solidFill>
            <a:prstDash val="solid"/>
          </a:ln>
        </p:spPr>
      </p:sp>
      <p:sp>
        <p:nvSpPr>
          <p:cNvPr id="6" name="Text 4"/>
          <p:cNvSpPr/>
          <p:nvPr/>
        </p:nvSpPr>
        <p:spPr>
          <a:xfrm>
            <a:off x="777240" y="2110740"/>
            <a:ext cx="10553700" cy="411480"/>
          </a:xfrm>
          <a:prstGeom prst="rect">
            <a:avLst/>
          </a:prstGeom>
          <a:noFill/>
          <a:ln/>
        </p:spPr>
        <p:txBody>
          <a:bodyPr wrap="square" lIns="0" tIns="0" rIns="0" bIns="0" rtlCol="0" anchor="t"/>
          <a:lstStyle/>
          <a:p>
            <a:pPr indent="0" marL="0">
              <a:lnSpc>
                <a:spcPct val="105000"/>
              </a:lnSpc>
              <a:buNone/>
            </a:pPr>
            <a:r>
              <a:rPr lang="ko-KR" altLang="en-US" sz="2040" dirty="0">
                <a:solidFill>
                  <a:srgbClr val="FFFFFF"/>
                </a:solidFill>
                <a:latin typeface="DejaVu Sans Mono" pitchFamily="34" charset="0"/>
                <a:ea typeface="DejaVu Sans Mono" pitchFamily="34" charset="-122"/>
                <a:cs typeface="DejaVu Sans Mono" pitchFamily="34" charset="-120"/>
              </a:rPr>
              <a:t>cubrid statdump -i 1 -c benchdb</a:t>
            </a:r>
            <a:endParaRPr lang="ko-KR" sz="2040" dirty="0"/>
          </a:p>
        </p:txBody>
      </p:sp>
      <p:sp>
        <p:nvSpPr>
          <p:cNvPr id="7" name="Shape 5"/>
          <p:cNvSpPr/>
          <p:nvPr/>
        </p:nvSpPr>
        <p:spPr>
          <a:xfrm>
            <a:off x="579120" y="3009900"/>
            <a:ext cx="4724400" cy="617220"/>
          </a:xfrm>
          <a:prstGeom prst="rect">
            <a:avLst/>
          </a:prstGeom>
          <a:solidFill>
            <a:srgbClr val="132D43"/>
          </a:solidFill>
          <a:ln w="12700">
            <a:solidFill>
              <a:srgbClr val="132D43"/>
            </a:solidFill>
            <a:prstDash val="solid"/>
          </a:ln>
        </p:spPr>
      </p:sp>
      <p:sp>
        <p:nvSpPr>
          <p:cNvPr id="8" name="Text 6"/>
          <p:cNvSpPr/>
          <p:nvPr/>
        </p:nvSpPr>
        <p:spPr>
          <a:xfrm>
            <a:off x="716280" y="3139440"/>
            <a:ext cx="4480560" cy="441960"/>
          </a:xfrm>
          <a:prstGeom prst="rect">
            <a:avLst/>
          </a:prstGeom>
          <a:noFill/>
          <a:ln/>
        </p:spPr>
        <p:txBody>
          <a:bodyPr wrap="square" lIns="0" tIns="0" rIns="0" bIns="0" rtlCol="0" anchor="t"/>
          <a:lstStyle/>
          <a:p>
            <a:pPr indent="0" marL="0">
              <a:lnSpc>
                <a:spcPct val="105000"/>
              </a:lnSpc>
              <a:buNone/>
            </a:pPr>
            <a:r>
              <a:rPr lang="ko-KR" altLang="en-US" sz="1560" b="1" dirty="0">
                <a:solidFill>
                  <a:srgbClr val="FFFFFF"/>
                </a:solidFill>
                <a:latin typeface="Noto Sans CJK KR" pitchFamily="34" charset="0"/>
                <a:ea typeface="Noto Sans CJK KR" pitchFamily="34" charset="-122"/>
                <a:cs typeface="Noto Sans CJK KR" pitchFamily="34" charset="-120"/>
              </a:rPr>
              <a:t>카운터</a:t>
            </a:r>
            <a:endParaRPr lang="ko-KR" sz="1560" dirty="0"/>
          </a:p>
        </p:txBody>
      </p:sp>
      <p:sp>
        <p:nvSpPr>
          <p:cNvPr id="9" name="Shape 7"/>
          <p:cNvSpPr/>
          <p:nvPr/>
        </p:nvSpPr>
        <p:spPr>
          <a:xfrm>
            <a:off x="5303520" y="3009900"/>
            <a:ext cx="6187440" cy="617220"/>
          </a:xfrm>
          <a:prstGeom prst="rect">
            <a:avLst/>
          </a:prstGeom>
          <a:solidFill>
            <a:srgbClr val="132D43"/>
          </a:solidFill>
          <a:ln w="12700">
            <a:solidFill>
              <a:srgbClr val="132D43"/>
            </a:solidFill>
            <a:prstDash val="solid"/>
          </a:ln>
        </p:spPr>
      </p:sp>
      <p:sp>
        <p:nvSpPr>
          <p:cNvPr id="10" name="Text 8"/>
          <p:cNvSpPr/>
          <p:nvPr/>
        </p:nvSpPr>
        <p:spPr>
          <a:xfrm>
            <a:off x="5440680" y="3139440"/>
            <a:ext cx="5943600" cy="441960"/>
          </a:xfrm>
          <a:prstGeom prst="rect">
            <a:avLst/>
          </a:prstGeom>
          <a:noFill/>
          <a:ln/>
        </p:spPr>
        <p:txBody>
          <a:bodyPr wrap="square" lIns="0" tIns="0" rIns="0" bIns="0" rtlCol="0" anchor="t"/>
          <a:lstStyle/>
          <a:p>
            <a:pPr indent="0" marL="0">
              <a:lnSpc>
                <a:spcPct val="105000"/>
              </a:lnSpc>
              <a:buNone/>
            </a:pPr>
            <a:r>
              <a:rPr lang="ko-KR" altLang="en-US" sz="1560" b="1" dirty="0">
                <a:solidFill>
                  <a:srgbClr val="FFFFFF"/>
                </a:solidFill>
                <a:latin typeface="Noto Sans CJK KR" pitchFamily="34" charset="0"/>
                <a:ea typeface="Noto Sans CJK KR" pitchFamily="34" charset="-122"/>
                <a:cs typeface="Noto Sans CJK KR" pitchFamily="34" charset="-120"/>
              </a:rPr>
              <a:t>사용 방법</a:t>
            </a:r>
            <a:endParaRPr lang="ko-KR" sz="1560" dirty="0"/>
          </a:p>
        </p:txBody>
      </p:sp>
      <p:sp>
        <p:nvSpPr>
          <p:cNvPr id="11" name="Shape 9"/>
          <p:cNvSpPr/>
          <p:nvPr/>
        </p:nvSpPr>
        <p:spPr>
          <a:xfrm>
            <a:off x="579120" y="3627120"/>
            <a:ext cx="4724400" cy="617220"/>
          </a:xfrm>
          <a:prstGeom prst="rect">
            <a:avLst/>
          </a:prstGeom>
          <a:solidFill>
            <a:srgbClr val="FFFFFF"/>
          </a:solidFill>
          <a:ln w="12700">
            <a:solidFill>
              <a:srgbClr val="FFFFFF"/>
            </a:solidFill>
            <a:prstDash val="solid"/>
          </a:ln>
        </p:spPr>
      </p:sp>
      <p:sp>
        <p:nvSpPr>
          <p:cNvPr id="12" name="Text 10"/>
          <p:cNvSpPr/>
          <p:nvPr/>
        </p:nvSpPr>
        <p:spPr>
          <a:xfrm>
            <a:off x="716280" y="3756660"/>
            <a:ext cx="4480560" cy="44196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Num_data_page_fetches</a:t>
            </a:r>
            <a:endParaRPr lang="ko-KR" sz="1560" dirty="0"/>
          </a:p>
        </p:txBody>
      </p:sp>
      <p:sp>
        <p:nvSpPr>
          <p:cNvPr id="13" name="Shape 11"/>
          <p:cNvSpPr/>
          <p:nvPr/>
        </p:nvSpPr>
        <p:spPr>
          <a:xfrm>
            <a:off x="5303520" y="3627120"/>
            <a:ext cx="6187440" cy="617220"/>
          </a:xfrm>
          <a:prstGeom prst="rect">
            <a:avLst/>
          </a:prstGeom>
          <a:solidFill>
            <a:srgbClr val="FFFFFF"/>
          </a:solidFill>
          <a:ln w="12700">
            <a:solidFill>
              <a:srgbClr val="FFFFFF"/>
            </a:solidFill>
            <a:prstDash val="solid"/>
          </a:ln>
        </p:spPr>
      </p:sp>
      <p:sp>
        <p:nvSpPr>
          <p:cNvPr id="14" name="Text 12"/>
          <p:cNvSpPr/>
          <p:nvPr/>
        </p:nvSpPr>
        <p:spPr>
          <a:xfrm>
            <a:off x="5440680" y="3756660"/>
            <a:ext cx="5943600" cy="44196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F: 논리 페이지 fetch 누계</a:t>
            </a:r>
            <a:endParaRPr lang="ko-KR" sz="1560" dirty="0"/>
          </a:p>
        </p:txBody>
      </p:sp>
      <p:sp>
        <p:nvSpPr>
          <p:cNvPr id="15" name="Shape 13"/>
          <p:cNvSpPr/>
          <p:nvPr/>
        </p:nvSpPr>
        <p:spPr>
          <a:xfrm>
            <a:off x="579120" y="4244340"/>
            <a:ext cx="4724400" cy="617220"/>
          </a:xfrm>
          <a:prstGeom prst="rect">
            <a:avLst/>
          </a:prstGeom>
          <a:solidFill>
            <a:srgbClr val="EAF0F4"/>
          </a:solidFill>
          <a:ln w="12700">
            <a:solidFill>
              <a:srgbClr val="EAF0F4"/>
            </a:solidFill>
            <a:prstDash val="solid"/>
          </a:ln>
        </p:spPr>
      </p:sp>
      <p:sp>
        <p:nvSpPr>
          <p:cNvPr id="16" name="Text 14"/>
          <p:cNvSpPr/>
          <p:nvPr/>
        </p:nvSpPr>
        <p:spPr>
          <a:xfrm>
            <a:off x="716280" y="4373880"/>
            <a:ext cx="4480560" cy="44196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Num_data_page_ioreads</a:t>
            </a:r>
            <a:endParaRPr lang="ko-KR" sz="1560" dirty="0"/>
          </a:p>
        </p:txBody>
      </p:sp>
      <p:sp>
        <p:nvSpPr>
          <p:cNvPr id="17" name="Shape 15"/>
          <p:cNvSpPr/>
          <p:nvPr/>
        </p:nvSpPr>
        <p:spPr>
          <a:xfrm>
            <a:off x="5303520" y="4244340"/>
            <a:ext cx="6187440" cy="617220"/>
          </a:xfrm>
          <a:prstGeom prst="rect">
            <a:avLst/>
          </a:prstGeom>
          <a:solidFill>
            <a:srgbClr val="EAF0F4"/>
          </a:solidFill>
          <a:ln w="12700">
            <a:solidFill>
              <a:srgbClr val="EAF0F4"/>
            </a:solidFill>
            <a:prstDash val="solid"/>
          </a:ln>
        </p:spPr>
      </p:sp>
      <p:sp>
        <p:nvSpPr>
          <p:cNvPr id="18" name="Text 16"/>
          <p:cNvSpPr/>
          <p:nvPr/>
        </p:nvSpPr>
        <p:spPr>
          <a:xfrm>
            <a:off x="5440680" y="4373880"/>
            <a:ext cx="5943600" cy="44196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R: 엔진 페이지 read 누계</a:t>
            </a:r>
            <a:endParaRPr lang="ko-KR" sz="1560" dirty="0"/>
          </a:p>
        </p:txBody>
      </p:sp>
      <p:sp>
        <p:nvSpPr>
          <p:cNvPr id="19" name="Shape 17"/>
          <p:cNvSpPr/>
          <p:nvPr/>
        </p:nvSpPr>
        <p:spPr>
          <a:xfrm>
            <a:off x="579120" y="4861560"/>
            <a:ext cx="4724400" cy="617220"/>
          </a:xfrm>
          <a:prstGeom prst="rect">
            <a:avLst/>
          </a:prstGeom>
          <a:solidFill>
            <a:srgbClr val="FFFFFF"/>
          </a:solidFill>
          <a:ln w="12700">
            <a:solidFill>
              <a:srgbClr val="FFFFFF"/>
            </a:solidFill>
            <a:prstDash val="solid"/>
          </a:ln>
        </p:spPr>
      </p:sp>
      <p:sp>
        <p:nvSpPr>
          <p:cNvPr id="20" name="Text 18"/>
          <p:cNvSpPr/>
          <p:nvPr/>
        </p:nvSpPr>
        <p:spPr>
          <a:xfrm>
            <a:off x="716280" y="4991100"/>
            <a:ext cx="4480560" cy="44196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Data_page_buffer_hit_ratio</a:t>
            </a:r>
            <a:endParaRPr lang="ko-KR" sz="1560" dirty="0"/>
          </a:p>
        </p:txBody>
      </p:sp>
      <p:sp>
        <p:nvSpPr>
          <p:cNvPr id="21" name="Shape 19"/>
          <p:cNvSpPr/>
          <p:nvPr/>
        </p:nvSpPr>
        <p:spPr>
          <a:xfrm>
            <a:off x="5303520" y="4861560"/>
            <a:ext cx="6187440" cy="617220"/>
          </a:xfrm>
          <a:prstGeom prst="rect">
            <a:avLst/>
          </a:prstGeom>
          <a:solidFill>
            <a:srgbClr val="FFFFFF"/>
          </a:solidFill>
          <a:ln w="12700">
            <a:solidFill>
              <a:srgbClr val="FFFFFF"/>
            </a:solidFill>
            <a:prstDash val="solid"/>
          </a:ln>
        </p:spPr>
      </p:sp>
      <p:sp>
        <p:nvSpPr>
          <p:cNvPr id="22" name="Text 20"/>
          <p:cNvSpPr/>
          <p:nvPr/>
        </p:nvSpPr>
        <p:spPr>
          <a:xfrm>
            <a:off x="5440680" y="4991100"/>
            <a:ext cx="5943600" cy="44196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참고 비율. 최종 구간 값은 ΔF·ΔR로 재계산</a:t>
            </a:r>
            <a:endParaRPr lang="ko-KR" sz="1560" dirty="0"/>
          </a:p>
        </p:txBody>
      </p:sp>
      <p:sp>
        <p:nvSpPr>
          <p:cNvPr id="23" name="Shape 21"/>
          <p:cNvSpPr/>
          <p:nvPr/>
        </p:nvSpPr>
        <p:spPr>
          <a:xfrm>
            <a:off x="579120" y="5478780"/>
            <a:ext cx="10911840" cy="7620"/>
          </a:xfrm>
          <a:prstGeom prst="rect">
            <a:avLst/>
          </a:prstGeom>
          <a:solidFill>
            <a:srgbClr val="D7E1E8"/>
          </a:solidFill>
          <a:ln w="12700">
            <a:solidFill>
              <a:srgbClr val="D7E1E8"/>
            </a:solidFill>
            <a:prstDash val="solid"/>
          </a:ln>
        </p:spPr>
      </p:sp>
      <p:sp>
        <p:nvSpPr>
          <p:cNvPr id="24" name="Text 22"/>
          <p:cNvSpPr/>
          <p:nvPr/>
        </p:nvSpPr>
        <p:spPr>
          <a:xfrm>
            <a:off x="609600" y="5669280"/>
            <a:ext cx="10744200" cy="419100"/>
          </a:xfrm>
          <a:prstGeom prst="rect">
            <a:avLst/>
          </a:prstGeom>
          <a:noFill/>
          <a:ln/>
        </p:spPr>
        <p:txBody>
          <a:bodyPr wrap="square" lIns="0" tIns="0" rIns="0" bIns="0" rtlCol="0" anchor="t"/>
          <a:lstStyle/>
          <a:p>
            <a:pPr indent="0" marL="0">
              <a:lnSpc>
                <a:spcPct val="105000"/>
              </a:lnSpc>
              <a:buNone/>
            </a:pPr>
            <a:r>
              <a:rPr lang="ko-KR" altLang="en-US" sz="1500" dirty="0">
                <a:solidFill>
                  <a:srgbClr val="52687B"/>
                </a:solidFill>
                <a:latin typeface="Noto Sans CJK KR" pitchFamily="34" charset="0"/>
                <a:ea typeface="Noto Sans CJK KR" pitchFamily="34" charset="-122"/>
                <a:cs typeface="Noto Sans CJK KR" pitchFamily="34" charset="-120"/>
              </a:rPr>
              <a:t>선택한 CUBRID revision에서 집계 경로·누락·동시성 의미를 확인한 뒤 miss proxy로 사용한다.</a:t>
            </a:r>
            <a:endParaRPr lang="ko-KR" sz="1500" dirty="0"/>
          </a:p>
        </p:txBody>
      </p:sp>
      <p:sp>
        <p:nvSpPr>
          <p:cNvPr id="25" name="Shape 23"/>
          <p:cNvSpPr/>
          <p:nvPr/>
        </p:nvSpPr>
        <p:spPr>
          <a:xfrm>
            <a:off x="579120" y="6316980"/>
            <a:ext cx="10911840" cy="7620"/>
          </a:xfrm>
          <a:prstGeom prst="rect">
            <a:avLst/>
          </a:prstGeom>
          <a:solidFill>
            <a:srgbClr val="D7E1E8"/>
          </a:solidFill>
          <a:ln w="12700">
            <a:solidFill>
              <a:srgbClr val="D7E1E8"/>
            </a:solidFill>
            <a:prstDash val="solid"/>
          </a:ln>
        </p:spPr>
      </p:sp>
      <p:sp>
        <p:nvSpPr>
          <p:cNvPr id="26" name="Text 24"/>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27" name="Text 25"/>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14 / 25</a:t>
            </a:r>
            <a:endParaRPr lang="ko-KR" sz="1080" dirty="0"/>
          </a:p>
        </p:txBody>
      </p:sp>
      <p:sp>
        <p:nvSpPr>
          <p:cNvPr id="28" name="Text 26">
            <a:hlinkClick r:id="rId1" tooltip=""/>
          </p:cNvPr>
          <p:cNvSpPr/>
          <p:nvPr/>
        </p:nvSpPr>
        <p:spPr>
          <a:xfrm>
            <a:off x="5791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[S7] 근거</a:t>
            </a:r>
            <a:endParaRPr lang="ko-KR" sz="960" dirty="0"/>
          </a:p>
        </p:txBody>
      </p:sp>
      <p:sp>
        <p:nvSpPr>
          <p:cNvPr id="29" name="Text 27">
            <a:hlinkClick r:id="rId2" tooltip=""/>
          </p:cNvPr>
          <p:cNvSpPr/>
          <p:nvPr/>
        </p:nvSpPr>
        <p:spPr>
          <a:xfrm>
            <a:off x="16078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2" invalidUrl="" action="" tgtFrame="" tooltip="" history="1" highlightClick="0" endSnd="0">
                  <a:extLst>
                    <a:ext uri="{A12FA001-AC4F-418D-AE19-62706E023703}">
                      <ahyp:hlinkClr xmlns:ahyp="http://schemas.microsoft.com/office/drawing/2018/hyperlinkcolor" val="tx"/>
                    </a:ext>
                  </a:extLst>
                </a:hlinkClick>
              </a:rPr>
              <a:t>[S11] 근거</a:t>
            </a:r>
            <a:endParaRPr lang="ko-KR" sz="96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14  /  MYSQL · INNODB TRACKING</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MySQL: InnoDB 수요 읽기와 read-ahead를 분리</a:t>
            </a:r>
            <a:endParaRPr lang="ko-KR" sz="3180" dirty="0"/>
          </a:p>
        </p:txBody>
      </p:sp>
      <p:sp>
        <p:nvSpPr>
          <p:cNvPr id="5" name="Shape 3"/>
          <p:cNvSpPr/>
          <p:nvPr/>
        </p:nvSpPr>
        <p:spPr>
          <a:xfrm>
            <a:off x="579120" y="1905000"/>
            <a:ext cx="6019800" cy="670560"/>
          </a:xfrm>
          <a:prstGeom prst="rect">
            <a:avLst/>
          </a:prstGeom>
          <a:solidFill>
            <a:srgbClr val="132D43"/>
          </a:solidFill>
          <a:ln w="12700">
            <a:solidFill>
              <a:srgbClr val="132D43"/>
            </a:solidFill>
            <a:prstDash val="solid"/>
          </a:ln>
        </p:spPr>
      </p:sp>
      <p:sp>
        <p:nvSpPr>
          <p:cNvPr id="6" name="Text 4"/>
          <p:cNvSpPr/>
          <p:nvPr/>
        </p:nvSpPr>
        <p:spPr>
          <a:xfrm>
            <a:off x="716280" y="2034540"/>
            <a:ext cx="5775960" cy="495300"/>
          </a:xfrm>
          <a:prstGeom prst="rect">
            <a:avLst/>
          </a:prstGeom>
          <a:noFill/>
          <a:ln/>
        </p:spPr>
        <p:txBody>
          <a:bodyPr wrap="square" lIns="0" tIns="0" rIns="0" bIns="0" rtlCol="0" anchor="t"/>
          <a:lstStyle/>
          <a:p>
            <a:pPr indent="0" marL="0">
              <a:lnSpc>
                <a:spcPct val="105000"/>
              </a:lnSpc>
              <a:buNone/>
            </a:pPr>
            <a:r>
              <a:rPr lang="ko-KR" altLang="en-US" sz="1500" b="1" dirty="0">
                <a:solidFill>
                  <a:srgbClr val="FFFFFF"/>
                </a:solidFill>
                <a:latin typeface="Noto Sans CJK KR" pitchFamily="34" charset="0"/>
                <a:ea typeface="Noto Sans CJK KR" pitchFamily="34" charset="-122"/>
                <a:cs typeface="Noto Sans CJK KR" pitchFamily="34" charset="-120"/>
              </a:rPr>
              <a:t>SHOW GLOBAL STATUS의 변수</a:t>
            </a:r>
            <a:endParaRPr lang="ko-KR" sz="1500" dirty="0"/>
          </a:p>
        </p:txBody>
      </p:sp>
      <p:sp>
        <p:nvSpPr>
          <p:cNvPr id="7" name="Shape 5"/>
          <p:cNvSpPr/>
          <p:nvPr/>
        </p:nvSpPr>
        <p:spPr>
          <a:xfrm>
            <a:off x="6598920" y="1905000"/>
            <a:ext cx="4892040" cy="670560"/>
          </a:xfrm>
          <a:prstGeom prst="rect">
            <a:avLst/>
          </a:prstGeom>
          <a:solidFill>
            <a:srgbClr val="132D43"/>
          </a:solidFill>
          <a:ln w="12700">
            <a:solidFill>
              <a:srgbClr val="132D43"/>
            </a:solidFill>
            <a:prstDash val="solid"/>
          </a:ln>
        </p:spPr>
      </p:sp>
      <p:sp>
        <p:nvSpPr>
          <p:cNvPr id="8" name="Text 6"/>
          <p:cNvSpPr/>
          <p:nvPr/>
        </p:nvSpPr>
        <p:spPr>
          <a:xfrm>
            <a:off x="6736080" y="2034540"/>
            <a:ext cx="4648200" cy="495300"/>
          </a:xfrm>
          <a:prstGeom prst="rect">
            <a:avLst/>
          </a:prstGeom>
          <a:noFill/>
          <a:ln/>
        </p:spPr>
        <p:txBody>
          <a:bodyPr wrap="square" lIns="0" tIns="0" rIns="0" bIns="0" rtlCol="0" anchor="t"/>
          <a:lstStyle/>
          <a:p>
            <a:pPr indent="0" marL="0">
              <a:lnSpc>
                <a:spcPct val="105000"/>
              </a:lnSpc>
              <a:buNone/>
            </a:pPr>
            <a:r>
              <a:rPr lang="ko-KR" altLang="en-US" sz="1500" b="1" dirty="0">
                <a:solidFill>
                  <a:srgbClr val="FFFFFF"/>
                </a:solidFill>
                <a:latin typeface="Noto Sans CJK KR" pitchFamily="34" charset="0"/>
                <a:ea typeface="Noto Sans CJK KR" pitchFamily="34" charset="-122"/>
                <a:cs typeface="Noto Sans CJK KR" pitchFamily="34" charset="-120"/>
              </a:rPr>
              <a:t>의미</a:t>
            </a:r>
            <a:endParaRPr lang="ko-KR" sz="1500" dirty="0"/>
          </a:p>
        </p:txBody>
      </p:sp>
      <p:sp>
        <p:nvSpPr>
          <p:cNvPr id="9" name="Shape 7"/>
          <p:cNvSpPr/>
          <p:nvPr/>
        </p:nvSpPr>
        <p:spPr>
          <a:xfrm>
            <a:off x="579120" y="2575560"/>
            <a:ext cx="6019800" cy="670560"/>
          </a:xfrm>
          <a:prstGeom prst="rect">
            <a:avLst/>
          </a:prstGeom>
          <a:solidFill>
            <a:srgbClr val="FFFFFF"/>
          </a:solidFill>
          <a:ln w="12700">
            <a:solidFill>
              <a:srgbClr val="FFFFFF"/>
            </a:solidFill>
            <a:prstDash val="solid"/>
          </a:ln>
        </p:spPr>
      </p:sp>
      <p:sp>
        <p:nvSpPr>
          <p:cNvPr id="10" name="Text 8"/>
          <p:cNvSpPr/>
          <p:nvPr/>
        </p:nvSpPr>
        <p:spPr>
          <a:xfrm>
            <a:off x="716280" y="2705100"/>
            <a:ext cx="5775960" cy="4953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Innodb_buffer_pool_read_requests</a:t>
            </a:r>
            <a:endParaRPr lang="ko-KR" sz="1500" dirty="0"/>
          </a:p>
        </p:txBody>
      </p:sp>
      <p:sp>
        <p:nvSpPr>
          <p:cNvPr id="11" name="Shape 9"/>
          <p:cNvSpPr/>
          <p:nvPr/>
        </p:nvSpPr>
        <p:spPr>
          <a:xfrm>
            <a:off x="6598920" y="2575560"/>
            <a:ext cx="4892040" cy="670560"/>
          </a:xfrm>
          <a:prstGeom prst="rect">
            <a:avLst/>
          </a:prstGeom>
          <a:solidFill>
            <a:srgbClr val="FFFFFF"/>
          </a:solidFill>
          <a:ln w="12700">
            <a:solidFill>
              <a:srgbClr val="FFFFFF"/>
            </a:solidFill>
            <a:prstDash val="solid"/>
          </a:ln>
        </p:spPr>
      </p:sp>
      <p:sp>
        <p:nvSpPr>
          <p:cNvPr id="12" name="Text 10"/>
          <p:cNvSpPr/>
          <p:nvPr/>
        </p:nvSpPr>
        <p:spPr>
          <a:xfrm>
            <a:off x="6736080" y="2705100"/>
            <a:ext cx="4648200" cy="4953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F: 논리 읽기 요청</a:t>
            </a:r>
            <a:endParaRPr lang="ko-KR" sz="1500" dirty="0"/>
          </a:p>
        </p:txBody>
      </p:sp>
      <p:sp>
        <p:nvSpPr>
          <p:cNvPr id="13" name="Shape 11"/>
          <p:cNvSpPr/>
          <p:nvPr/>
        </p:nvSpPr>
        <p:spPr>
          <a:xfrm>
            <a:off x="579120" y="3246120"/>
            <a:ext cx="6019800" cy="670560"/>
          </a:xfrm>
          <a:prstGeom prst="rect">
            <a:avLst/>
          </a:prstGeom>
          <a:solidFill>
            <a:srgbClr val="EAF0F4"/>
          </a:solidFill>
          <a:ln w="12700">
            <a:solidFill>
              <a:srgbClr val="EAF0F4"/>
            </a:solidFill>
            <a:prstDash val="solid"/>
          </a:ln>
        </p:spPr>
      </p:sp>
      <p:sp>
        <p:nvSpPr>
          <p:cNvPr id="14" name="Text 12"/>
          <p:cNvSpPr/>
          <p:nvPr/>
        </p:nvSpPr>
        <p:spPr>
          <a:xfrm>
            <a:off x="716280" y="3375660"/>
            <a:ext cx="5775960" cy="4953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Innodb_buffer_pool_reads</a:t>
            </a:r>
            <a:endParaRPr lang="ko-KR" sz="1500" dirty="0"/>
          </a:p>
        </p:txBody>
      </p:sp>
      <p:sp>
        <p:nvSpPr>
          <p:cNvPr id="15" name="Shape 13"/>
          <p:cNvSpPr/>
          <p:nvPr/>
        </p:nvSpPr>
        <p:spPr>
          <a:xfrm>
            <a:off x="6598920" y="3246120"/>
            <a:ext cx="4892040" cy="670560"/>
          </a:xfrm>
          <a:prstGeom prst="rect">
            <a:avLst/>
          </a:prstGeom>
          <a:solidFill>
            <a:srgbClr val="EAF0F4"/>
          </a:solidFill>
          <a:ln w="12700">
            <a:solidFill>
              <a:srgbClr val="EAF0F4"/>
            </a:solidFill>
            <a:prstDash val="solid"/>
          </a:ln>
        </p:spPr>
      </p:sp>
      <p:sp>
        <p:nvSpPr>
          <p:cNvPr id="16" name="Text 14"/>
          <p:cNvSpPr/>
          <p:nvPr/>
        </p:nvSpPr>
        <p:spPr>
          <a:xfrm>
            <a:off x="6736080" y="3375660"/>
            <a:ext cx="4648200" cy="4953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R: buffer pool에서 충족하지 못한 읽기</a:t>
            </a:r>
            <a:endParaRPr lang="ko-KR" sz="1500" dirty="0"/>
          </a:p>
        </p:txBody>
      </p:sp>
      <p:sp>
        <p:nvSpPr>
          <p:cNvPr id="17" name="Shape 15"/>
          <p:cNvSpPr/>
          <p:nvPr/>
        </p:nvSpPr>
        <p:spPr>
          <a:xfrm>
            <a:off x="579120" y="3916680"/>
            <a:ext cx="6019800" cy="670560"/>
          </a:xfrm>
          <a:prstGeom prst="rect">
            <a:avLst/>
          </a:prstGeom>
          <a:solidFill>
            <a:srgbClr val="FFFFFF"/>
          </a:solidFill>
          <a:ln w="12700">
            <a:solidFill>
              <a:srgbClr val="FFFFFF"/>
            </a:solidFill>
            <a:prstDash val="solid"/>
          </a:ln>
        </p:spPr>
      </p:sp>
      <p:sp>
        <p:nvSpPr>
          <p:cNvPr id="18" name="Text 16"/>
          <p:cNvSpPr/>
          <p:nvPr/>
        </p:nvSpPr>
        <p:spPr>
          <a:xfrm>
            <a:off x="716280" y="4046220"/>
            <a:ext cx="5775960" cy="4953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Innodb_buffer_pool_read_ahead</a:t>
            </a:r>
            <a:endParaRPr lang="ko-KR" sz="1500" dirty="0"/>
          </a:p>
        </p:txBody>
      </p:sp>
      <p:sp>
        <p:nvSpPr>
          <p:cNvPr id="19" name="Shape 17"/>
          <p:cNvSpPr/>
          <p:nvPr/>
        </p:nvSpPr>
        <p:spPr>
          <a:xfrm>
            <a:off x="6598920" y="3916680"/>
            <a:ext cx="4892040" cy="670560"/>
          </a:xfrm>
          <a:prstGeom prst="rect">
            <a:avLst/>
          </a:prstGeom>
          <a:solidFill>
            <a:srgbClr val="FFFFFF"/>
          </a:solidFill>
          <a:ln w="12700">
            <a:solidFill>
              <a:srgbClr val="FFFFFF"/>
            </a:solidFill>
            <a:prstDash val="solid"/>
          </a:ln>
        </p:spPr>
      </p:sp>
      <p:sp>
        <p:nvSpPr>
          <p:cNvPr id="20" name="Text 18"/>
          <p:cNvSpPr/>
          <p:nvPr/>
        </p:nvSpPr>
        <p:spPr>
          <a:xfrm>
            <a:off x="6736080" y="4046220"/>
            <a:ext cx="4648200" cy="4953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read-ahead가 buffer로 읽어 온 페이지</a:t>
            </a:r>
            <a:endParaRPr lang="ko-KR" sz="1500" dirty="0"/>
          </a:p>
        </p:txBody>
      </p:sp>
      <p:sp>
        <p:nvSpPr>
          <p:cNvPr id="21" name="Shape 19"/>
          <p:cNvSpPr/>
          <p:nvPr/>
        </p:nvSpPr>
        <p:spPr>
          <a:xfrm>
            <a:off x="579120" y="4587240"/>
            <a:ext cx="6019800" cy="670560"/>
          </a:xfrm>
          <a:prstGeom prst="rect">
            <a:avLst/>
          </a:prstGeom>
          <a:solidFill>
            <a:srgbClr val="EAF0F4"/>
          </a:solidFill>
          <a:ln w="12700">
            <a:solidFill>
              <a:srgbClr val="EAF0F4"/>
            </a:solidFill>
            <a:prstDash val="solid"/>
          </a:ln>
        </p:spPr>
      </p:sp>
      <p:sp>
        <p:nvSpPr>
          <p:cNvPr id="22" name="Text 20"/>
          <p:cNvSpPr/>
          <p:nvPr/>
        </p:nvSpPr>
        <p:spPr>
          <a:xfrm>
            <a:off x="716280" y="4716780"/>
            <a:ext cx="5775960" cy="4953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Innodb_buffer_pool_read_ahead_evicted</a:t>
            </a:r>
            <a:endParaRPr lang="ko-KR" sz="1500" dirty="0"/>
          </a:p>
        </p:txBody>
      </p:sp>
      <p:sp>
        <p:nvSpPr>
          <p:cNvPr id="23" name="Shape 21"/>
          <p:cNvSpPr/>
          <p:nvPr/>
        </p:nvSpPr>
        <p:spPr>
          <a:xfrm>
            <a:off x="6598920" y="4587240"/>
            <a:ext cx="4892040" cy="670560"/>
          </a:xfrm>
          <a:prstGeom prst="rect">
            <a:avLst/>
          </a:prstGeom>
          <a:solidFill>
            <a:srgbClr val="EAF0F4"/>
          </a:solidFill>
          <a:ln w="12700">
            <a:solidFill>
              <a:srgbClr val="EAF0F4"/>
            </a:solidFill>
            <a:prstDash val="solid"/>
          </a:ln>
        </p:spPr>
      </p:sp>
      <p:sp>
        <p:nvSpPr>
          <p:cNvPr id="24" name="Text 22"/>
          <p:cNvSpPr/>
          <p:nvPr/>
        </p:nvSpPr>
        <p:spPr>
          <a:xfrm>
            <a:off x="6736080" y="4716780"/>
            <a:ext cx="4648200" cy="49530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접근되지 않고 퇴출된 read-ahead 페이지</a:t>
            </a:r>
            <a:endParaRPr lang="ko-KR" sz="1500" dirty="0"/>
          </a:p>
        </p:txBody>
      </p:sp>
      <p:sp>
        <p:nvSpPr>
          <p:cNvPr id="25" name="Shape 23"/>
          <p:cNvSpPr/>
          <p:nvPr/>
        </p:nvSpPr>
        <p:spPr>
          <a:xfrm>
            <a:off x="579120" y="5257800"/>
            <a:ext cx="10911840" cy="7620"/>
          </a:xfrm>
          <a:prstGeom prst="rect">
            <a:avLst/>
          </a:prstGeom>
          <a:solidFill>
            <a:srgbClr val="D7E1E8"/>
          </a:solidFill>
          <a:ln w="12700">
            <a:solidFill>
              <a:srgbClr val="D7E1E8"/>
            </a:solidFill>
            <a:prstDash val="solid"/>
          </a:ln>
        </p:spPr>
      </p:sp>
      <p:sp>
        <p:nvSpPr>
          <p:cNvPr id="26" name="Shape 24"/>
          <p:cNvSpPr/>
          <p:nvPr/>
        </p:nvSpPr>
        <p:spPr>
          <a:xfrm>
            <a:off x="579120" y="5562600"/>
            <a:ext cx="10911840" cy="533400"/>
          </a:xfrm>
          <a:prstGeom prst="rect">
            <a:avLst/>
          </a:prstGeom>
          <a:solidFill>
            <a:srgbClr val="DDEFEA"/>
          </a:solidFill>
          <a:ln w="12700">
            <a:solidFill>
              <a:srgbClr val="DDEFEA"/>
            </a:solidFill>
            <a:prstDash val="solid"/>
          </a:ln>
        </p:spPr>
      </p:sp>
      <p:sp>
        <p:nvSpPr>
          <p:cNvPr id="27" name="Text 25"/>
          <p:cNvSpPr/>
          <p:nvPr/>
        </p:nvSpPr>
        <p:spPr>
          <a:xfrm>
            <a:off x="762000" y="5692140"/>
            <a:ext cx="10546080" cy="320040"/>
          </a:xfrm>
          <a:prstGeom prst="rect">
            <a:avLst/>
          </a:prstGeom>
          <a:noFill/>
          <a:ln/>
        </p:spPr>
        <p:txBody>
          <a:bodyPr wrap="square" lIns="0" tIns="0" rIns="0" bIns="0" rtlCol="0" anchor="t"/>
          <a:lstStyle/>
          <a:p>
            <a:pPr indent="0" marL="0">
              <a:lnSpc>
                <a:spcPct val="105000"/>
              </a:lnSpc>
              <a:buNone/>
            </a:pPr>
            <a:r>
              <a:rPr lang="ko-KR" altLang="en-US" sz="1620" b="1" dirty="0">
                <a:solidFill>
                  <a:srgbClr val="147D6D"/>
                </a:solidFill>
                <a:latin typeface="Noto Sans CJK KR" pitchFamily="34" charset="0"/>
                <a:ea typeface="Noto Sans CJK KR" pitchFamily="34" charset="-122"/>
                <a:cs typeface="Noto Sans CJK KR" pitchFamily="34" charset="-120"/>
              </a:rPr>
              <a:t>기본 hit proxy = 1 − ΔR/ΔF. scan에서는 read-ahead·read bytes도 별도로 함께 해석한다.</a:t>
            </a:r>
            <a:endParaRPr lang="ko-KR" sz="1620" dirty="0"/>
          </a:p>
        </p:txBody>
      </p:sp>
      <p:sp>
        <p:nvSpPr>
          <p:cNvPr id="28" name="Shape 26"/>
          <p:cNvSpPr/>
          <p:nvPr/>
        </p:nvSpPr>
        <p:spPr>
          <a:xfrm>
            <a:off x="579120" y="6316980"/>
            <a:ext cx="10911840" cy="7620"/>
          </a:xfrm>
          <a:prstGeom prst="rect">
            <a:avLst/>
          </a:prstGeom>
          <a:solidFill>
            <a:srgbClr val="D7E1E8"/>
          </a:solidFill>
          <a:ln w="12700">
            <a:solidFill>
              <a:srgbClr val="D7E1E8"/>
            </a:solidFill>
            <a:prstDash val="solid"/>
          </a:ln>
        </p:spPr>
      </p:sp>
      <p:sp>
        <p:nvSpPr>
          <p:cNvPr id="29" name="Text 27"/>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30" name="Text 28"/>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15 / 25</a:t>
            </a:r>
            <a:endParaRPr lang="ko-KR" sz="1080" dirty="0"/>
          </a:p>
        </p:txBody>
      </p:sp>
      <p:sp>
        <p:nvSpPr>
          <p:cNvPr id="31" name="Text 29">
            <a:hlinkClick r:id="rId1" tooltip=""/>
          </p:cNvPr>
          <p:cNvSpPr/>
          <p:nvPr/>
        </p:nvSpPr>
        <p:spPr>
          <a:xfrm>
            <a:off x="5791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[S8] 근거</a:t>
            </a:r>
            <a:endParaRPr lang="ko-KR" sz="96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15  /  POSTGRESQL TRACKING</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PostgreSQL: shared buffer hit와 OS cache를 구분</a:t>
            </a:r>
            <a:endParaRPr lang="ko-KR" sz="3180" dirty="0"/>
          </a:p>
        </p:txBody>
      </p:sp>
      <p:sp>
        <p:nvSpPr>
          <p:cNvPr id="5" name="Shape 3"/>
          <p:cNvSpPr/>
          <p:nvPr/>
        </p:nvSpPr>
        <p:spPr>
          <a:xfrm>
            <a:off x="579120" y="1905000"/>
            <a:ext cx="10911840" cy="1082040"/>
          </a:xfrm>
          <a:prstGeom prst="rect">
            <a:avLst/>
          </a:prstGeom>
          <a:solidFill>
            <a:srgbClr val="132D43"/>
          </a:solidFill>
          <a:ln w="12700">
            <a:solidFill>
              <a:srgbClr val="132D43"/>
            </a:solidFill>
            <a:prstDash val="solid"/>
          </a:ln>
        </p:spPr>
      </p:sp>
      <p:sp>
        <p:nvSpPr>
          <p:cNvPr id="6" name="Text 4"/>
          <p:cNvSpPr/>
          <p:nvPr/>
        </p:nvSpPr>
        <p:spPr>
          <a:xfrm>
            <a:off x="777240" y="2065020"/>
            <a:ext cx="10515600" cy="822960"/>
          </a:xfrm>
          <a:prstGeom prst="rect">
            <a:avLst/>
          </a:prstGeom>
          <a:noFill/>
          <a:ln/>
        </p:spPr>
        <p:txBody>
          <a:bodyPr wrap="square" lIns="0" tIns="0" rIns="0" bIns="0" rtlCol="0" anchor="t"/>
          <a:lstStyle/>
          <a:p>
            <a:pPr indent="0" marL="0">
              <a:lnSpc>
                <a:spcPct val="105000"/>
              </a:lnSpc>
              <a:buNone/>
            </a:pPr>
            <a:r>
              <a:rPr lang="ko-KR" altLang="en-US" sz="1800" dirty="0">
                <a:solidFill>
                  <a:srgbClr val="FFFFFF"/>
                </a:solidFill>
                <a:latin typeface="DejaVu Sans Mono" pitchFamily="34" charset="0"/>
                <a:ea typeface="DejaVu Sans Mono" pitchFamily="34" charset="-122"/>
                <a:cs typeface="DejaVu Sans Mono" pitchFamily="34" charset="-120"/>
              </a:rPr>
              <a:t>SELECT blks_hit, blks_read, stats_reset</a:t>
            </a:r>
            <a:endParaRPr lang="ko-KR" sz="1800" dirty="0"/>
          </a:p>
          <a:p>
            <a:pPr indent="0" marL="0">
              <a:lnSpc>
                <a:spcPct val="105000"/>
              </a:lnSpc>
              <a:buNone/>
            </a:pPr>
            <a:r>
              <a:rPr lang="ko-KR" altLang="en-US" sz="1800" dirty="0">
                <a:solidFill>
                  <a:srgbClr val="FFFFFF"/>
                </a:solidFill>
                <a:latin typeface="DejaVu Sans Mono" pitchFamily="34" charset="0"/>
                <a:ea typeface="DejaVu Sans Mono" pitchFamily="34" charset="-122"/>
                <a:cs typeface="DejaVu Sans Mono" pitchFamily="34" charset="-120"/>
              </a:rPr>
              <a:t>FROM pg_stat_database WHERE datname = 'benchdb';</a:t>
            </a:r>
            <a:endParaRPr lang="ko-KR" sz="1800" dirty="0"/>
          </a:p>
        </p:txBody>
      </p:sp>
      <p:sp>
        <p:nvSpPr>
          <p:cNvPr id="7" name="Text 5"/>
          <p:cNvSpPr/>
          <p:nvPr/>
        </p:nvSpPr>
        <p:spPr>
          <a:xfrm>
            <a:off x="609600" y="3352800"/>
            <a:ext cx="52578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기본 지표</a:t>
            </a:r>
            <a:endParaRPr lang="ko-KR" sz="1920" dirty="0"/>
          </a:p>
        </p:txBody>
      </p:sp>
      <p:sp>
        <p:nvSpPr>
          <p:cNvPr id="8" name="Text 6"/>
          <p:cNvSpPr/>
          <p:nvPr/>
        </p:nvSpPr>
        <p:spPr>
          <a:xfrm>
            <a:off x="609600" y="3794760"/>
            <a:ext cx="52578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H = Δblks_hit / R = Δblks_read</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hit = H / (H + R)</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DB별 누계에서 측정 구간 차이 사용</a:t>
            </a:r>
            <a:endParaRPr lang="ko-KR" sz="1740" dirty="0"/>
          </a:p>
        </p:txBody>
      </p:sp>
      <p:sp>
        <p:nvSpPr>
          <p:cNvPr id="9" name="Text 7"/>
          <p:cNvSpPr/>
          <p:nvPr/>
        </p:nvSpPr>
        <p:spPr>
          <a:xfrm>
            <a:off x="6362700" y="3352800"/>
            <a:ext cx="51054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추가 해석</a:t>
            </a:r>
            <a:endParaRPr lang="ko-KR" sz="1920" dirty="0"/>
          </a:p>
        </p:txBody>
      </p:sp>
      <p:sp>
        <p:nvSpPr>
          <p:cNvPr id="10" name="Text 8"/>
          <p:cNvSpPr/>
          <p:nvPr/>
        </p:nvSpPr>
        <p:spPr>
          <a:xfrm>
            <a:off x="6362700" y="3794760"/>
            <a:ext cx="51054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blks_hit는 PostgreSQL buffer hit</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OS filesystem cache hit는 포함하지 않음</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세부 I/O는 pg_stat_io 등으로 보완</a:t>
            </a:r>
            <a:endParaRPr lang="ko-KR" sz="1740" dirty="0"/>
          </a:p>
        </p:txBody>
      </p:sp>
      <p:sp>
        <p:nvSpPr>
          <p:cNvPr id="11" name="Shape 9"/>
          <p:cNvSpPr/>
          <p:nvPr/>
        </p:nvSpPr>
        <p:spPr>
          <a:xfrm>
            <a:off x="579120" y="5562600"/>
            <a:ext cx="10911840" cy="533400"/>
          </a:xfrm>
          <a:prstGeom prst="rect">
            <a:avLst/>
          </a:prstGeom>
          <a:solidFill>
            <a:srgbClr val="DDEFEA"/>
          </a:solidFill>
          <a:ln w="12700">
            <a:solidFill>
              <a:srgbClr val="DDEFEA"/>
            </a:solidFill>
            <a:prstDash val="solid"/>
          </a:ln>
        </p:spPr>
      </p:sp>
      <p:sp>
        <p:nvSpPr>
          <p:cNvPr id="12" name="Text 10"/>
          <p:cNvSpPr/>
          <p:nvPr/>
        </p:nvSpPr>
        <p:spPr>
          <a:xfrm>
            <a:off x="762000" y="5692140"/>
            <a:ext cx="10546080" cy="320040"/>
          </a:xfrm>
          <a:prstGeom prst="rect">
            <a:avLst/>
          </a:prstGeom>
          <a:noFill/>
          <a:ln/>
        </p:spPr>
        <p:txBody>
          <a:bodyPr wrap="square" lIns="0" tIns="0" rIns="0" bIns="0" rtlCol="0" anchor="t"/>
          <a:lstStyle/>
          <a:p>
            <a:pPr indent="0" marL="0">
              <a:lnSpc>
                <a:spcPct val="105000"/>
              </a:lnSpc>
              <a:buNone/>
            </a:pPr>
            <a:r>
              <a:rPr lang="ko-KR" altLang="en-US" sz="1620" b="1" dirty="0">
                <a:solidFill>
                  <a:srgbClr val="147D6D"/>
                </a:solidFill>
                <a:latin typeface="Noto Sans CJK KR" pitchFamily="34" charset="0"/>
                <a:ea typeface="Noto Sans CJK KR" pitchFamily="34" charset="-122"/>
                <a:cs typeface="Noto Sans CJK KR" pitchFamily="34" charset="-120"/>
              </a:rPr>
              <a:t>수집은 짧은 별도 트랜잭션으로 수행한다. 긴 트랜잭션의 통계 snapshot 고정을 피한다.</a:t>
            </a:r>
            <a:endParaRPr lang="ko-KR" sz="1620" dirty="0"/>
          </a:p>
        </p:txBody>
      </p:sp>
      <p:sp>
        <p:nvSpPr>
          <p:cNvPr id="13" name="Shape 11"/>
          <p:cNvSpPr/>
          <p:nvPr/>
        </p:nvSpPr>
        <p:spPr>
          <a:xfrm>
            <a:off x="579120" y="6316980"/>
            <a:ext cx="10911840" cy="7620"/>
          </a:xfrm>
          <a:prstGeom prst="rect">
            <a:avLst/>
          </a:prstGeom>
          <a:solidFill>
            <a:srgbClr val="D7E1E8"/>
          </a:solidFill>
          <a:ln w="12700">
            <a:solidFill>
              <a:srgbClr val="D7E1E8"/>
            </a:solidFill>
            <a:prstDash val="solid"/>
          </a:ln>
        </p:spPr>
      </p:sp>
      <p:sp>
        <p:nvSpPr>
          <p:cNvPr id="14" name="Text 12"/>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15" name="Text 13"/>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16 / 25</a:t>
            </a:r>
            <a:endParaRPr lang="ko-KR" sz="1080" dirty="0"/>
          </a:p>
        </p:txBody>
      </p:sp>
      <p:sp>
        <p:nvSpPr>
          <p:cNvPr id="16" name="Text 14">
            <a:hlinkClick r:id="rId1" tooltip=""/>
          </p:cNvPr>
          <p:cNvSpPr/>
          <p:nvPr/>
        </p:nvSpPr>
        <p:spPr>
          <a:xfrm>
            <a:off x="5791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[S9] 근거</a:t>
            </a:r>
            <a:endParaRPr lang="ko-KR" sz="96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16  /  COLLECTION PIPELINE</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수집 파이프라인: 같은 시간축에 성능·원인·상태를 묶는다</a:t>
            </a:r>
            <a:endParaRPr lang="ko-KR" sz="3180" dirty="0"/>
          </a:p>
        </p:txBody>
      </p:sp>
      <p:sp>
        <p:nvSpPr>
          <p:cNvPr id="5" name="Shape 3"/>
          <p:cNvSpPr/>
          <p:nvPr/>
        </p:nvSpPr>
        <p:spPr>
          <a:xfrm>
            <a:off x="579120" y="2171700"/>
            <a:ext cx="2499360" cy="1638300"/>
          </a:xfrm>
          <a:prstGeom prst="rect">
            <a:avLst/>
          </a:prstGeom>
          <a:solidFill>
            <a:srgbClr val="FFFFFF"/>
          </a:solidFill>
          <a:ln w="7620">
            <a:solidFill>
              <a:srgbClr val="D7E1E8"/>
            </a:solidFill>
            <a:prstDash val="solid"/>
          </a:ln>
        </p:spPr>
      </p:sp>
      <p:sp>
        <p:nvSpPr>
          <p:cNvPr id="6" name="Text 4"/>
          <p:cNvSpPr/>
          <p:nvPr/>
        </p:nvSpPr>
        <p:spPr>
          <a:xfrm>
            <a:off x="746760" y="2369820"/>
            <a:ext cx="2133600" cy="396240"/>
          </a:xfrm>
          <a:prstGeom prst="rect">
            <a:avLst/>
          </a:prstGeom>
          <a:noFill/>
          <a:ln/>
        </p:spPr>
        <p:txBody>
          <a:bodyPr wrap="square" lIns="0" tIns="0" rIns="0" bIns="0" rtlCol="0" anchor="t"/>
          <a:lstStyle/>
          <a:p>
            <a:pPr indent="0" marL="0">
              <a:lnSpc>
                <a:spcPct val="105000"/>
              </a:lnSpc>
              <a:buNone/>
            </a:pPr>
            <a:r>
              <a:rPr lang="ko-KR" altLang="en-US" sz="2100" b="1" dirty="0">
                <a:solidFill>
                  <a:srgbClr val="147D6D"/>
                </a:solidFill>
                <a:latin typeface="Noto Sans CJK KR" pitchFamily="34" charset="0"/>
                <a:ea typeface="Noto Sans CJK KR" pitchFamily="34" charset="-122"/>
                <a:cs typeface="Noto Sans CJK KR" pitchFamily="34" charset="-120"/>
              </a:rPr>
              <a:t>실행기</a:t>
            </a:r>
            <a:endParaRPr lang="ko-KR" sz="2100" dirty="0"/>
          </a:p>
        </p:txBody>
      </p:sp>
      <p:sp>
        <p:nvSpPr>
          <p:cNvPr id="7" name="Text 5"/>
          <p:cNvSpPr/>
          <p:nvPr/>
        </p:nvSpPr>
        <p:spPr>
          <a:xfrm>
            <a:off x="746760" y="2948940"/>
            <a:ext cx="2133600" cy="754380"/>
          </a:xfrm>
          <a:prstGeom prst="rect">
            <a:avLst/>
          </a:prstGeom>
          <a:noFill/>
          <a:ln/>
        </p:spPr>
        <p:txBody>
          <a:bodyPr wrap="square" lIns="0" tIns="0" rIns="0" bIns="0" rtlCol="0" anchor="t"/>
          <a:lstStyle/>
          <a:p>
            <a:pPr indent="0" marL="0">
              <a:lnSpc>
                <a:spcPct val="105000"/>
              </a:lnSpc>
              <a:buNone/>
            </a:pPr>
            <a:r>
              <a:rPr lang="ko-KR" altLang="en-US" sz="1620" dirty="0">
                <a:solidFill>
                  <a:srgbClr val="52687B"/>
                </a:solidFill>
                <a:latin typeface="Noto Sans CJK KR" pitchFamily="34" charset="0"/>
                <a:ea typeface="Noto Sans CJK KR" pitchFamily="34" charset="-122"/>
                <a:cs typeface="Noto Sans CJK KR" pitchFamily="34" charset="-120"/>
              </a:rPr>
              <a:t>성공 ops/s·p95/p99</a:t>
            </a:r>
            <a:endParaRPr lang="ko-KR" sz="1620" dirty="0"/>
          </a:p>
          <a:p>
            <a:pPr indent="0" marL="0">
              <a:lnSpc>
                <a:spcPct val="105000"/>
              </a:lnSpc>
              <a:buNone/>
            </a:pPr>
            <a:r>
              <a:rPr lang="ko-KR" altLang="en-US" sz="1620" dirty="0">
                <a:solidFill>
                  <a:srgbClr val="52687B"/>
                </a:solidFill>
                <a:latin typeface="Noto Sans CJK KR" pitchFamily="34" charset="0"/>
                <a:ea typeface="Noto Sans CJK KR" pitchFamily="34" charset="-122"/>
                <a:cs typeface="Noto Sans CJK KR" pitchFamily="34" charset="-120"/>
              </a:rPr>
              <a:t>오류·timeout·완료 결과</a:t>
            </a:r>
            <a:endParaRPr lang="ko-KR" sz="1620" dirty="0"/>
          </a:p>
        </p:txBody>
      </p:sp>
      <p:sp>
        <p:nvSpPr>
          <p:cNvPr id="8" name="Text 6"/>
          <p:cNvSpPr/>
          <p:nvPr/>
        </p:nvSpPr>
        <p:spPr>
          <a:xfrm>
            <a:off x="3116580" y="2750820"/>
            <a:ext cx="289560" cy="441960"/>
          </a:xfrm>
          <a:prstGeom prst="rect">
            <a:avLst/>
          </a:prstGeom>
          <a:noFill/>
          <a:ln/>
        </p:spPr>
        <p:txBody>
          <a:bodyPr wrap="square" lIns="0" tIns="0" rIns="0" bIns="0" rtlCol="0" anchor="t"/>
          <a:lstStyle/>
          <a:p>
            <a:pPr indent="0" marL="0">
              <a:lnSpc>
                <a:spcPct val="105000"/>
              </a:lnSpc>
              <a:buNone/>
            </a:pPr>
            <a:r>
              <a:rPr lang="ko-KR" altLang="en-US" sz="2160" dirty="0">
                <a:solidFill>
                  <a:srgbClr val="245E8A"/>
                </a:solidFill>
                <a:latin typeface="Noto Sans CJK KR" pitchFamily="34" charset="0"/>
                <a:ea typeface="Noto Sans CJK KR" pitchFamily="34" charset="-122"/>
                <a:cs typeface="Noto Sans CJK KR" pitchFamily="34" charset="-120"/>
              </a:rPr>
              <a:t>→</a:t>
            </a:r>
            <a:endParaRPr lang="ko-KR" sz="2160" dirty="0"/>
          </a:p>
        </p:txBody>
      </p:sp>
      <p:sp>
        <p:nvSpPr>
          <p:cNvPr id="9" name="Shape 7"/>
          <p:cNvSpPr/>
          <p:nvPr/>
        </p:nvSpPr>
        <p:spPr>
          <a:xfrm>
            <a:off x="3383280" y="2171700"/>
            <a:ext cx="2499360" cy="1638300"/>
          </a:xfrm>
          <a:prstGeom prst="rect">
            <a:avLst/>
          </a:prstGeom>
          <a:solidFill>
            <a:srgbClr val="FFFFFF"/>
          </a:solidFill>
          <a:ln w="7620">
            <a:solidFill>
              <a:srgbClr val="D7E1E8"/>
            </a:solidFill>
            <a:prstDash val="solid"/>
          </a:ln>
        </p:spPr>
      </p:sp>
      <p:sp>
        <p:nvSpPr>
          <p:cNvPr id="10" name="Text 8"/>
          <p:cNvSpPr/>
          <p:nvPr/>
        </p:nvSpPr>
        <p:spPr>
          <a:xfrm>
            <a:off x="3550920" y="2369820"/>
            <a:ext cx="2133600" cy="396240"/>
          </a:xfrm>
          <a:prstGeom prst="rect">
            <a:avLst/>
          </a:prstGeom>
          <a:noFill/>
          <a:ln/>
        </p:spPr>
        <p:txBody>
          <a:bodyPr wrap="square" lIns="0" tIns="0" rIns="0" bIns="0" rtlCol="0" anchor="t"/>
          <a:lstStyle/>
          <a:p>
            <a:pPr indent="0" marL="0">
              <a:lnSpc>
                <a:spcPct val="105000"/>
              </a:lnSpc>
              <a:buNone/>
            </a:pPr>
            <a:r>
              <a:rPr lang="ko-KR" altLang="en-US" sz="2100" b="1" dirty="0">
                <a:solidFill>
                  <a:srgbClr val="147D6D"/>
                </a:solidFill>
                <a:latin typeface="Noto Sans CJK KR" pitchFamily="34" charset="0"/>
                <a:ea typeface="Noto Sans CJK KR" pitchFamily="34" charset="-122"/>
                <a:cs typeface="Noto Sans CJK KR" pitchFamily="34" charset="-120"/>
              </a:rPr>
              <a:t>DB 수집기</a:t>
            </a:r>
            <a:endParaRPr lang="ko-KR" sz="2100" dirty="0"/>
          </a:p>
        </p:txBody>
      </p:sp>
      <p:sp>
        <p:nvSpPr>
          <p:cNvPr id="11" name="Text 9"/>
          <p:cNvSpPr/>
          <p:nvPr/>
        </p:nvSpPr>
        <p:spPr>
          <a:xfrm>
            <a:off x="3550920" y="2948940"/>
            <a:ext cx="2133600" cy="754380"/>
          </a:xfrm>
          <a:prstGeom prst="rect">
            <a:avLst/>
          </a:prstGeom>
          <a:noFill/>
          <a:ln/>
        </p:spPr>
        <p:txBody>
          <a:bodyPr wrap="square" lIns="0" tIns="0" rIns="0" bIns="0" rtlCol="0" anchor="t"/>
          <a:lstStyle/>
          <a:p>
            <a:pPr indent="0" marL="0">
              <a:lnSpc>
                <a:spcPct val="105000"/>
              </a:lnSpc>
              <a:buNone/>
            </a:pPr>
            <a:r>
              <a:rPr lang="ko-KR" altLang="en-US" sz="1620" dirty="0">
                <a:solidFill>
                  <a:srgbClr val="52687B"/>
                </a:solidFill>
                <a:latin typeface="Noto Sans CJK KR" pitchFamily="34" charset="0"/>
                <a:ea typeface="Noto Sans CJK KR" pitchFamily="34" charset="-122"/>
                <a:cs typeface="Noto Sans CJK KR" pitchFamily="34" charset="-120"/>
              </a:rPr>
              <a:t>누적 raw counter</a:t>
            </a:r>
            <a:endParaRPr lang="ko-KR" sz="1620" dirty="0"/>
          </a:p>
          <a:p>
            <a:pPr indent="0" marL="0">
              <a:lnSpc>
                <a:spcPct val="105000"/>
              </a:lnSpc>
              <a:buNone/>
            </a:pPr>
            <a:r>
              <a:rPr lang="ko-KR" altLang="en-US" sz="1620" dirty="0">
                <a:solidFill>
                  <a:srgbClr val="52687B"/>
                </a:solidFill>
                <a:latin typeface="Noto Sans CJK KR" pitchFamily="34" charset="0"/>
                <a:ea typeface="Noto Sans CJK KR" pitchFamily="34" charset="-122"/>
                <a:cs typeface="Noto Sans CJK KR" pitchFamily="34" charset="-120"/>
              </a:rPr>
              <a:t>1–5초 간격·reset 감지</a:t>
            </a:r>
            <a:endParaRPr lang="ko-KR" sz="1620" dirty="0"/>
          </a:p>
        </p:txBody>
      </p:sp>
      <p:sp>
        <p:nvSpPr>
          <p:cNvPr id="12" name="Text 10"/>
          <p:cNvSpPr/>
          <p:nvPr/>
        </p:nvSpPr>
        <p:spPr>
          <a:xfrm>
            <a:off x="5920740" y="2750820"/>
            <a:ext cx="289560" cy="441960"/>
          </a:xfrm>
          <a:prstGeom prst="rect">
            <a:avLst/>
          </a:prstGeom>
          <a:noFill/>
          <a:ln/>
        </p:spPr>
        <p:txBody>
          <a:bodyPr wrap="square" lIns="0" tIns="0" rIns="0" bIns="0" rtlCol="0" anchor="t"/>
          <a:lstStyle/>
          <a:p>
            <a:pPr indent="0" marL="0">
              <a:lnSpc>
                <a:spcPct val="105000"/>
              </a:lnSpc>
              <a:buNone/>
            </a:pPr>
            <a:r>
              <a:rPr lang="ko-KR" altLang="en-US" sz="2160" dirty="0">
                <a:solidFill>
                  <a:srgbClr val="245E8A"/>
                </a:solidFill>
                <a:latin typeface="Noto Sans CJK KR" pitchFamily="34" charset="0"/>
                <a:ea typeface="Noto Sans CJK KR" pitchFamily="34" charset="-122"/>
                <a:cs typeface="Noto Sans CJK KR" pitchFamily="34" charset="-120"/>
              </a:rPr>
              <a:t>→</a:t>
            </a:r>
            <a:endParaRPr lang="ko-KR" sz="2160" dirty="0"/>
          </a:p>
        </p:txBody>
      </p:sp>
      <p:sp>
        <p:nvSpPr>
          <p:cNvPr id="13" name="Shape 11"/>
          <p:cNvSpPr/>
          <p:nvPr/>
        </p:nvSpPr>
        <p:spPr>
          <a:xfrm>
            <a:off x="6187440" y="2171700"/>
            <a:ext cx="2499360" cy="1638300"/>
          </a:xfrm>
          <a:prstGeom prst="rect">
            <a:avLst/>
          </a:prstGeom>
          <a:solidFill>
            <a:srgbClr val="FFFFFF"/>
          </a:solidFill>
          <a:ln w="7620">
            <a:solidFill>
              <a:srgbClr val="D7E1E8"/>
            </a:solidFill>
            <a:prstDash val="solid"/>
          </a:ln>
        </p:spPr>
      </p:sp>
      <p:sp>
        <p:nvSpPr>
          <p:cNvPr id="14" name="Text 12"/>
          <p:cNvSpPr/>
          <p:nvPr/>
        </p:nvSpPr>
        <p:spPr>
          <a:xfrm>
            <a:off x="6355080" y="2369820"/>
            <a:ext cx="2133600" cy="396240"/>
          </a:xfrm>
          <a:prstGeom prst="rect">
            <a:avLst/>
          </a:prstGeom>
          <a:noFill/>
          <a:ln/>
        </p:spPr>
        <p:txBody>
          <a:bodyPr wrap="square" lIns="0" tIns="0" rIns="0" bIns="0" rtlCol="0" anchor="t"/>
          <a:lstStyle/>
          <a:p>
            <a:pPr indent="0" marL="0">
              <a:lnSpc>
                <a:spcPct val="105000"/>
              </a:lnSpc>
              <a:buNone/>
            </a:pPr>
            <a:r>
              <a:rPr lang="ko-KR" altLang="en-US" sz="2100" b="1" dirty="0">
                <a:solidFill>
                  <a:srgbClr val="147D6D"/>
                </a:solidFill>
                <a:latin typeface="Noto Sans CJK KR" pitchFamily="34" charset="0"/>
                <a:ea typeface="Noto Sans CJK KR" pitchFamily="34" charset="-122"/>
                <a:cs typeface="Noto Sans CJK KR" pitchFamily="34" charset="-120"/>
              </a:rPr>
              <a:t>OS 수집기</a:t>
            </a:r>
            <a:endParaRPr lang="ko-KR" sz="2100" dirty="0"/>
          </a:p>
        </p:txBody>
      </p:sp>
      <p:sp>
        <p:nvSpPr>
          <p:cNvPr id="15" name="Text 13"/>
          <p:cNvSpPr/>
          <p:nvPr/>
        </p:nvSpPr>
        <p:spPr>
          <a:xfrm>
            <a:off x="6355080" y="2948940"/>
            <a:ext cx="2133600" cy="754380"/>
          </a:xfrm>
          <a:prstGeom prst="rect">
            <a:avLst/>
          </a:prstGeom>
          <a:noFill/>
          <a:ln/>
        </p:spPr>
        <p:txBody>
          <a:bodyPr wrap="square" lIns="0" tIns="0" rIns="0" bIns="0" rtlCol="0" anchor="t"/>
          <a:lstStyle/>
          <a:p>
            <a:pPr indent="0" marL="0">
              <a:lnSpc>
                <a:spcPct val="105000"/>
              </a:lnSpc>
              <a:buNone/>
            </a:pPr>
            <a:r>
              <a:rPr lang="ko-KR" altLang="en-US" sz="1620" dirty="0">
                <a:solidFill>
                  <a:srgbClr val="52687B"/>
                </a:solidFill>
                <a:latin typeface="Noto Sans CJK KR" pitchFamily="34" charset="0"/>
                <a:ea typeface="Noto Sans CJK KR" pitchFamily="34" charset="-122"/>
                <a:cs typeface="Noto Sans CJK KR" pitchFamily="34" charset="-120"/>
              </a:rPr>
              <a:t>CPU·RSS·장치 I/O</a:t>
            </a:r>
            <a:endParaRPr lang="ko-KR" sz="1620" dirty="0"/>
          </a:p>
          <a:p>
            <a:pPr indent="0" marL="0">
              <a:lnSpc>
                <a:spcPct val="105000"/>
              </a:lnSpc>
              <a:buNone/>
            </a:pPr>
            <a:r>
              <a:rPr lang="ko-KR" altLang="en-US" sz="1620" dirty="0">
                <a:solidFill>
                  <a:srgbClr val="52687B"/>
                </a:solidFill>
                <a:latin typeface="Noto Sans CJK KR" pitchFamily="34" charset="0"/>
                <a:ea typeface="Noto Sans CJK KR" pitchFamily="34" charset="-122"/>
                <a:cs typeface="Noto Sans CJK KR" pitchFamily="34" charset="-120"/>
              </a:rPr>
              <a:t>iostat·pidstat 등</a:t>
            </a:r>
            <a:endParaRPr lang="ko-KR" sz="1620" dirty="0"/>
          </a:p>
        </p:txBody>
      </p:sp>
      <p:sp>
        <p:nvSpPr>
          <p:cNvPr id="16" name="Text 14"/>
          <p:cNvSpPr/>
          <p:nvPr/>
        </p:nvSpPr>
        <p:spPr>
          <a:xfrm>
            <a:off x="8724900" y="2750820"/>
            <a:ext cx="289560" cy="441960"/>
          </a:xfrm>
          <a:prstGeom prst="rect">
            <a:avLst/>
          </a:prstGeom>
          <a:noFill/>
          <a:ln/>
        </p:spPr>
        <p:txBody>
          <a:bodyPr wrap="square" lIns="0" tIns="0" rIns="0" bIns="0" rtlCol="0" anchor="t"/>
          <a:lstStyle/>
          <a:p>
            <a:pPr indent="0" marL="0">
              <a:lnSpc>
                <a:spcPct val="105000"/>
              </a:lnSpc>
              <a:buNone/>
            </a:pPr>
            <a:r>
              <a:rPr lang="ko-KR" altLang="en-US" sz="2160" dirty="0">
                <a:solidFill>
                  <a:srgbClr val="245E8A"/>
                </a:solidFill>
                <a:latin typeface="Noto Sans CJK KR" pitchFamily="34" charset="0"/>
                <a:ea typeface="Noto Sans CJK KR" pitchFamily="34" charset="-122"/>
                <a:cs typeface="Noto Sans CJK KR" pitchFamily="34" charset="-120"/>
              </a:rPr>
              <a:t>→</a:t>
            </a:r>
            <a:endParaRPr lang="ko-KR" sz="2160" dirty="0"/>
          </a:p>
        </p:txBody>
      </p:sp>
      <p:sp>
        <p:nvSpPr>
          <p:cNvPr id="17" name="Shape 15"/>
          <p:cNvSpPr/>
          <p:nvPr/>
        </p:nvSpPr>
        <p:spPr>
          <a:xfrm>
            <a:off x="8991600" y="2171700"/>
            <a:ext cx="2499360" cy="1638300"/>
          </a:xfrm>
          <a:prstGeom prst="rect">
            <a:avLst/>
          </a:prstGeom>
          <a:solidFill>
            <a:srgbClr val="FFFFFF"/>
          </a:solidFill>
          <a:ln w="7620">
            <a:solidFill>
              <a:srgbClr val="D7E1E8"/>
            </a:solidFill>
            <a:prstDash val="solid"/>
          </a:ln>
        </p:spPr>
      </p:sp>
      <p:sp>
        <p:nvSpPr>
          <p:cNvPr id="18" name="Text 16"/>
          <p:cNvSpPr/>
          <p:nvPr/>
        </p:nvSpPr>
        <p:spPr>
          <a:xfrm>
            <a:off x="9159240" y="2369820"/>
            <a:ext cx="2133600" cy="396240"/>
          </a:xfrm>
          <a:prstGeom prst="rect">
            <a:avLst/>
          </a:prstGeom>
          <a:noFill/>
          <a:ln/>
        </p:spPr>
        <p:txBody>
          <a:bodyPr wrap="square" lIns="0" tIns="0" rIns="0" bIns="0" rtlCol="0" anchor="t"/>
          <a:lstStyle/>
          <a:p>
            <a:pPr indent="0" marL="0">
              <a:lnSpc>
                <a:spcPct val="105000"/>
              </a:lnSpc>
              <a:buNone/>
            </a:pPr>
            <a:r>
              <a:rPr lang="ko-KR" altLang="en-US" sz="2100" b="1" dirty="0">
                <a:solidFill>
                  <a:srgbClr val="147D6D"/>
                </a:solidFill>
                <a:latin typeface="Noto Sans CJK KR" pitchFamily="34" charset="0"/>
                <a:ea typeface="Noto Sans CJK KR" pitchFamily="34" charset="-122"/>
                <a:cs typeface="Noto Sans CJK KR" pitchFamily="34" charset="-120"/>
              </a:rPr>
              <a:t>구간 분석</a:t>
            </a:r>
            <a:endParaRPr lang="ko-KR" sz="2100" dirty="0"/>
          </a:p>
        </p:txBody>
      </p:sp>
      <p:sp>
        <p:nvSpPr>
          <p:cNvPr id="19" name="Text 17"/>
          <p:cNvSpPr/>
          <p:nvPr/>
        </p:nvSpPr>
        <p:spPr>
          <a:xfrm>
            <a:off x="9159240" y="2948940"/>
            <a:ext cx="2133600" cy="754380"/>
          </a:xfrm>
          <a:prstGeom prst="rect">
            <a:avLst/>
          </a:prstGeom>
          <a:noFill/>
          <a:ln/>
        </p:spPr>
        <p:txBody>
          <a:bodyPr wrap="square" lIns="0" tIns="0" rIns="0" bIns="0" rtlCol="0" anchor="t"/>
          <a:lstStyle/>
          <a:p>
            <a:pPr indent="0" marL="0">
              <a:lnSpc>
                <a:spcPct val="105000"/>
              </a:lnSpc>
              <a:buNone/>
            </a:pPr>
            <a:r>
              <a:rPr lang="ko-KR" altLang="en-US" sz="1620" dirty="0">
                <a:solidFill>
                  <a:srgbClr val="52687B"/>
                </a:solidFill>
                <a:latin typeface="Noto Sans CJK KR" pitchFamily="34" charset="0"/>
                <a:ea typeface="Noto Sans CJK KR" pitchFamily="34" charset="-122"/>
                <a:cs typeface="Noto Sans CJK KR" pitchFamily="34" charset="-120"/>
              </a:rPr>
              <a:t>시작/끝 timestamp</a:t>
            </a:r>
            <a:endParaRPr lang="ko-KR" sz="1620" dirty="0"/>
          </a:p>
          <a:p>
            <a:pPr indent="0" marL="0">
              <a:lnSpc>
                <a:spcPct val="105000"/>
              </a:lnSpc>
              <a:buNone/>
            </a:pPr>
            <a:r>
              <a:rPr lang="ko-KR" altLang="en-US" sz="1620" dirty="0">
                <a:solidFill>
                  <a:srgbClr val="52687B"/>
                </a:solidFill>
                <a:latin typeface="Noto Sans CJK KR" pitchFamily="34" charset="0"/>
                <a:ea typeface="Noto Sans CJK KR" pitchFamily="34" charset="-122"/>
                <a:cs typeface="Noto Sans CJK KR" pitchFamily="34" charset="-120"/>
              </a:rPr>
              <a:t>Δcounter·분포·편차</a:t>
            </a:r>
            <a:endParaRPr lang="ko-KR" sz="1620" dirty="0"/>
          </a:p>
        </p:txBody>
      </p:sp>
      <p:sp>
        <p:nvSpPr>
          <p:cNvPr id="20" name="Text 18"/>
          <p:cNvSpPr/>
          <p:nvPr/>
        </p:nvSpPr>
        <p:spPr>
          <a:xfrm>
            <a:off x="609600" y="4312920"/>
            <a:ext cx="10744200" cy="838200"/>
          </a:xfrm>
          <a:prstGeom prst="rect">
            <a:avLst/>
          </a:prstGeom>
          <a:noFill/>
          <a:ln/>
        </p:spPr>
        <p:txBody>
          <a:bodyPr wrap="square" lIns="0" tIns="0" rIns="0" bIns="0" rtlCol="0" anchor="t"/>
          <a:lstStyle/>
          <a:p>
            <a:pPr indent="0" marL="0">
              <a:lnSpc>
                <a:spcPct val="105000"/>
              </a:lnSpc>
              <a:buNone/>
            </a:pPr>
            <a:r>
              <a:rPr lang="ko-KR" altLang="en-US" sz="1920" dirty="0">
                <a:solidFill>
                  <a:srgbClr val="132D43"/>
                </a:solidFill>
                <a:latin typeface="Noto Sans CJK KR" pitchFamily="34" charset="0"/>
                <a:ea typeface="Noto Sans CJK KR" pitchFamily="34" charset="-122"/>
                <a:cs typeface="Noto Sans CJK KR" pitchFamily="34" charset="-120"/>
              </a:rPr>
              <a:t>측정 전에 baseline snapshot → 정해진 구간 실행 → 종료 snapshot</a:t>
            </a:r>
            <a:endParaRPr lang="ko-KR" sz="1920" dirty="0"/>
          </a:p>
          <a:p>
            <a:pPr indent="0" marL="0">
              <a:lnSpc>
                <a:spcPct val="105000"/>
              </a:lnSpc>
              <a:buNone/>
            </a:pPr>
            <a:r>
              <a:rPr lang="ko-KR" altLang="en-US" sz="1920" dirty="0">
                <a:solidFill>
                  <a:srgbClr val="132D43"/>
                </a:solidFill>
                <a:latin typeface="Noto Sans CJK KR" pitchFamily="34" charset="0"/>
                <a:ea typeface="Noto Sans CJK KR" pitchFamily="34" charset="-122"/>
                <a:cs typeface="Noto Sans CJK KR" pitchFamily="34" charset="-120"/>
              </a:rPr>
              <a:t>클라이언트 CPU·연결 수·오류율을 함께 기록해 부하 생성기 병목을 확인한다.</a:t>
            </a:r>
            <a:endParaRPr lang="ko-KR" sz="1920" dirty="0"/>
          </a:p>
        </p:txBody>
      </p:sp>
      <p:sp>
        <p:nvSpPr>
          <p:cNvPr id="21" name="Shape 19"/>
          <p:cNvSpPr/>
          <p:nvPr/>
        </p:nvSpPr>
        <p:spPr>
          <a:xfrm>
            <a:off x="579120" y="5562600"/>
            <a:ext cx="10911840" cy="533400"/>
          </a:xfrm>
          <a:prstGeom prst="rect">
            <a:avLst/>
          </a:prstGeom>
          <a:solidFill>
            <a:srgbClr val="DDEFEA"/>
          </a:solidFill>
          <a:ln w="12700">
            <a:solidFill>
              <a:srgbClr val="DDEFEA"/>
            </a:solidFill>
            <a:prstDash val="solid"/>
          </a:ln>
        </p:spPr>
      </p:sp>
      <p:sp>
        <p:nvSpPr>
          <p:cNvPr id="22" name="Text 20"/>
          <p:cNvSpPr/>
          <p:nvPr/>
        </p:nvSpPr>
        <p:spPr>
          <a:xfrm>
            <a:off x="762000" y="5692140"/>
            <a:ext cx="10546080" cy="320040"/>
          </a:xfrm>
          <a:prstGeom prst="rect">
            <a:avLst/>
          </a:prstGeom>
          <a:noFill/>
          <a:ln/>
        </p:spPr>
        <p:txBody>
          <a:bodyPr wrap="square" lIns="0" tIns="0" rIns="0" bIns="0" rtlCol="0" anchor="t"/>
          <a:lstStyle/>
          <a:p>
            <a:pPr indent="0" marL="0">
              <a:lnSpc>
                <a:spcPct val="105000"/>
              </a:lnSpc>
              <a:buNone/>
            </a:pPr>
            <a:r>
              <a:rPr lang="ko-KR" altLang="en-US" sz="1620" b="1" dirty="0">
                <a:solidFill>
                  <a:srgbClr val="147D6D"/>
                </a:solidFill>
                <a:latin typeface="Noto Sans CJK KR" pitchFamily="34" charset="0"/>
                <a:ea typeface="Noto Sans CJK KR" pitchFamily="34" charset="-122"/>
                <a:cs typeface="Noto Sans CJK KR" pitchFamily="34" charset="-120"/>
              </a:rPr>
              <a:t>상세 trace·perf는 별도 진단 실행으로 수집하고, 기본 성능 표본과 구분한다.</a:t>
            </a:r>
            <a:endParaRPr lang="ko-KR" sz="1620" dirty="0"/>
          </a:p>
        </p:txBody>
      </p:sp>
      <p:sp>
        <p:nvSpPr>
          <p:cNvPr id="23" name="Shape 21"/>
          <p:cNvSpPr/>
          <p:nvPr/>
        </p:nvSpPr>
        <p:spPr>
          <a:xfrm>
            <a:off x="579120" y="6316980"/>
            <a:ext cx="10911840" cy="7620"/>
          </a:xfrm>
          <a:prstGeom prst="rect">
            <a:avLst/>
          </a:prstGeom>
          <a:solidFill>
            <a:srgbClr val="D7E1E8"/>
          </a:solidFill>
          <a:ln w="12700">
            <a:solidFill>
              <a:srgbClr val="D7E1E8"/>
            </a:solidFill>
            <a:prstDash val="solid"/>
          </a:ln>
        </p:spPr>
      </p:sp>
      <p:sp>
        <p:nvSpPr>
          <p:cNvPr id="24" name="Text 22"/>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25" name="Text 23"/>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17 / 25</a:t>
            </a:r>
            <a:endParaRPr lang="ko-KR" sz="108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17  /  TIME PER CONFIGURATION</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1회 실행: 단순 읽기 13–20분, TPC-C 계열 40–90분</a:t>
            </a:r>
            <a:endParaRPr lang="ko-KR" sz="3180" dirty="0"/>
          </a:p>
        </p:txBody>
      </p:sp>
      <p:sp>
        <p:nvSpPr>
          <p:cNvPr id="5" name="Shape 3"/>
          <p:cNvSpPr/>
          <p:nvPr/>
        </p:nvSpPr>
        <p:spPr>
          <a:xfrm>
            <a:off x="579120" y="1866900"/>
            <a:ext cx="4267200" cy="624840"/>
          </a:xfrm>
          <a:prstGeom prst="rect">
            <a:avLst/>
          </a:prstGeom>
          <a:solidFill>
            <a:srgbClr val="132D43"/>
          </a:solidFill>
          <a:ln w="12700">
            <a:solidFill>
              <a:srgbClr val="132D43"/>
            </a:solidFill>
            <a:prstDash val="solid"/>
          </a:ln>
        </p:spPr>
      </p:sp>
      <p:sp>
        <p:nvSpPr>
          <p:cNvPr id="6" name="Text 4"/>
          <p:cNvSpPr/>
          <p:nvPr/>
        </p:nvSpPr>
        <p:spPr>
          <a:xfrm>
            <a:off x="716280" y="1996440"/>
            <a:ext cx="4023360" cy="449580"/>
          </a:xfrm>
          <a:prstGeom prst="rect">
            <a:avLst/>
          </a:prstGeom>
          <a:noFill/>
          <a:ln/>
        </p:spPr>
        <p:txBody>
          <a:bodyPr wrap="square" lIns="0" tIns="0" rIns="0" bIns="0" rtlCol="0" anchor="t"/>
          <a:lstStyle/>
          <a:p>
            <a:pPr indent="0" marL="0">
              <a:lnSpc>
                <a:spcPct val="105000"/>
              </a:lnSpc>
              <a:buNone/>
            </a:pPr>
            <a:r>
              <a:rPr lang="ko-KR" altLang="en-US" sz="1560" b="1" dirty="0">
                <a:solidFill>
                  <a:srgbClr val="FFFFFF"/>
                </a:solidFill>
                <a:latin typeface="Noto Sans CJK KR" pitchFamily="34" charset="0"/>
                <a:ea typeface="Noto Sans CJK KR" pitchFamily="34" charset="-122"/>
                <a:cs typeface="Noto Sans CJK KR" pitchFamily="34" charset="-120"/>
              </a:rPr>
              <a:t>부하</a:t>
            </a:r>
            <a:endParaRPr lang="ko-KR" sz="1560" dirty="0"/>
          </a:p>
        </p:txBody>
      </p:sp>
      <p:sp>
        <p:nvSpPr>
          <p:cNvPr id="7" name="Shape 5"/>
          <p:cNvSpPr/>
          <p:nvPr/>
        </p:nvSpPr>
        <p:spPr>
          <a:xfrm>
            <a:off x="4846320" y="1866900"/>
            <a:ext cx="1905000" cy="624840"/>
          </a:xfrm>
          <a:prstGeom prst="rect">
            <a:avLst/>
          </a:prstGeom>
          <a:solidFill>
            <a:srgbClr val="132D43"/>
          </a:solidFill>
          <a:ln w="12700">
            <a:solidFill>
              <a:srgbClr val="132D43"/>
            </a:solidFill>
            <a:prstDash val="solid"/>
          </a:ln>
        </p:spPr>
      </p:sp>
      <p:sp>
        <p:nvSpPr>
          <p:cNvPr id="8" name="Text 6"/>
          <p:cNvSpPr/>
          <p:nvPr/>
        </p:nvSpPr>
        <p:spPr>
          <a:xfrm>
            <a:off x="4983480" y="1996440"/>
            <a:ext cx="1661160" cy="449580"/>
          </a:xfrm>
          <a:prstGeom prst="rect">
            <a:avLst/>
          </a:prstGeom>
          <a:noFill/>
          <a:ln/>
        </p:spPr>
        <p:txBody>
          <a:bodyPr wrap="square" lIns="0" tIns="0" rIns="0" bIns="0" rtlCol="0" anchor="t"/>
          <a:lstStyle/>
          <a:p>
            <a:pPr indent="0" marL="0">
              <a:lnSpc>
                <a:spcPct val="105000"/>
              </a:lnSpc>
              <a:buNone/>
            </a:pPr>
            <a:r>
              <a:rPr lang="ko-KR" altLang="en-US" sz="1560" b="1" dirty="0">
                <a:solidFill>
                  <a:srgbClr val="FFFFFF"/>
                </a:solidFill>
                <a:latin typeface="Noto Sans CJK KR" pitchFamily="34" charset="0"/>
                <a:ea typeface="Noto Sans CJK KR" pitchFamily="34" charset="-122"/>
                <a:cs typeface="Noto Sans CJK KR" pitchFamily="34" charset="-120"/>
              </a:rPr>
              <a:t>warm-up</a:t>
            </a:r>
            <a:endParaRPr lang="ko-KR" sz="1560" dirty="0"/>
          </a:p>
        </p:txBody>
      </p:sp>
      <p:sp>
        <p:nvSpPr>
          <p:cNvPr id="9" name="Shape 7"/>
          <p:cNvSpPr/>
          <p:nvPr/>
        </p:nvSpPr>
        <p:spPr>
          <a:xfrm>
            <a:off x="6751320" y="1866900"/>
            <a:ext cx="2286000" cy="624840"/>
          </a:xfrm>
          <a:prstGeom prst="rect">
            <a:avLst/>
          </a:prstGeom>
          <a:solidFill>
            <a:srgbClr val="132D43"/>
          </a:solidFill>
          <a:ln w="12700">
            <a:solidFill>
              <a:srgbClr val="132D43"/>
            </a:solidFill>
            <a:prstDash val="solid"/>
          </a:ln>
        </p:spPr>
      </p:sp>
      <p:sp>
        <p:nvSpPr>
          <p:cNvPr id="10" name="Text 8"/>
          <p:cNvSpPr/>
          <p:nvPr/>
        </p:nvSpPr>
        <p:spPr>
          <a:xfrm>
            <a:off x="6888480" y="1996440"/>
            <a:ext cx="2042160" cy="449580"/>
          </a:xfrm>
          <a:prstGeom prst="rect">
            <a:avLst/>
          </a:prstGeom>
          <a:noFill/>
          <a:ln/>
        </p:spPr>
        <p:txBody>
          <a:bodyPr wrap="square" lIns="0" tIns="0" rIns="0" bIns="0" rtlCol="0" anchor="t"/>
          <a:lstStyle/>
          <a:p>
            <a:pPr indent="0" marL="0">
              <a:lnSpc>
                <a:spcPct val="105000"/>
              </a:lnSpc>
              <a:buNone/>
            </a:pPr>
            <a:r>
              <a:rPr lang="ko-KR" altLang="en-US" sz="1560" b="1" dirty="0">
                <a:solidFill>
                  <a:srgbClr val="FFFFFF"/>
                </a:solidFill>
                <a:latin typeface="Noto Sans CJK KR" pitchFamily="34" charset="0"/>
                <a:ea typeface="Noto Sans CJK KR" pitchFamily="34" charset="-122"/>
                <a:cs typeface="Noto Sans CJK KR" pitchFamily="34" charset="-120"/>
              </a:rPr>
              <a:t>측정</a:t>
            </a:r>
            <a:endParaRPr lang="ko-KR" sz="1560" dirty="0"/>
          </a:p>
        </p:txBody>
      </p:sp>
      <p:sp>
        <p:nvSpPr>
          <p:cNvPr id="11" name="Shape 9"/>
          <p:cNvSpPr/>
          <p:nvPr/>
        </p:nvSpPr>
        <p:spPr>
          <a:xfrm>
            <a:off x="9037320" y="1866900"/>
            <a:ext cx="2453640" cy="624840"/>
          </a:xfrm>
          <a:prstGeom prst="rect">
            <a:avLst/>
          </a:prstGeom>
          <a:solidFill>
            <a:srgbClr val="132D43"/>
          </a:solidFill>
          <a:ln w="12700">
            <a:solidFill>
              <a:srgbClr val="132D43"/>
            </a:solidFill>
            <a:prstDash val="solid"/>
          </a:ln>
        </p:spPr>
      </p:sp>
      <p:sp>
        <p:nvSpPr>
          <p:cNvPr id="12" name="Text 10"/>
          <p:cNvSpPr/>
          <p:nvPr/>
        </p:nvSpPr>
        <p:spPr>
          <a:xfrm>
            <a:off x="9174480" y="1996440"/>
            <a:ext cx="2209800" cy="449580"/>
          </a:xfrm>
          <a:prstGeom prst="rect">
            <a:avLst/>
          </a:prstGeom>
          <a:noFill/>
          <a:ln/>
        </p:spPr>
        <p:txBody>
          <a:bodyPr wrap="square" lIns="0" tIns="0" rIns="0" bIns="0" rtlCol="0" anchor="t"/>
          <a:lstStyle/>
          <a:p>
            <a:pPr indent="0" marL="0">
              <a:lnSpc>
                <a:spcPct val="105000"/>
              </a:lnSpc>
              <a:buNone/>
            </a:pPr>
            <a:r>
              <a:rPr lang="ko-KR" altLang="en-US" sz="1560" b="1" dirty="0">
                <a:solidFill>
                  <a:srgbClr val="FFFFFF"/>
                </a:solidFill>
                <a:latin typeface="Noto Sans CJK KR" pitchFamily="34" charset="0"/>
                <a:ea typeface="Noto Sans CJK KR" pitchFamily="34" charset="-122"/>
                <a:cs typeface="Noto Sans CJK KR" pitchFamily="34" charset="-120"/>
              </a:rPr>
              <a:t>합계</a:t>
            </a:r>
            <a:endParaRPr lang="ko-KR" sz="1560" dirty="0"/>
          </a:p>
        </p:txBody>
      </p:sp>
      <p:sp>
        <p:nvSpPr>
          <p:cNvPr id="13" name="Shape 11"/>
          <p:cNvSpPr/>
          <p:nvPr/>
        </p:nvSpPr>
        <p:spPr>
          <a:xfrm>
            <a:off x="579120" y="2491740"/>
            <a:ext cx="4267200" cy="624840"/>
          </a:xfrm>
          <a:prstGeom prst="rect">
            <a:avLst/>
          </a:prstGeom>
          <a:solidFill>
            <a:srgbClr val="FFFFFF"/>
          </a:solidFill>
          <a:ln w="12700">
            <a:solidFill>
              <a:srgbClr val="FFFFFF"/>
            </a:solidFill>
            <a:prstDash val="solid"/>
          </a:ln>
        </p:spPr>
      </p:sp>
      <p:sp>
        <p:nvSpPr>
          <p:cNvPr id="14" name="Text 12"/>
          <p:cNvSpPr/>
          <p:nvPr/>
        </p:nvSpPr>
        <p:spPr>
          <a:xfrm>
            <a:off x="716280" y="2621280"/>
            <a:ext cx="40233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sysbench / YCSB read</a:t>
            </a:r>
            <a:endParaRPr lang="ko-KR" sz="1560" dirty="0"/>
          </a:p>
        </p:txBody>
      </p:sp>
      <p:sp>
        <p:nvSpPr>
          <p:cNvPr id="15" name="Shape 13"/>
          <p:cNvSpPr/>
          <p:nvPr/>
        </p:nvSpPr>
        <p:spPr>
          <a:xfrm>
            <a:off x="4846320" y="2491740"/>
            <a:ext cx="1905000" cy="624840"/>
          </a:xfrm>
          <a:prstGeom prst="rect">
            <a:avLst/>
          </a:prstGeom>
          <a:solidFill>
            <a:srgbClr val="FFFFFF"/>
          </a:solidFill>
          <a:ln w="12700">
            <a:solidFill>
              <a:srgbClr val="FFFFFF"/>
            </a:solidFill>
            <a:prstDash val="solid"/>
          </a:ln>
        </p:spPr>
      </p:sp>
      <p:sp>
        <p:nvSpPr>
          <p:cNvPr id="16" name="Text 14"/>
          <p:cNvSpPr/>
          <p:nvPr/>
        </p:nvSpPr>
        <p:spPr>
          <a:xfrm>
            <a:off x="4983480" y="2621280"/>
            <a:ext cx="16611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3–5분</a:t>
            </a:r>
            <a:endParaRPr lang="ko-KR" sz="1560" dirty="0"/>
          </a:p>
        </p:txBody>
      </p:sp>
      <p:sp>
        <p:nvSpPr>
          <p:cNvPr id="17" name="Shape 15"/>
          <p:cNvSpPr/>
          <p:nvPr/>
        </p:nvSpPr>
        <p:spPr>
          <a:xfrm>
            <a:off x="6751320" y="2491740"/>
            <a:ext cx="2286000" cy="624840"/>
          </a:xfrm>
          <a:prstGeom prst="rect">
            <a:avLst/>
          </a:prstGeom>
          <a:solidFill>
            <a:srgbClr val="FFFFFF"/>
          </a:solidFill>
          <a:ln w="12700">
            <a:solidFill>
              <a:srgbClr val="FFFFFF"/>
            </a:solidFill>
            <a:prstDash val="solid"/>
          </a:ln>
        </p:spPr>
      </p:sp>
      <p:sp>
        <p:nvSpPr>
          <p:cNvPr id="18" name="Text 16"/>
          <p:cNvSpPr/>
          <p:nvPr/>
        </p:nvSpPr>
        <p:spPr>
          <a:xfrm>
            <a:off x="6888480" y="2621280"/>
            <a:ext cx="20421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10–15분</a:t>
            </a:r>
            <a:endParaRPr lang="ko-KR" sz="1560" dirty="0"/>
          </a:p>
        </p:txBody>
      </p:sp>
      <p:sp>
        <p:nvSpPr>
          <p:cNvPr id="19" name="Shape 17"/>
          <p:cNvSpPr/>
          <p:nvPr/>
        </p:nvSpPr>
        <p:spPr>
          <a:xfrm>
            <a:off x="9037320" y="2491740"/>
            <a:ext cx="2453640" cy="624840"/>
          </a:xfrm>
          <a:prstGeom prst="rect">
            <a:avLst/>
          </a:prstGeom>
          <a:solidFill>
            <a:srgbClr val="FFFFFF"/>
          </a:solidFill>
          <a:ln w="12700">
            <a:solidFill>
              <a:srgbClr val="FFFFFF"/>
            </a:solidFill>
            <a:prstDash val="solid"/>
          </a:ln>
        </p:spPr>
      </p:sp>
      <p:sp>
        <p:nvSpPr>
          <p:cNvPr id="20" name="Text 18"/>
          <p:cNvSpPr/>
          <p:nvPr/>
        </p:nvSpPr>
        <p:spPr>
          <a:xfrm>
            <a:off x="9174480" y="2621280"/>
            <a:ext cx="220980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13–20분</a:t>
            </a:r>
            <a:endParaRPr lang="ko-KR" sz="1560" dirty="0"/>
          </a:p>
        </p:txBody>
      </p:sp>
      <p:sp>
        <p:nvSpPr>
          <p:cNvPr id="21" name="Shape 19"/>
          <p:cNvSpPr/>
          <p:nvPr/>
        </p:nvSpPr>
        <p:spPr>
          <a:xfrm>
            <a:off x="579120" y="3116580"/>
            <a:ext cx="4267200" cy="624840"/>
          </a:xfrm>
          <a:prstGeom prst="rect">
            <a:avLst/>
          </a:prstGeom>
          <a:solidFill>
            <a:srgbClr val="EAF0F4"/>
          </a:solidFill>
          <a:ln w="12700">
            <a:solidFill>
              <a:srgbClr val="EAF0F4"/>
            </a:solidFill>
            <a:prstDash val="solid"/>
          </a:ln>
        </p:spPr>
      </p:sp>
      <p:sp>
        <p:nvSpPr>
          <p:cNvPr id="22" name="Text 20"/>
          <p:cNvSpPr/>
          <p:nvPr/>
        </p:nvSpPr>
        <p:spPr>
          <a:xfrm>
            <a:off x="716280" y="3246120"/>
            <a:ext cx="40233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공통 JDBC read</a:t>
            </a:r>
            <a:endParaRPr lang="ko-KR" sz="1560" dirty="0"/>
          </a:p>
        </p:txBody>
      </p:sp>
      <p:sp>
        <p:nvSpPr>
          <p:cNvPr id="23" name="Shape 21"/>
          <p:cNvSpPr/>
          <p:nvPr/>
        </p:nvSpPr>
        <p:spPr>
          <a:xfrm>
            <a:off x="4846320" y="3116580"/>
            <a:ext cx="1905000" cy="624840"/>
          </a:xfrm>
          <a:prstGeom prst="rect">
            <a:avLst/>
          </a:prstGeom>
          <a:solidFill>
            <a:srgbClr val="EAF0F4"/>
          </a:solidFill>
          <a:ln w="12700">
            <a:solidFill>
              <a:srgbClr val="EAF0F4"/>
            </a:solidFill>
            <a:prstDash val="solid"/>
          </a:ln>
        </p:spPr>
      </p:sp>
      <p:sp>
        <p:nvSpPr>
          <p:cNvPr id="24" name="Text 22"/>
          <p:cNvSpPr/>
          <p:nvPr/>
        </p:nvSpPr>
        <p:spPr>
          <a:xfrm>
            <a:off x="4983480" y="3246120"/>
            <a:ext cx="16611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5분</a:t>
            </a:r>
            <a:endParaRPr lang="ko-KR" sz="1560" dirty="0"/>
          </a:p>
        </p:txBody>
      </p:sp>
      <p:sp>
        <p:nvSpPr>
          <p:cNvPr id="25" name="Shape 23"/>
          <p:cNvSpPr/>
          <p:nvPr/>
        </p:nvSpPr>
        <p:spPr>
          <a:xfrm>
            <a:off x="6751320" y="3116580"/>
            <a:ext cx="2286000" cy="624840"/>
          </a:xfrm>
          <a:prstGeom prst="rect">
            <a:avLst/>
          </a:prstGeom>
          <a:solidFill>
            <a:srgbClr val="EAF0F4"/>
          </a:solidFill>
          <a:ln w="12700">
            <a:solidFill>
              <a:srgbClr val="EAF0F4"/>
            </a:solidFill>
            <a:prstDash val="solid"/>
          </a:ln>
        </p:spPr>
      </p:sp>
      <p:sp>
        <p:nvSpPr>
          <p:cNvPr id="26" name="Text 24"/>
          <p:cNvSpPr/>
          <p:nvPr/>
        </p:nvSpPr>
        <p:spPr>
          <a:xfrm>
            <a:off x="6888480" y="3246120"/>
            <a:ext cx="20421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10분</a:t>
            </a:r>
            <a:endParaRPr lang="ko-KR" sz="1560" dirty="0"/>
          </a:p>
        </p:txBody>
      </p:sp>
      <p:sp>
        <p:nvSpPr>
          <p:cNvPr id="27" name="Shape 25"/>
          <p:cNvSpPr/>
          <p:nvPr/>
        </p:nvSpPr>
        <p:spPr>
          <a:xfrm>
            <a:off x="9037320" y="3116580"/>
            <a:ext cx="2453640" cy="624840"/>
          </a:xfrm>
          <a:prstGeom prst="rect">
            <a:avLst/>
          </a:prstGeom>
          <a:solidFill>
            <a:srgbClr val="EAF0F4"/>
          </a:solidFill>
          <a:ln w="12700">
            <a:solidFill>
              <a:srgbClr val="EAF0F4"/>
            </a:solidFill>
            <a:prstDash val="solid"/>
          </a:ln>
        </p:spPr>
      </p:sp>
      <p:sp>
        <p:nvSpPr>
          <p:cNvPr id="28" name="Text 26"/>
          <p:cNvSpPr/>
          <p:nvPr/>
        </p:nvSpPr>
        <p:spPr>
          <a:xfrm>
            <a:off x="9174480" y="3246120"/>
            <a:ext cx="220980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15분</a:t>
            </a:r>
            <a:endParaRPr lang="ko-KR" sz="1560" dirty="0"/>
          </a:p>
        </p:txBody>
      </p:sp>
      <p:sp>
        <p:nvSpPr>
          <p:cNvPr id="29" name="Shape 27"/>
          <p:cNvSpPr/>
          <p:nvPr/>
        </p:nvSpPr>
        <p:spPr>
          <a:xfrm>
            <a:off x="579120" y="3741420"/>
            <a:ext cx="4267200" cy="624840"/>
          </a:xfrm>
          <a:prstGeom prst="rect">
            <a:avLst/>
          </a:prstGeom>
          <a:solidFill>
            <a:srgbClr val="FFFFFF"/>
          </a:solidFill>
          <a:ln w="12700">
            <a:solidFill>
              <a:srgbClr val="FFFFFF"/>
            </a:solidFill>
            <a:prstDash val="solid"/>
          </a:ln>
        </p:spPr>
      </p:sp>
      <p:sp>
        <p:nvSpPr>
          <p:cNvPr id="30" name="Text 28"/>
          <p:cNvSpPr/>
          <p:nvPr/>
        </p:nvSpPr>
        <p:spPr>
          <a:xfrm>
            <a:off x="716280" y="3870960"/>
            <a:ext cx="40233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hot → scan → 회복</a:t>
            </a:r>
            <a:endParaRPr lang="ko-KR" sz="1560" dirty="0"/>
          </a:p>
        </p:txBody>
      </p:sp>
      <p:sp>
        <p:nvSpPr>
          <p:cNvPr id="31" name="Shape 29"/>
          <p:cNvSpPr/>
          <p:nvPr/>
        </p:nvSpPr>
        <p:spPr>
          <a:xfrm>
            <a:off x="4846320" y="3741420"/>
            <a:ext cx="1905000" cy="624840"/>
          </a:xfrm>
          <a:prstGeom prst="rect">
            <a:avLst/>
          </a:prstGeom>
          <a:solidFill>
            <a:srgbClr val="FFFFFF"/>
          </a:solidFill>
          <a:ln w="12700">
            <a:solidFill>
              <a:srgbClr val="FFFFFF"/>
            </a:solidFill>
            <a:prstDash val="solid"/>
          </a:ln>
        </p:spPr>
      </p:sp>
      <p:sp>
        <p:nvSpPr>
          <p:cNvPr id="32" name="Text 30"/>
          <p:cNvSpPr/>
          <p:nvPr/>
        </p:nvSpPr>
        <p:spPr>
          <a:xfrm>
            <a:off x="4983480" y="3870960"/>
            <a:ext cx="16611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단계별 안정화 포함</a:t>
            </a:r>
            <a:endParaRPr lang="ko-KR" sz="1560" dirty="0"/>
          </a:p>
        </p:txBody>
      </p:sp>
      <p:sp>
        <p:nvSpPr>
          <p:cNvPr id="33" name="Shape 31"/>
          <p:cNvSpPr/>
          <p:nvPr/>
        </p:nvSpPr>
        <p:spPr>
          <a:xfrm>
            <a:off x="6751320" y="3741420"/>
            <a:ext cx="2286000" cy="624840"/>
          </a:xfrm>
          <a:prstGeom prst="rect">
            <a:avLst/>
          </a:prstGeom>
          <a:solidFill>
            <a:srgbClr val="FFFFFF"/>
          </a:solidFill>
          <a:ln w="12700">
            <a:solidFill>
              <a:srgbClr val="FFFFFF"/>
            </a:solidFill>
            <a:prstDash val="solid"/>
          </a:ln>
        </p:spPr>
      </p:sp>
      <p:sp>
        <p:nvSpPr>
          <p:cNvPr id="34" name="Text 32"/>
          <p:cNvSpPr/>
          <p:nvPr/>
        </p:nvSpPr>
        <p:spPr>
          <a:xfrm>
            <a:off x="6888480" y="3870960"/>
            <a:ext cx="20421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구간별 수집</a:t>
            </a:r>
            <a:endParaRPr lang="ko-KR" sz="1560" dirty="0"/>
          </a:p>
        </p:txBody>
      </p:sp>
      <p:sp>
        <p:nvSpPr>
          <p:cNvPr id="35" name="Shape 33"/>
          <p:cNvSpPr/>
          <p:nvPr/>
        </p:nvSpPr>
        <p:spPr>
          <a:xfrm>
            <a:off x="9037320" y="3741420"/>
            <a:ext cx="2453640" cy="624840"/>
          </a:xfrm>
          <a:prstGeom prst="rect">
            <a:avLst/>
          </a:prstGeom>
          <a:solidFill>
            <a:srgbClr val="FFFFFF"/>
          </a:solidFill>
          <a:ln w="12700">
            <a:solidFill>
              <a:srgbClr val="FFFFFF"/>
            </a:solidFill>
            <a:prstDash val="solid"/>
          </a:ln>
        </p:spPr>
      </p:sp>
      <p:sp>
        <p:nvSpPr>
          <p:cNvPr id="36" name="Text 34"/>
          <p:cNvSpPr/>
          <p:nvPr/>
        </p:nvSpPr>
        <p:spPr>
          <a:xfrm>
            <a:off x="9174480" y="3870960"/>
            <a:ext cx="220980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15–30분</a:t>
            </a:r>
            <a:endParaRPr lang="ko-KR" sz="1560" dirty="0"/>
          </a:p>
        </p:txBody>
      </p:sp>
      <p:sp>
        <p:nvSpPr>
          <p:cNvPr id="37" name="Shape 35"/>
          <p:cNvSpPr/>
          <p:nvPr/>
        </p:nvSpPr>
        <p:spPr>
          <a:xfrm>
            <a:off x="579120" y="4366260"/>
            <a:ext cx="4267200" cy="624840"/>
          </a:xfrm>
          <a:prstGeom prst="rect">
            <a:avLst/>
          </a:prstGeom>
          <a:solidFill>
            <a:srgbClr val="EAF0F4"/>
          </a:solidFill>
          <a:ln w="12700">
            <a:solidFill>
              <a:srgbClr val="EAF0F4"/>
            </a:solidFill>
            <a:prstDash val="solid"/>
          </a:ln>
        </p:spPr>
      </p:sp>
      <p:sp>
        <p:nvSpPr>
          <p:cNvPr id="38" name="Text 36"/>
          <p:cNvSpPr/>
          <p:nvPr/>
        </p:nvSpPr>
        <p:spPr>
          <a:xfrm>
            <a:off x="716280" y="4495800"/>
            <a:ext cx="40233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TPC-C 계열 개발 비교</a:t>
            </a:r>
            <a:endParaRPr lang="ko-KR" sz="1560" dirty="0"/>
          </a:p>
        </p:txBody>
      </p:sp>
      <p:sp>
        <p:nvSpPr>
          <p:cNvPr id="39" name="Shape 37"/>
          <p:cNvSpPr/>
          <p:nvPr/>
        </p:nvSpPr>
        <p:spPr>
          <a:xfrm>
            <a:off x="4846320" y="4366260"/>
            <a:ext cx="1905000" cy="624840"/>
          </a:xfrm>
          <a:prstGeom prst="rect">
            <a:avLst/>
          </a:prstGeom>
          <a:solidFill>
            <a:srgbClr val="EAF0F4"/>
          </a:solidFill>
          <a:ln w="12700">
            <a:solidFill>
              <a:srgbClr val="EAF0F4"/>
            </a:solidFill>
            <a:prstDash val="solid"/>
          </a:ln>
        </p:spPr>
      </p:sp>
      <p:sp>
        <p:nvSpPr>
          <p:cNvPr id="40" name="Text 38"/>
          <p:cNvSpPr/>
          <p:nvPr/>
        </p:nvSpPr>
        <p:spPr>
          <a:xfrm>
            <a:off x="4983480" y="4495800"/>
            <a:ext cx="16611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10–30분</a:t>
            </a:r>
            <a:endParaRPr lang="ko-KR" sz="1560" dirty="0"/>
          </a:p>
        </p:txBody>
      </p:sp>
      <p:sp>
        <p:nvSpPr>
          <p:cNvPr id="41" name="Shape 39"/>
          <p:cNvSpPr/>
          <p:nvPr/>
        </p:nvSpPr>
        <p:spPr>
          <a:xfrm>
            <a:off x="6751320" y="4366260"/>
            <a:ext cx="2286000" cy="624840"/>
          </a:xfrm>
          <a:prstGeom prst="rect">
            <a:avLst/>
          </a:prstGeom>
          <a:solidFill>
            <a:srgbClr val="EAF0F4"/>
          </a:solidFill>
          <a:ln w="12700">
            <a:solidFill>
              <a:srgbClr val="EAF0F4"/>
            </a:solidFill>
            <a:prstDash val="solid"/>
          </a:ln>
        </p:spPr>
      </p:sp>
      <p:sp>
        <p:nvSpPr>
          <p:cNvPr id="42" name="Text 40"/>
          <p:cNvSpPr/>
          <p:nvPr/>
        </p:nvSpPr>
        <p:spPr>
          <a:xfrm>
            <a:off x="6888480" y="4495800"/>
            <a:ext cx="20421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30–60분</a:t>
            </a:r>
            <a:endParaRPr lang="ko-KR" sz="1560" dirty="0"/>
          </a:p>
        </p:txBody>
      </p:sp>
      <p:sp>
        <p:nvSpPr>
          <p:cNvPr id="43" name="Shape 41"/>
          <p:cNvSpPr/>
          <p:nvPr/>
        </p:nvSpPr>
        <p:spPr>
          <a:xfrm>
            <a:off x="9037320" y="4366260"/>
            <a:ext cx="2453640" cy="624840"/>
          </a:xfrm>
          <a:prstGeom prst="rect">
            <a:avLst/>
          </a:prstGeom>
          <a:solidFill>
            <a:srgbClr val="EAF0F4"/>
          </a:solidFill>
          <a:ln w="12700">
            <a:solidFill>
              <a:srgbClr val="EAF0F4"/>
            </a:solidFill>
            <a:prstDash val="solid"/>
          </a:ln>
        </p:spPr>
      </p:sp>
      <p:sp>
        <p:nvSpPr>
          <p:cNvPr id="44" name="Text 42"/>
          <p:cNvSpPr/>
          <p:nvPr/>
        </p:nvSpPr>
        <p:spPr>
          <a:xfrm>
            <a:off x="9174480" y="4495800"/>
            <a:ext cx="220980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40–90분</a:t>
            </a:r>
            <a:endParaRPr lang="ko-KR" sz="1560" dirty="0"/>
          </a:p>
        </p:txBody>
      </p:sp>
      <p:sp>
        <p:nvSpPr>
          <p:cNvPr id="45" name="Shape 43"/>
          <p:cNvSpPr/>
          <p:nvPr/>
        </p:nvSpPr>
        <p:spPr>
          <a:xfrm>
            <a:off x="579120" y="4991100"/>
            <a:ext cx="4267200" cy="624840"/>
          </a:xfrm>
          <a:prstGeom prst="rect">
            <a:avLst/>
          </a:prstGeom>
          <a:solidFill>
            <a:srgbClr val="FFFFFF"/>
          </a:solidFill>
          <a:ln w="12700">
            <a:solidFill>
              <a:srgbClr val="FFFFFF"/>
            </a:solidFill>
            <a:prstDash val="solid"/>
          </a:ln>
        </p:spPr>
      </p:sp>
      <p:sp>
        <p:nvSpPr>
          <p:cNvPr id="46" name="Text 44"/>
          <p:cNvSpPr/>
          <p:nvPr/>
        </p:nvSpPr>
        <p:spPr>
          <a:xfrm>
            <a:off x="716280" y="5120640"/>
            <a:ext cx="40233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정식 TPC-C</a:t>
            </a:r>
            <a:endParaRPr lang="ko-KR" sz="1560" dirty="0"/>
          </a:p>
        </p:txBody>
      </p:sp>
      <p:sp>
        <p:nvSpPr>
          <p:cNvPr id="47" name="Shape 45"/>
          <p:cNvSpPr/>
          <p:nvPr/>
        </p:nvSpPr>
        <p:spPr>
          <a:xfrm>
            <a:off x="4846320" y="4991100"/>
            <a:ext cx="1905000" cy="624840"/>
          </a:xfrm>
          <a:prstGeom prst="rect">
            <a:avLst/>
          </a:prstGeom>
          <a:solidFill>
            <a:srgbClr val="FFFFFF"/>
          </a:solidFill>
          <a:ln w="12700">
            <a:solidFill>
              <a:srgbClr val="FFFFFF"/>
            </a:solidFill>
            <a:prstDash val="solid"/>
          </a:ln>
        </p:spPr>
      </p:sp>
      <p:sp>
        <p:nvSpPr>
          <p:cNvPr id="48" name="Text 46"/>
          <p:cNvSpPr/>
          <p:nvPr/>
        </p:nvSpPr>
        <p:spPr>
          <a:xfrm>
            <a:off x="4983480" y="5120640"/>
            <a:ext cx="16611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정상 상태까지</a:t>
            </a:r>
            <a:endParaRPr lang="ko-KR" sz="1560" dirty="0"/>
          </a:p>
        </p:txBody>
      </p:sp>
      <p:sp>
        <p:nvSpPr>
          <p:cNvPr id="49" name="Shape 47"/>
          <p:cNvSpPr/>
          <p:nvPr/>
        </p:nvSpPr>
        <p:spPr>
          <a:xfrm>
            <a:off x="6751320" y="4991100"/>
            <a:ext cx="2286000" cy="624840"/>
          </a:xfrm>
          <a:prstGeom prst="rect">
            <a:avLst/>
          </a:prstGeom>
          <a:solidFill>
            <a:srgbClr val="FFFFFF"/>
          </a:solidFill>
          <a:ln w="12700">
            <a:solidFill>
              <a:srgbClr val="FFFFFF"/>
            </a:solidFill>
            <a:prstDash val="solid"/>
          </a:ln>
        </p:spPr>
      </p:sp>
      <p:sp>
        <p:nvSpPr>
          <p:cNvPr id="50" name="Text 48"/>
          <p:cNvSpPr/>
          <p:nvPr/>
        </p:nvSpPr>
        <p:spPr>
          <a:xfrm>
            <a:off x="6888480" y="5120640"/>
            <a:ext cx="204216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최소 120분</a:t>
            </a:r>
            <a:endParaRPr lang="ko-KR" sz="1560" dirty="0"/>
          </a:p>
        </p:txBody>
      </p:sp>
      <p:sp>
        <p:nvSpPr>
          <p:cNvPr id="51" name="Shape 49"/>
          <p:cNvSpPr/>
          <p:nvPr/>
        </p:nvSpPr>
        <p:spPr>
          <a:xfrm>
            <a:off x="9037320" y="4991100"/>
            <a:ext cx="2453640" cy="624840"/>
          </a:xfrm>
          <a:prstGeom prst="rect">
            <a:avLst/>
          </a:prstGeom>
          <a:solidFill>
            <a:srgbClr val="FFFFFF"/>
          </a:solidFill>
          <a:ln w="12700">
            <a:solidFill>
              <a:srgbClr val="FFFFFF"/>
            </a:solidFill>
            <a:prstDash val="solid"/>
          </a:ln>
        </p:spPr>
      </p:sp>
      <p:sp>
        <p:nvSpPr>
          <p:cNvPr id="52" name="Text 50"/>
          <p:cNvSpPr/>
          <p:nvPr/>
        </p:nvSpPr>
        <p:spPr>
          <a:xfrm>
            <a:off x="9174480" y="5120640"/>
            <a:ext cx="2209800" cy="449580"/>
          </a:xfrm>
          <a:prstGeom prst="rect">
            <a:avLst/>
          </a:prstGeom>
          <a:noFill/>
          <a:ln/>
        </p:spPr>
        <p:txBody>
          <a:bodyPr wrap="square" lIns="0" tIns="0" rIns="0" bIns="0" rtlCol="0" anchor="t"/>
          <a:lstStyle/>
          <a:p>
            <a:pPr indent="0" marL="0">
              <a:lnSpc>
                <a:spcPct val="105000"/>
              </a:lnSpc>
              <a:buNone/>
            </a:pPr>
            <a:r>
              <a:rPr lang="ko-KR" altLang="en-US" sz="1560" dirty="0">
                <a:solidFill>
                  <a:srgbClr val="132D43"/>
                </a:solidFill>
                <a:latin typeface="Noto Sans CJK KR" pitchFamily="34" charset="0"/>
                <a:ea typeface="Noto Sans CJK KR" pitchFamily="34" charset="-122"/>
                <a:cs typeface="Noto Sans CJK KR" pitchFamily="34" charset="-120"/>
              </a:rPr>
              <a:t>120분 + 준비·warm-up</a:t>
            </a:r>
            <a:endParaRPr lang="ko-KR" sz="1560" dirty="0"/>
          </a:p>
        </p:txBody>
      </p:sp>
      <p:sp>
        <p:nvSpPr>
          <p:cNvPr id="53" name="Shape 51"/>
          <p:cNvSpPr/>
          <p:nvPr/>
        </p:nvSpPr>
        <p:spPr>
          <a:xfrm>
            <a:off x="579120" y="5615940"/>
            <a:ext cx="10911840" cy="7620"/>
          </a:xfrm>
          <a:prstGeom prst="rect">
            <a:avLst/>
          </a:prstGeom>
          <a:solidFill>
            <a:srgbClr val="D7E1E8"/>
          </a:solidFill>
          <a:ln w="12700">
            <a:solidFill>
              <a:srgbClr val="D7E1E8"/>
            </a:solidFill>
            <a:prstDash val="solid"/>
          </a:ln>
        </p:spPr>
      </p:sp>
      <p:sp>
        <p:nvSpPr>
          <p:cNvPr id="54" name="Text 52"/>
          <p:cNvSpPr/>
          <p:nvPr/>
        </p:nvSpPr>
        <p:spPr>
          <a:xfrm>
            <a:off x="609600" y="5775960"/>
            <a:ext cx="10744200" cy="297180"/>
          </a:xfrm>
          <a:prstGeom prst="rect">
            <a:avLst/>
          </a:prstGeom>
          <a:noFill/>
          <a:ln/>
        </p:spPr>
        <p:txBody>
          <a:bodyPr wrap="square" lIns="0" tIns="0" rIns="0" bIns="0" rtlCol="0" anchor="t"/>
          <a:lstStyle/>
          <a:p>
            <a:pPr indent="0" marL="0">
              <a:lnSpc>
                <a:spcPct val="105000"/>
              </a:lnSpc>
              <a:buNone/>
            </a:pPr>
            <a:r>
              <a:rPr lang="ko-KR" altLang="en-US" sz="1500" dirty="0">
                <a:solidFill>
                  <a:srgbClr val="52687B"/>
                </a:solidFill>
                <a:latin typeface="Noto Sans CJK KR" pitchFamily="34" charset="0"/>
                <a:ea typeface="Noto Sans CJK KR" pitchFamily="34" charset="-122"/>
                <a:cs typeface="Noto Sans CJK KR" pitchFamily="34" charset="-120"/>
              </a:rPr>
              <a:t>정식 TPC-C 최소 측정만 규격값이다. 나머지는 제안 예산이며 loading·index·호환성 개발은 제외한다.</a:t>
            </a:r>
            <a:endParaRPr lang="ko-KR" sz="1500" dirty="0"/>
          </a:p>
        </p:txBody>
      </p:sp>
      <p:sp>
        <p:nvSpPr>
          <p:cNvPr id="55" name="Shape 53"/>
          <p:cNvSpPr/>
          <p:nvPr/>
        </p:nvSpPr>
        <p:spPr>
          <a:xfrm>
            <a:off x="579120" y="6316980"/>
            <a:ext cx="10911840" cy="7620"/>
          </a:xfrm>
          <a:prstGeom prst="rect">
            <a:avLst/>
          </a:prstGeom>
          <a:solidFill>
            <a:srgbClr val="D7E1E8"/>
          </a:solidFill>
          <a:ln w="12700">
            <a:solidFill>
              <a:srgbClr val="D7E1E8"/>
            </a:solidFill>
            <a:prstDash val="solid"/>
          </a:ln>
        </p:spPr>
      </p:sp>
      <p:sp>
        <p:nvSpPr>
          <p:cNvPr id="56" name="Text 54"/>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57" name="Text 55"/>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18 / 25</a:t>
            </a:r>
            <a:endParaRPr lang="ko-KR" sz="1080" dirty="0"/>
          </a:p>
        </p:txBody>
      </p:sp>
      <p:sp>
        <p:nvSpPr>
          <p:cNvPr id="58" name="Text 56">
            <a:hlinkClick r:id="rId1" tooltip=""/>
          </p:cNvPr>
          <p:cNvSpPr/>
          <p:nvPr/>
        </p:nvSpPr>
        <p:spPr>
          <a:xfrm>
            <a:off x="5791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[S4] 근거</a:t>
            </a:r>
            <a:endParaRPr lang="ko-KR" sz="96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0283D"/>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0283D"/>
          </a:solidFill>
          <a:ln w="12700">
            <a:solidFill>
              <a:srgbClr val="10283D"/>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18  /  TOTAL RUN BUDGET</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FFFFFF"/>
                </a:solidFill>
                <a:latin typeface="Noto Sans CJK KR" pitchFamily="34" charset="0"/>
                <a:ea typeface="Noto Sans CJK KR" pitchFamily="34" charset="-122"/>
                <a:cs typeface="Noto Sans CJK KR" pitchFamily="34" charset="-120"/>
              </a:rPr>
              <a:t>3개 DB를 반복 비교하면 기본 matrix만 6시간 45분</a:t>
            </a:r>
            <a:endParaRPr lang="ko-KR" sz="3180" dirty="0"/>
          </a:p>
        </p:txBody>
      </p:sp>
      <p:sp>
        <p:nvSpPr>
          <p:cNvPr id="5" name="Text 3"/>
          <p:cNvSpPr/>
          <p:nvPr/>
        </p:nvSpPr>
        <p:spPr>
          <a:xfrm>
            <a:off x="609600" y="1927860"/>
            <a:ext cx="10744200" cy="701040"/>
          </a:xfrm>
          <a:prstGeom prst="rect">
            <a:avLst/>
          </a:prstGeom>
          <a:noFill/>
          <a:ln/>
        </p:spPr>
        <p:txBody>
          <a:bodyPr wrap="square" lIns="0" tIns="0" rIns="0" bIns="0" rtlCol="0" anchor="t"/>
          <a:lstStyle/>
          <a:p>
            <a:pPr indent="0" marL="0">
              <a:lnSpc>
                <a:spcPct val="105000"/>
              </a:lnSpc>
              <a:buNone/>
            </a:pPr>
            <a:r>
              <a:rPr lang="ko-KR" altLang="en-US" sz="3360" b="1" dirty="0">
                <a:solidFill>
                  <a:srgbClr val="FFFFFF"/>
                </a:solidFill>
                <a:latin typeface="Noto Sans CJK KR" pitchFamily="34" charset="0"/>
                <a:ea typeface="Noto Sans CJK KR" pitchFamily="34" charset="-122"/>
                <a:cs typeface="Noto Sans CJK KR" pitchFamily="34" charset="-120"/>
              </a:rPr>
              <a:t>3 DB × 3 비율 × 3 반복 × 15분</a:t>
            </a:r>
            <a:endParaRPr lang="ko-KR" sz="3360" dirty="0"/>
          </a:p>
        </p:txBody>
      </p:sp>
      <p:sp>
        <p:nvSpPr>
          <p:cNvPr id="6" name="Text 4"/>
          <p:cNvSpPr/>
          <p:nvPr/>
        </p:nvSpPr>
        <p:spPr>
          <a:xfrm>
            <a:off x="609600" y="2804160"/>
            <a:ext cx="10744200" cy="800100"/>
          </a:xfrm>
          <a:prstGeom prst="rect">
            <a:avLst/>
          </a:prstGeom>
          <a:noFill/>
          <a:ln/>
        </p:spPr>
        <p:txBody>
          <a:bodyPr wrap="square" lIns="0" tIns="0" rIns="0" bIns="0" rtlCol="0" anchor="t"/>
          <a:lstStyle/>
          <a:p>
            <a:pPr indent="0" marL="0">
              <a:lnSpc>
                <a:spcPct val="105000"/>
              </a:lnSpc>
              <a:buNone/>
            </a:pPr>
            <a:r>
              <a:rPr lang="ko-KR" altLang="en-US" sz="4020" b="1" dirty="0">
                <a:solidFill>
                  <a:srgbClr val="BD8737"/>
                </a:solidFill>
                <a:latin typeface="Noto Sans CJK KR" pitchFamily="34" charset="0"/>
                <a:ea typeface="Noto Sans CJK KR" pitchFamily="34" charset="-122"/>
                <a:cs typeface="Noto Sans CJK KR" pitchFamily="34" charset="-120"/>
              </a:rPr>
              <a:t>= 405분  /  6시간 45분</a:t>
            </a:r>
            <a:endParaRPr lang="ko-KR" sz="4020" dirty="0"/>
          </a:p>
        </p:txBody>
      </p:sp>
      <p:sp>
        <p:nvSpPr>
          <p:cNvPr id="7" name="Shape 5"/>
          <p:cNvSpPr/>
          <p:nvPr/>
        </p:nvSpPr>
        <p:spPr>
          <a:xfrm>
            <a:off x="579120" y="4030980"/>
            <a:ext cx="5303520" cy="1242060"/>
          </a:xfrm>
          <a:prstGeom prst="rect">
            <a:avLst/>
          </a:prstGeom>
          <a:solidFill>
            <a:srgbClr val="1A3A51"/>
          </a:solidFill>
          <a:ln w="12700">
            <a:solidFill>
              <a:srgbClr val="1A3A51"/>
            </a:solidFill>
            <a:prstDash val="solid"/>
          </a:ln>
        </p:spPr>
      </p:sp>
      <p:sp>
        <p:nvSpPr>
          <p:cNvPr id="8" name="Text 6"/>
          <p:cNvSpPr/>
          <p:nvPr/>
        </p:nvSpPr>
        <p:spPr>
          <a:xfrm>
            <a:off x="777240" y="4191000"/>
            <a:ext cx="48768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7FC6B6"/>
                </a:solidFill>
                <a:latin typeface="Noto Sans CJK KR" pitchFamily="34" charset="0"/>
                <a:ea typeface="Noto Sans CJK KR" pitchFamily="34" charset="-122"/>
                <a:cs typeface="Noto Sans CJK KR" pitchFamily="34" charset="-120"/>
              </a:rPr>
              <a:t>CUBRID 변경 전·후까지</a:t>
            </a:r>
            <a:endParaRPr lang="ko-KR" sz="1920" dirty="0"/>
          </a:p>
        </p:txBody>
      </p:sp>
      <p:sp>
        <p:nvSpPr>
          <p:cNvPr id="9" name="Text 7"/>
          <p:cNvSpPr/>
          <p:nvPr/>
        </p:nvSpPr>
        <p:spPr>
          <a:xfrm>
            <a:off x="777240" y="4632960"/>
            <a:ext cx="4876800" cy="502920"/>
          </a:xfrm>
          <a:prstGeom prst="rect">
            <a:avLst/>
          </a:prstGeom>
          <a:noFill/>
          <a:ln/>
        </p:spPr>
        <p:txBody>
          <a:bodyPr wrap="square" lIns="0" tIns="0" rIns="0" bIns="0" rtlCol="0" anchor="t"/>
          <a:lstStyle/>
          <a:p>
            <a:pPr indent="0" marL="0">
              <a:lnSpc>
                <a:spcPct val="105000"/>
              </a:lnSpc>
              <a:buNone/>
            </a:pPr>
            <a:r>
              <a:rPr lang="ko-KR" altLang="en-US" sz="1620" dirty="0">
                <a:solidFill>
                  <a:srgbClr val="FFFFFF"/>
                </a:solidFill>
                <a:latin typeface="Noto Sans CJK KR" pitchFamily="34" charset="0"/>
                <a:ea typeface="Noto Sans CJK KR" pitchFamily="34" charset="-122"/>
                <a:cs typeface="Noto Sans CJK KR" pitchFamily="34" charset="-120"/>
              </a:rPr>
              <a:t>후보 빌드 1개 추가: +2시간 15분 → 총 9시간</a:t>
            </a:r>
            <a:endParaRPr lang="ko-KR" sz="1620" dirty="0"/>
          </a:p>
        </p:txBody>
      </p:sp>
      <p:sp>
        <p:nvSpPr>
          <p:cNvPr id="10" name="Shape 8"/>
          <p:cNvSpPr/>
          <p:nvPr/>
        </p:nvSpPr>
        <p:spPr>
          <a:xfrm>
            <a:off x="6187440" y="4030980"/>
            <a:ext cx="5303520" cy="1242060"/>
          </a:xfrm>
          <a:prstGeom prst="rect">
            <a:avLst/>
          </a:prstGeom>
          <a:solidFill>
            <a:srgbClr val="1A3A51"/>
          </a:solidFill>
          <a:ln w="12700">
            <a:solidFill>
              <a:srgbClr val="1A3A51"/>
            </a:solidFill>
            <a:prstDash val="solid"/>
          </a:ln>
        </p:spPr>
      </p:sp>
      <p:sp>
        <p:nvSpPr>
          <p:cNvPr id="11" name="Text 9"/>
          <p:cNvSpPr/>
          <p:nvPr/>
        </p:nvSpPr>
        <p:spPr>
          <a:xfrm>
            <a:off x="6385560" y="4191000"/>
            <a:ext cx="48768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8AB9D9"/>
                </a:solidFill>
                <a:latin typeface="Noto Sans CJK KR" pitchFamily="34" charset="0"/>
                <a:ea typeface="Noto Sans CJK KR" pitchFamily="34" charset="-122"/>
                <a:cs typeface="Noto Sans CJK KR" pitchFamily="34" charset="-120"/>
              </a:rPr>
              <a:t>client 수 1 / 8 / 32로 확대</a:t>
            </a:r>
            <a:endParaRPr lang="ko-KR" sz="1920" dirty="0"/>
          </a:p>
        </p:txBody>
      </p:sp>
      <p:sp>
        <p:nvSpPr>
          <p:cNvPr id="12" name="Text 10"/>
          <p:cNvSpPr/>
          <p:nvPr/>
        </p:nvSpPr>
        <p:spPr>
          <a:xfrm>
            <a:off x="6385560" y="4632960"/>
            <a:ext cx="4876800" cy="502920"/>
          </a:xfrm>
          <a:prstGeom prst="rect">
            <a:avLst/>
          </a:prstGeom>
          <a:noFill/>
          <a:ln/>
        </p:spPr>
        <p:txBody>
          <a:bodyPr wrap="square" lIns="0" tIns="0" rIns="0" bIns="0" rtlCol="0" anchor="t"/>
          <a:lstStyle/>
          <a:p>
            <a:pPr indent="0" marL="0">
              <a:lnSpc>
                <a:spcPct val="105000"/>
              </a:lnSpc>
              <a:buNone/>
            </a:pPr>
            <a:r>
              <a:rPr lang="ko-KR" altLang="en-US" sz="1620" dirty="0">
                <a:solidFill>
                  <a:srgbClr val="FFFFFF"/>
                </a:solidFill>
                <a:latin typeface="Noto Sans CJK KR" pitchFamily="34" charset="0"/>
                <a:ea typeface="Noto Sans CJK KR" pitchFamily="34" charset="-122"/>
                <a:cs typeface="Noto Sans CJK KR" pitchFamily="34" charset="-120"/>
              </a:rPr>
              <a:t>기본 matrix의 3배: 20시간 15분</a:t>
            </a:r>
            <a:endParaRPr lang="ko-KR" sz="1620" dirty="0"/>
          </a:p>
        </p:txBody>
      </p:sp>
      <p:sp>
        <p:nvSpPr>
          <p:cNvPr id="13" name="Text 11"/>
          <p:cNvSpPr/>
          <p:nvPr/>
        </p:nvSpPr>
        <p:spPr>
          <a:xfrm>
            <a:off x="609600" y="5623560"/>
            <a:ext cx="10744200" cy="434340"/>
          </a:xfrm>
          <a:prstGeom prst="rect">
            <a:avLst/>
          </a:prstGeom>
          <a:noFill/>
          <a:ln/>
        </p:spPr>
        <p:txBody>
          <a:bodyPr wrap="square" lIns="0" tIns="0" rIns="0" bIns="0" rtlCol="0" anchor="t"/>
          <a:lstStyle/>
          <a:p>
            <a:pPr indent="0" marL="0">
              <a:lnSpc>
                <a:spcPct val="105000"/>
              </a:lnSpc>
              <a:buNone/>
            </a:pPr>
            <a:r>
              <a:rPr lang="ko-KR" altLang="en-US" sz="1500" dirty="0">
                <a:solidFill>
                  <a:srgbClr val="C5D6E2"/>
                </a:solidFill>
                <a:latin typeface="Noto Sans CJK KR" pitchFamily="34" charset="0"/>
                <a:ea typeface="Noto Sans CJK KR" pitchFamily="34" charset="-122"/>
                <a:cs typeface="Noto Sans CJK KR" pitchFamily="34" charset="-120"/>
              </a:rPr>
              <a:t>가정: read 부하 1종·동시성 1개·warm-up 5분+측정 10분. 직렬 실행. 준비·scan·TPC-C는 별도.</a:t>
            </a:r>
            <a:endParaRPr lang="ko-KR" sz="1500" dirty="0"/>
          </a:p>
        </p:txBody>
      </p:sp>
      <p:sp>
        <p:nvSpPr>
          <p:cNvPr id="14" name="Shape 12"/>
          <p:cNvSpPr/>
          <p:nvPr/>
        </p:nvSpPr>
        <p:spPr>
          <a:xfrm>
            <a:off x="579120" y="6316980"/>
            <a:ext cx="10911840" cy="7620"/>
          </a:xfrm>
          <a:prstGeom prst="rect">
            <a:avLst/>
          </a:prstGeom>
          <a:solidFill>
            <a:srgbClr val="355064"/>
          </a:solidFill>
          <a:ln w="12700">
            <a:solidFill>
              <a:srgbClr val="355064"/>
            </a:solidFill>
            <a:prstDash val="solid"/>
          </a:ln>
        </p:spPr>
      </p:sp>
      <p:sp>
        <p:nvSpPr>
          <p:cNvPr id="15" name="Text 13"/>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BACBD8"/>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16" name="Text 14"/>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BACBD8"/>
                </a:solidFill>
                <a:latin typeface="Noto Sans CJK KR" pitchFamily="34" charset="0"/>
                <a:ea typeface="Noto Sans CJK KR" pitchFamily="34" charset="-122"/>
                <a:cs typeface="Noto Sans CJK KR" pitchFamily="34" charset="-120"/>
              </a:rPr>
              <a:t>19 / 25</a:t>
            </a:r>
            <a:endParaRPr lang="ko-KR" sz="108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19  /  SETUP &amp; DATA LOADING</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준비 시간은 실행 시간과 별도 예산으로 잡는다</a:t>
            </a:r>
            <a:endParaRPr lang="ko-KR" sz="3180" dirty="0"/>
          </a:p>
        </p:txBody>
      </p:sp>
      <p:sp>
        <p:nvSpPr>
          <p:cNvPr id="5" name="Text 3"/>
          <p:cNvSpPr/>
          <p:nvPr/>
        </p:nvSpPr>
        <p:spPr>
          <a:xfrm>
            <a:off x="609600" y="1905000"/>
            <a:ext cx="52578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연동 준비</a:t>
            </a:r>
            <a:endParaRPr lang="ko-KR" sz="1920" dirty="0"/>
          </a:p>
        </p:txBody>
      </p:sp>
      <p:sp>
        <p:nvSpPr>
          <p:cNvPr id="6" name="Text 4"/>
          <p:cNvSpPr/>
          <p:nvPr/>
        </p:nvSpPr>
        <p:spPr>
          <a:xfrm>
            <a:off x="609600" y="2346960"/>
            <a:ext cx="52578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JDBC 연결·DDL·parameter binding·오류 처리</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트랜잭션·결과 일치·지연 측정 검증</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미지원 driver 이식은 별도 개발 작업</a:t>
            </a:r>
            <a:endParaRPr lang="ko-KR" sz="1740" dirty="0"/>
          </a:p>
        </p:txBody>
      </p:sp>
      <p:sp>
        <p:nvSpPr>
          <p:cNvPr id="7" name="Text 5"/>
          <p:cNvSpPr/>
          <p:nvPr/>
        </p:nvSpPr>
        <p:spPr>
          <a:xfrm>
            <a:off x="6362700" y="1905000"/>
            <a:ext cx="5105400" cy="36576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데이터 준비</a:t>
            </a:r>
            <a:endParaRPr lang="ko-KR" sz="1920" dirty="0"/>
          </a:p>
        </p:txBody>
      </p:sp>
      <p:sp>
        <p:nvSpPr>
          <p:cNvPr id="8" name="Text 6"/>
          <p:cNvSpPr/>
          <p:nvPr/>
        </p:nvSpPr>
        <p:spPr>
          <a:xfrm>
            <a:off x="6362700" y="2346960"/>
            <a:ext cx="5105400" cy="1158240"/>
          </a:xfrm>
          <a:prstGeom prst="rect">
            <a:avLst/>
          </a:prstGeom>
          <a:noFill/>
          <a:ln/>
        </p:spPr>
        <p:txBody>
          <a:bodyPr wrap="square" lIns="0" tIns="0" rIns="0" bIns="0" rtlCol="0" anchor="t"/>
          <a:lstStyle/>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데이터 생성·적재·index·통계 갱신</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동일 논리 데이터와 실제 footprint 기록</a:t>
            </a:r>
            <a:endParaRPr lang="ko-KR" sz="1740" dirty="0"/>
          </a:p>
          <a:p>
            <a:pPr indent="0" marL="0">
              <a:lnSpc>
                <a:spcPct val="105000"/>
              </a:lnSpc>
              <a:buNone/>
            </a:pPr>
            <a:r>
              <a:rPr lang="ko-KR" altLang="en-US" sz="1740" dirty="0">
                <a:solidFill>
                  <a:srgbClr val="52687B"/>
                </a:solidFill>
                <a:latin typeface="Noto Sans CJK KR" pitchFamily="34" charset="0"/>
                <a:ea typeface="Noto Sans CJK KR" pitchFamily="34" charset="-122"/>
                <a:cs typeface="Noto Sans CJK KR" pitchFamily="34" charset="-120"/>
              </a:rPr>
              <a:t>재실행을 위한 데이터 이미지 준비</a:t>
            </a:r>
            <a:endParaRPr lang="ko-KR" sz="1740" dirty="0"/>
          </a:p>
        </p:txBody>
      </p:sp>
      <p:sp>
        <p:nvSpPr>
          <p:cNvPr id="9" name="Shape 7"/>
          <p:cNvSpPr/>
          <p:nvPr/>
        </p:nvSpPr>
        <p:spPr>
          <a:xfrm>
            <a:off x="579120" y="3924300"/>
            <a:ext cx="10911840" cy="1310640"/>
          </a:xfrm>
          <a:prstGeom prst="rect">
            <a:avLst/>
          </a:prstGeom>
          <a:solidFill>
            <a:srgbClr val="FFFFFF"/>
          </a:solidFill>
          <a:ln w="7620">
            <a:solidFill>
              <a:srgbClr val="D7E1E8"/>
            </a:solidFill>
            <a:prstDash val="solid"/>
          </a:ln>
        </p:spPr>
      </p:sp>
      <p:sp>
        <p:nvSpPr>
          <p:cNvPr id="10" name="Text 8"/>
          <p:cNvSpPr/>
          <p:nvPr/>
        </p:nvSpPr>
        <p:spPr>
          <a:xfrm>
            <a:off x="784860" y="4084320"/>
            <a:ext cx="10439400" cy="35052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적재 시간의 계산 예시 — 실측 아님</a:t>
            </a:r>
            <a:endParaRPr lang="ko-KR" sz="1920" dirty="0"/>
          </a:p>
        </p:txBody>
      </p:sp>
      <p:sp>
        <p:nvSpPr>
          <p:cNvPr id="11" name="Text 9"/>
          <p:cNvSpPr/>
          <p:nvPr/>
        </p:nvSpPr>
        <p:spPr>
          <a:xfrm>
            <a:off x="784860" y="4579620"/>
            <a:ext cx="10363200" cy="457200"/>
          </a:xfrm>
          <a:prstGeom prst="rect">
            <a:avLst/>
          </a:prstGeom>
          <a:noFill/>
          <a:ln/>
        </p:spPr>
        <p:txBody>
          <a:bodyPr wrap="square" lIns="0" tIns="0" rIns="0" bIns="0" rtlCol="0" anchor="t"/>
          <a:lstStyle/>
          <a:p>
            <a:pPr indent="0" marL="0">
              <a:lnSpc>
                <a:spcPct val="105000"/>
              </a:lnSpc>
              <a:buNone/>
            </a:pPr>
            <a:r>
              <a:rPr lang="ko-KR" altLang="en-US" sz="1920" dirty="0">
                <a:solidFill>
                  <a:srgbClr val="132D43"/>
                </a:solidFill>
                <a:latin typeface="Noto Sans CJK KR" pitchFamily="34" charset="0"/>
                <a:ea typeface="Noto Sans CJK KR" pitchFamily="34" charset="-122"/>
                <a:cs typeface="Noto Sans CJK KR" pitchFamily="34" charset="-120"/>
              </a:rPr>
              <a:t>1,000만 rows ÷ 1만 rows/s ≈ 16.7분  /  1천 rows/s라면 ≈ 2시간 47분</a:t>
            </a:r>
            <a:endParaRPr lang="ko-KR" sz="1920" dirty="0"/>
          </a:p>
        </p:txBody>
      </p:sp>
      <p:sp>
        <p:nvSpPr>
          <p:cNvPr id="12" name="Shape 10"/>
          <p:cNvSpPr/>
          <p:nvPr/>
        </p:nvSpPr>
        <p:spPr>
          <a:xfrm>
            <a:off x="579120" y="5562600"/>
            <a:ext cx="10911840" cy="533400"/>
          </a:xfrm>
          <a:prstGeom prst="rect">
            <a:avLst/>
          </a:prstGeom>
          <a:solidFill>
            <a:srgbClr val="DDEFEA"/>
          </a:solidFill>
          <a:ln w="12700">
            <a:solidFill>
              <a:srgbClr val="DDEFEA"/>
            </a:solidFill>
            <a:prstDash val="solid"/>
          </a:ln>
        </p:spPr>
      </p:sp>
      <p:sp>
        <p:nvSpPr>
          <p:cNvPr id="13" name="Text 11"/>
          <p:cNvSpPr/>
          <p:nvPr/>
        </p:nvSpPr>
        <p:spPr>
          <a:xfrm>
            <a:off x="762000" y="5692140"/>
            <a:ext cx="10546080" cy="320040"/>
          </a:xfrm>
          <a:prstGeom prst="rect">
            <a:avLst/>
          </a:prstGeom>
          <a:noFill/>
          <a:ln/>
        </p:spPr>
        <p:txBody>
          <a:bodyPr wrap="square" lIns="0" tIns="0" rIns="0" bIns="0" rtlCol="0" anchor="t"/>
          <a:lstStyle/>
          <a:p>
            <a:pPr indent="0" marL="0">
              <a:lnSpc>
                <a:spcPct val="105000"/>
              </a:lnSpc>
              <a:buNone/>
            </a:pPr>
            <a:r>
              <a:rPr lang="ko-KR" altLang="en-US" sz="1620" b="1" dirty="0">
                <a:solidFill>
                  <a:srgbClr val="147D6D"/>
                </a:solidFill>
                <a:latin typeface="Noto Sans CJK KR" pitchFamily="34" charset="0"/>
                <a:ea typeface="Noto Sans CJK KR" pitchFamily="34" charset="-122"/>
                <a:cs typeface="Noto Sans CJK KR" pitchFamily="34" charset="-120"/>
              </a:rPr>
              <a:t>예시는 순수 적재만 계산했다. index·분석·동기화·호환성 수정과 각 DB의 준비 시간은 추가된다.</a:t>
            </a:r>
            <a:endParaRPr lang="ko-KR" sz="1620" dirty="0"/>
          </a:p>
        </p:txBody>
      </p:sp>
      <p:sp>
        <p:nvSpPr>
          <p:cNvPr id="14" name="Shape 12"/>
          <p:cNvSpPr/>
          <p:nvPr/>
        </p:nvSpPr>
        <p:spPr>
          <a:xfrm>
            <a:off x="579120" y="6316980"/>
            <a:ext cx="10911840" cy="7620"/>
          </a:xfrm>
          <a:prstGeom prst="rect">
            <a:avLst/>
          </a:prstGeom>
          <a:solidFill>
            <a:srgbClr val="D7E1E8"/>
          </a:solidFill>
          <a:ln w="12700">
            <a:solidFill>
              <a:srgbClr val="D7E1E8"/>
            </a:solidFill>
            <a:prstDash val="solid"/>
          </a:ln>
        </p:spPr>
      </p:sp>
      <p:sp>
        <p:nvSpPr>
          <p:cNvPr id="15" name="Text 13"/>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16" name="Text 14"/>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20 / 25</a:t>
            </a:r>
            <a:endParaRPr lang="ko-KR" sz="108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20  /  HOW TO REPORT RESULTS</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결과는 hit % 순위보다 비용과 응답을 함께 읽는다</a:t>
            </a:r>
            <a:endParaRPr lang="ko-KR" sz="3180" dirty="0"/>
          </a:p>
        </p:txBody>
      </p:sp>
      <p:sp>
        <p:nvSpPr>
          <p:cNvPr id="5" name="Shape 3"/>
          <p:cNvSpPr/>
          <p:nvPr/>
        </p:nvSpPr>
        <p:spPr>
          <a:xfrm>
            <a:off x="579120" y="1866900"/>
            <a:ext cx="2743200" cy="624840"/>
          </a:xfrm>
          <a:prstGeom prst="rect">
            <a:avLst/>
          </a:prstGeom>
          <a:solidFill>
            <a:srgbClr val="132D43"/>
          </a:solidFill>
          <a:ln w="12700">
            <a:solidFill>
              <a:srgbClr val="132D43"/>
            </a:solidFill>
            <a:prstDash val="solid"/>
          </a:ln>
        </p:spPr>
      </p:sp>
      <p:sp>
        <p:nvSpPr>
          <p:cNvPr id="6" name="Text 4"/>
          <p:cNvSpPr/>
          <p:nvPr/>
        </p:nvSpPr>
        <p:spPr>
          <a:xfrm>
            <a:off x="716280" y="1996440"/>
            <a:ext cx="2499360" cy="449580"/>
          </a:xfrm>
          <a:prstGeom prst="rect">
            <a:avLst/>
          </a:prstGeom>
          <a:noFill/>
          <a:ln/>
        </p:spPr>
        <p:txBody>
          <a:bodyPr wrap="square" lIns="0" tIns="0" rIns="0" bIns="0" rtlCol="0" anchor="t"/>
          <a:lstStyle/>
          <a:p>
            <a:pPr indent="0" marL="0">
              <a:lnSpc>
                <a:spcPct val="105000"/>
              </a:lnSpc>
              <a:buNone/>
            </a:pPr>
            <a:r>
              <a:rPr lang="ko-KR" altLang="en-US" sz="1500" b="1" dirty="0">
                <a:solidFill>
                  <a:srgbClr val="FFFFFF"/>
                </a:solidFill>
                <a:latin typeface="Noto Sans CJK KR" pitchFamily="34" charset="0"/>
                <a:ea typeface="Noto Sans CJK KR" pitchFamily="34" charset="-122"/>
                <a:cs typeface="Noto Sans CJK KR" pitchFamily="34" charset="-120"/>
              </a:rPr>
              <a:t>비교 항목</a:t>
            </a:r>
            <a:endParaRPr lang="ko-KR" sz="1500" dirty="0"/>
          </a:p>
        </p:txBody>
      </p:sp>
      <p:sp>
        <p:nvSpPr>
          <p:cNvPr id="7" name="Shape 5"/>
          <p:cNvSpPr/>
          <p:nvPr/>
        </p:nvSpPr>
        <p:spPr>
          <a:xfrm>
            <a:off x="3322320" y="1866900"/>
            <a:ext cx="3505200" cy="624840"/>
          </a:xfrm>
          <a:prstGeom prst="rect">
            <a:avLst/>
          </a:prstGeom>
          <a:solidFill>
            <a:srgbClr val="132D43"/>
          </a:solidFill>
          <a:ln w="12700">
            <a:solidFill>
              <a:srgbClr val="132D43"/>
            </a:solidFill>
            <a:prstDash val="solid"/>
          </a:ln>
        </p:spPr>
      </p:sp>
      <p:sp>
        <p:nvSpPr>
          <p:cNvPr id="8" name="Text 6"/>
          <p:cNvSpPr/>
          <p:nvPr/>
        </p:nvSpPr>
        <p:spPr>
          <a:xfrm>
            <a:off x="3459480" y="1996440"/>
            <a:ext cx="3261360" cy="449580"/>
          </a:xfrm>
          <a:prstGeom prst="rect">
            <a:avLst/>
          </a:prstGeom>
          <a:noFill/>
          <a:ln/>
        </p:spPr>
        <p:txBody>
          <a:bodyPr wrap="square" lIns="0" tIns="0" rIns="0" bIns="0" rtlCol="0" anchor="t"/>
          <a:lstStyle/>
          <a:p>
            <a:pPr indent="0" marL="0">
              <a:lnSpc>
                <a:spcPct val="105000"/>
              </a:lnSpc>
              <a:buNone/>
            </a:pPr>
            <a:r>
              <a:rPr lang="ko-KR" altLang="en-US" sz="1500" b="1" dirty="0">
                <a:solidFill>
                  <a:srgbClr val="FFFFFF"/>
                </a:solidFill>
                <a:latin typeface="Noto Sans CJK KR" pitchFamily="34" charset="0"/>
                <a:ea typeface="Noto Sans CJK KR" pitchFamily="34" charset="-122"/>
                <a:cs typeface="Noto Sans CJK KR" pitchFamily="34" charset="-120"/>
              </a:rPr>
              <a:t>표시 단위</a:t>
            </a:r>
            <a:endParaRPr lang="ko-KR" sz="1500" dirty="0"/>
          </a:p>
        </p:txBody>
      </p:sp>
      <p:sp>
        <p:nvSpPr>
          <p:cNvPr id="9" name="Shape 7"/>
          <p:cNvSpPr/>
          <p:nvPr/>
        </p:nvSpPr>
        <p:spPr>
          <a:xfrm>
            <a:off x="6827520" y="1866900"/>
            <a:ext cx="4663440" cy="624840"/>
          </a:xfrm>
          <a:prstGeom prst="rect">
            <a:avLst/>
          </a:prstGeom>
          <a:solidFill>
            <a:srgbClr val="132D43"/>
          </a:solidFill>
          <a:ln w="12700">
            <a:solidFill>
              <a:srgbClr val="132D43"/>
            </a:solidFill>
            <a:prstDash val="solid"/>
          </a:ln>
        </p:spPr>
      </p:sp>
      <p:sp>
        <p:nvSpPr>
          <p:cNvPr id="10" name="Text 8"/>
          <p:cNvSpPr/>
          <p:nvPr/>
        </p:nvSpPr>
        <p:spPr>
          <a:xfrm>
            <a:off x="6964680" y="1996440"/>
            <a:ext cx="4419600" cy="449580"/>
          </a:xfrm>
          <a:prstGeom prst="rect">
            <a:avLst/>
          </a:prstGeom>
          <a:noFill/>
          <a:ln/>
        </p:spPr>
        <p:txBody>
          <a:bodyPr wrap="square" lIns="0" tIns="0" rIns="0" bIns="0" rtlCol="0" anchor="t"/>
          <a:lstStyle/>
          <a:p>
            <a:pPr indent="0" marL="0">
              <a:lnSpc>
                <a:spcPct val="105000"/>
              </a:lnSpc>
              <a:buNone/>
            </a:pPr>
            <a:r>
              <a:rPr lang="ko-KR" altLang="en-US" sz="1500" b="1" dirty="0">
                <a:solidFill>
                  <a:srgbClr val="FFFFFF"/>
                </a:solidFill>
                <a:latin typeface="Noto Sans CJK KR" pitchFamily="34" charset="0"/>
                <a:ea typeface="Noto Sans CJK KR" pitchFamily="34" charset="-122"/>
                <a:cs typeface="Noto Sans CJK KR" pitchFamily="34" charset="-120"/>
              </a:rPr>
              <a:t>해석</a:t>
            </a:r>
            <a:endParaRPr lang="ko-KR" sz="1500" dirty="0"/>
          </a:p>
        </p:txBody>
      </p:sp>
      <p:sp>
        <p:nvSpPr>
          <p:cNvPr id="11" name="Shape 9"/>
          <p:cNvSpPr/>
          <p:nvPr/>
        </p:nvSpPr>
        <p:spPr>
          <a:xfrm>
            <a:off x="579120" y="2491740"/>
            <a:ext cx="2743200" cy="624840"/>
          </a:xfrm>
          <a:prstGeom prst="rect">
            <a:avLst/>
          </a:prstGeom>
          <a:solidFill>
            <a:srgbClr val="FFFFFF"/>
          </a:solidFill>
          <a:ln w="12700">
            <a:solidFill>
              <a:srgbClr val="FFFFFF"/>
            </a:solidFill>
            <a:prstDash val="solid"/>
          </a:ln>
        </p:spPr>
      </p:sp>
      <p:sp>
        <p:nvSpPr>
          <p:cNvPr id="12" name="Text 10"/>
          <p:cNvSpPr/>
          <p:nvPr/>
        </p:nvSpPr>
        <p:spPr>
          <a:xfrm>
            <a:off x="716280" y="2621280"/>
            <a:ext cx="2499360" cy="44958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업무 성능</a:t>
            </a:r>
            <a:endParaRPr lang="ko-KR" sz="1500" dirty="0"/>
          </a:p>
        </p:txBody>
      </p:sp>
      <p:sp>
        <p:nvSpPr>
          <p:cNvPr id="13" name="Shape 11"/>
          <p:cNvSpPr/>
          <p:nvPr/>
        </p:nvSpPr>
        <p:spPr>
          <a:xfrm>
            <a:off x="3322320" y="2491740"/>
            <a:ext cx="3505200" cy="624840"/>
          </a:xfrm>
          <a:prstGeom prst="rect">
            <a:avLst/>
          </a:prstGeom>
          <a:solidFill>
            <a:srgbClr val="FFFFFF"/>
          </a:solidFill>
          <a:ln w="12700">
            <a:solidFill>
              <a:srgbClr val="FFFFFF"/>
            </a:solidFill>
            <a:prstDash val="solid"/>
          </a:ln>
        </p:spPr>
      </p:sp>
      <p:sp>
        <p:nvSpPr>
          <p:cNvPr id="14" name="Text 12"/>
          <p:cNvSpPr/>
          <p:nvPr/>
        </p:nvSpPr>
        <p:spPr>
          <a:xfrm>
            <a:off x="3459480" y="2621280"/>
            <a:ext cx="3261360" cy="44958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성공 ops/s · p95/p99 ms</a:t>
            </a:r>
            <a:endParaRPr lang="ko-KR" sz="1500" dirty="0"/>
          </a:p>
        </p:txBody>
      </p:sp>
      <p:sp>
        <p:nvSpPr>
          <p:cNvPr id="15" name="Shape 13"/>
          <p:cNvSpPr/>
          <p:nvPr/>
        </p:nvSpPr>
        <p:spPr>
          <a:xfrm>
            <a:off x="6827520" y="2491740"/>
            <a:ext cx="4663440" cy="624840"/>
          </a:xfrm>
          <a:prstGeom prst="rect">
            <a:avLst/>
          </a:prstGeom>
          <a:solidFill>
            <a:srgbClr val="FFFFFF"/>
          </a:solidFill>
          <a:ln w="12700">
            <a:solidFill>
              <a:srgbClr val="FFFFFF"/>
            </a:solidFill>
            <a:prstDash val="solid"/>
          </a:ln>
        </p:spPr>
      </p:sp>
      <p:sp>
        <p:nvSpPr>
          <p:cNvPr id="16" name="Text 14"/>
          <p:cNvSpPr/>
          <p:nvPr/>
        </p:nvSpPr>
        <p:spPr>
          <a:xfrm>
            <a:off x="6964680" y="2621280"/>
            <a:ext cx="4419600" cy="44958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최대 처리량 / 같은 요청률의 지연을 분리</a:t>
            </a:r>
            <a:endParaRPr lang="ko-KR" sz="1500" dirty="0"/>
          </a:p>
        </p:txBody>
      </p:sp>
      <p:sp>
        <p:nvSpPr>
          <p:cNvPr id="17" name="Shape 15"/>
          <p:cNvSpPr/>
          <p:nvPr/>
        </p:nvSpPr>
        <p:spPr>
          <a:xfrm>
            <a:off x="579120" y="3116580"/>
            <a:ext cx="2743200" cy="624840"/>
          </a:xfrm>
          <a:prstGeom prst="rect">
            <a:avLst/>
          </a:prstGeom>
          <a:solidFill>
            <a:srgbClr val="EAF0F4"/>
          </a:solidFill>
          <a:ln w="12700">
            <a:solidFill>
              <a:srgbClr val="EAF0F4"/>
            </a:solidFill>
            <a:prstDash val="solid"/>
          </a:ln>
        </p:spPr>
      </p:sp>
      <p:sp>
        <p:nvSpPr>
          <p:cNvPr id="18" name="Text 16"/>
          <p:cNvSpPr/>
          <p:nvPr/>
        </p:nvSpPr>
        <p:spPr>
          <a:xfrm>
            <a:off x="716280" y="3246120"/>
            <a:ext cx="2499360" cy="44958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캐시 동작</a:t>
            </a:r>
            <a:endParaRPr lang="ko-KR" sz="1500" dirty="0"/>
          </a:p>
        </p:txBody>
      </p:sp>
      <p:sp>
        <p:nvSpPr>
          <p:cNvPr id="19" name="Shape 17"/>
          <p:cNvSpPr/>
          <p:nvPr/>
        </p:nvSpPr>
        <p:spPr>
          <a:xfrm>
            <a:off x="3322320" y="3116580"/>
            <a:ext cx="3505200" cy="624840"/>
          </a:xfrm>
          <a:prstGeom prst="rect">
            <a:avLst/>
          </a:prstGeom>
          <a:solidFill>
            <a:srgbClr val="EAF0F4"/>
          </a:solidFill>
          <a:ln w="12700">
            <a:solidFill>
              <a:srgbClr val="EAF0F4"/>
            </a:solidFill>
            <a:prstDash val="solid"/>
          </a:ln>
        </p:spPr>
      </p:sp>
      <p:sp>
        <p:nvSpPr>
          <p:cNvPr id="20" name="Text 18"/>
          <p:cNvSpPr/>
          <p:nvPr/>
        </p:nvSpPr>
        <p:spPr>
          <a:xfrm>
            <a:off x="3459480" y="3246120"/>
            <a:ext cx="3261360" cy="44958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hit/miss proxy · 엔진 read/op</a:t>
            </a:r>
            <a:endParaRPr lang="ko-KR" sz="1500" dirty="0"/>
          </a:p>
        </p:txBody>
      </p:sp>
      <p:sp>
        <p:nvSpPr>
          <p:cNvPr id="21" name="Shape 19"/>
          <p:cNvSpPr/>
          <p:nvPr/>
        </p:nvSpPr>
        <p:spPr>
          <a:xfrm>
            <a:off x="6827520" y="3116580"/>
            <a:ext cx="4663440" cy="624840"/>
          </a:xfrm>
          <a:prstGeom prst="rect">
            <a:avLst/>
          </a:prstGeom>
          <a:solidFill>
            <a:srgbClr val="EAF0F4"/>
          </a:solidFill>
          <a:ln w="12700">
            <a:solidFill>
              <a:srgbClr val="EAF0F4"/>
            </a:solidFill>
            <a:prstDash val="solid"/>
          </a:ln>
        </p:spPr>
      </p:sp>
      <p:sp>
        <p:nvSpPr>
          <p:cNvPr id="22" name="Text 20"/>
          <p:cNvSpPr/>
          <p:nvPr/>
        </p:nvSpPr>
        <p:spPr>
          <a:xfrm>
            <a:off x="6964680" y="3246120"/>
            <a:ext cx="4419600" cy="44958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왜 성능 차이가 생겼는가</a:t>
            </a:r>
            <a:endParaRPr lang="ko-KR" sz="1500" dirty="0"/>
          </a:p>
        </p:txBody>
      </p:sp>
      <p:sp>
        <p:nvSpPr>
          <p:cNvPr id="23" name="Shape 21"/>
          <p:cNvSpPr/>
          <p:nvPr/>
        </p:nvSpPr>
        <p:spPr>
          <a:xfrm>
            <a:off x="579120" y="3741420"/>
            <a:ext cx="2743200" cy="624840"/>
          </a:xfrm>
          <a:prstGeom prst="rect">
            <a:avLst/>
          </a:prstGeom>
          <a:solidFill>
            <a:srgbClr val="FFFFFF"/>
          </a:solidFill>
          <a:ln w="12700">
            <a:solidFill>
              <a:srgbClr val="FFFFFF"/>
            </a:solidFill>
            <a:prstDash val="solid"/>
          </a:ln>
        </p:spPr>
      </p:sp>
      <p:sp>
        <p:nvSpPr>
          <p:cNvPr id="24" name="Text 22"/>
          <p:cNvSpPr/>
          <p:nvPr/>
        </p:nvSpPr>
        <p:spPr>
          <a:xfrm>
            <a:off x="716280" y="3870960"/>
            <a:ext cx="2499360" cy="44958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I/O 비용</a:t>
            </a:r>
            <a:endParaRPr lang="ko-KR" sz="1500" dirty="0"/>
          </a:p>
        </p:txBody>
      </p:sp>
      <p:sp>
        <p:nvSpPr>
          <p:cNvPr id="25" name="Shape 23"/>
          <p:cNvSpPr/>
          <p:nvPr/>
        </p:nvSpPr>
        <p:spPr>
          <a:xfrm>
            <a:off x="3322320" y="3741420"/>
            <a:ext cx="3505200" cy="624840"/>
          </a:xfrm>
          <a:prstGeom prst="rect">
            <a:avLst/>
          </a:prstGeom>
          <a:solidFill>
            <a:srgbClr val="FFFFFF"/>
          </a:solidFill>
          <a:ln w="12700">
            <a:solidFill>
              <a:srgbClr val="FFFFFF"/>
            </a:solidFill>
            <a:prstDash val="solid"/>
          </a:ln>
        </p:spPr>
      </p:sp>
      <p:sp>
        <p:nvSpPr>
          <p:cNvPr id="26" name="Text 24"/>
          <p:cNvSpPr/>
          <p:nvPr/>
        </p:nvSpPr>
        <p:spPr>
          <a:xfrm>
            <a:off x="3459480" y="3870960"/>
            <a:ext cx="3261360" cy="44958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장치 read bytes/op · IOPS · 지연</a:t>
            </a:r>
            <a:endParaRPr lang="ko-KR" sz="1500" dirty="0"/>
          </a:p>
        </p:txBody>
      </p:sp>
      <p:sp>
        <p:nvSpPr>
          <p:cNvPr id="27" name="Shape 25"/>
          <p:cNvSpPr/>
          <p:nvPr/>
        </p:nvSpPr>
        <p:spPr>
          <a:xfrm>
            <a:off x="6827520" y="3741420"/>
            <a:ext cx="4663440" cy="624840"/>
          </a:xfrm>
          <a:prstGeom prst="rect">
            <a:avLst/>
          </a:prstGeom>
          <a:solidFill>
            <a:srgbClr val="FFFFFF"/>
          </a:solidFill>
          <a:ln w="12700">
            <a:solidFill>
              <a:srgbClr val="FFFFFF"/>
            </a:solidFill>
            <a:prstDash val="solid"/>
          </a:ln>
        </p:spPr>
      </p:sp>
      <p:sp>
        <p:nvSpPr>
          <p:cNvPr id="28" name="Text 26"/>
          <p:cNvSpPr/>
          <p:nvPr/>
        </p:nvSpPr>
        <p:spPr>
          <a:xfrm>
            <a:off x="6964680" y="3870960"/>
            <a:ext cx="4419600" cy="44958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OS cache 아래 장치 비용은 얼마인가</a:t>
            </a:r>
            <a:endParaRPr lang="ko-KR" sz="1500" dirty="0"/>
          </a:p>
        </p:txBody>
      </p:sp>
      <p:sp>
        <p:nvSpPr>
          <p:cNvPr id="29" name="Shape 27"/>
          <p:cNvSpPr/>
          <p:nvPr/>
        </p:nvSpPr>
        <p:spPr>
          <a:xfrm>
            <a:off x="579120" y="4366260"/>
            <a:ext cx="2743200" cy="624840"/>
          </a:xfrm>
          <a:prstGeom prst="rect">
            <a:avLst/>
          </a:prstGeom>
          <a:solidFill>
            <a:srgbClr val="EAF0F4"/>
          </a:solidFill>
          <a:ln w="12700">
            <a:solidFill>
              <a:srgbClr val="EAF0F4"/>
            </a:solidFill>
            <a:prstDash val="solid"/>
          </a:ln>
        </p:spPr>
      </p:sp>
      <p:sp>
        <p:nvSpPr>
          <p:cNvPr id="30" name="Text 28"/>
          <p:cNvSpPr/>
          <p:nvPr/>
        </p:nvSpPr>
        <p:spPr>
          <a:xfrm>
            <a:off x="716280" y="4495800"/>
            <a:ext cx="2499360" cy="44958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CPU·메모리</a:t>
            </a:r>
            <a:endParaRPr lang="ko-KR" sz="1500" dirty="0"/>
          </a:p>
        </p:txBody>
      </p:sp>
      <p:sp>
        <p:nvSpPr>
          <p:cNvPr id="31" name="Shape 29"/>
          <p:cNvSpPr/>
          <p:nvPr/>
        </p:nvSpPr>
        <p:spPr>
          <a:xfrm>
            <a:off x="3322320" y="4366260"/>
            <a:ext cx="3505200" cy="624840"/>
          </a:xfrm>
          <a:prstGeom prst="rect">
            <a:avLst/>
          </a:prstGeom>
          <a:solidFill>
            <a:srgbClr val="EAF0F4"/>
          </a:solidFill>
          <a:ln w="12700">
            <a:solidFill>
              <a:srgbClr val="EAF0F4"/>
            </a:solidFill>
            <a:prstDash val="solid"/>
          </a:ln>
        </p:spPr>
      </p:sp>
      <p:sp>
        <p:nvSpPr>
          <p:cNvPr id="32" name="Text 30"/>
          <p:cNvSpPr/>
          <p:nvPr/>
        </p:nvSpPr>
        <p:spPr>
          <a:xfrm>
            <a:off x="3459480" y="4495800"/>
            <a:ext cx="3261360" cy="44958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CPU 시간/op · 총 RSS/메모리</a:t>
            </a:r>
            <a:endParaRPr lang="ko-KR" sz="1500" dirty="0"/>
          </a:p>
        </p:txBody>
      </p:sp>
      <p:sp>
        <p:nvSpPr>
          <p:cNvPr id="33" name="Shape 31"/>
          <p:cNvSpPr/>
          <p:nvPr/>
        </p:nvSpPr>
        <p:spPr>
          <a:xfrm>
            <a:off x="6827520" y="4366260"/>
            <a:ext cx="4663440" cy="624840"/>
          </a:xfrm>
          <a:prstGeom prst="rect">
            <a:avLst/>
          </a:prstGeom>
          <a:solidFill>
            <a:srgbClr val="EAF0F4"/>
          </a:solidFill>
          <a:ln w="12700">
            <a:solidFill>
              <a:srgbClr val="EAF0F4"/>
            </a:solidFill>
            <a:prstDash val="solid"/>
          </a:ln>
        </p:spPr>
      </p:sp>
      <p:sp>
        <p:nvSpPr>
          <p:cNvPr id="34" name="Text 32"/>
          <p:cNvSpPr/>
          <p:nvPr/>
        </p:nvSpPr>
        <p:spPr>
          <a:xfrm>
            <a:off x="6964680" y="4495800"/>
            <a:ext cx="4419600" cy="44958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자원을 얼마나 쓰는가</a:t>
            </a:r>
            <a:endParaRPr lang="ko-KR" sz="1500" dirty="0"/>
          </a:p>
        </p:txBody>
      </p:sp>
      <p:sp>
        <p:nvSpPr>
          <p:cNvPr id="35" name="Shape 33"/>
          <p:cNvSpPr/>
          <p:nvPr/>
        </p:nvSpPr>
        <p:spPr>
          <a:xfrm>
            <a:off x="579120" y="4991100"/>
            <a:ext cx="2743200" cy="624840"/>
          </a:xfrm>
          <a:prstGeom prst="rect">
            <a:avLst/>
          </a:prstGeom>
          <a:solidFill>
            <a:srgbClr val="FFFFFF"/>
          </a:solidFill>
          <a:ln w="12700">
            <a:solidFill>
              <a:srgbClr val="FFFFFF"/>
            </a:solidFill>
            <a:prstDash val="solid"/>
          </a:ln>
        </p:spPr>
      </p:sp>
      <p:sp>
        <p:nvSpPr>
          <p:cNvPr id="36" name="Text 34"/>
          <p:cNvSpPr/>
          <p:nvPr/>
        </p:nvSpPr>
        <p:spPr>
          <a:xfrm>
            <a:off x="716280" y="5120640"/>
            <a:ext cx="2499360" cy="44958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재현성·정합성</a:t>
            </a:r>
            <a:endParaRPr lang="ko-KR" sz="1500" dirty="0"/>
          </a:p>
        </p:txBody>
      </p:sp>
      <p:sp>
        <p:nvSpPr>
          <p:cNvPr id="37" name="Shape 35"/>
          <p:cNvSpPr/>
          <p:nvPr/>
        </p:nvSpPr>
        <p:spPr>
          <a:xfrm>
            <a:off x="3322320" y="4991100"/>
            <a:ext cx="3505200" cy="624840"/>
          </a:xfrm>
          <a:prstGeom prst="rect">
            <a:avLst/>
          </a:prstGeom>
          <a:solidFill>
            <a:srgbClr val="FFFFFF"/>
          </a:solidFill>
          <a:ln w="12700">
            <a:solidFill>
              <a:srgbClr val="FFFFFF"/>
            </a:solidFill>
            <a:prstDash val="solid"/>
          </a:ln>
        </p:spPr>
      </p:sp>
      <p:sp>
        <p:nvSpPr>
          <p:cNvPr id="38" name="Text 36"/>
          <p:cNvSpPr/>
          <p:nvPr/>
        </p:nvSpPr>
        <p:spPr>
          <a:xfrm>
            <a:off x="3459480" y="5120640"/>
            <a:ext cx="3261360" cy="44958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반복 범위 · 오류율 · 결과 검증</a:t>
            </a:r>
            <a:endParaRPr lang="ko-KR" sz="1500" dirty="0"/>
          </a:p>
        </p:txBody>
      </p:sp>
      <p:sp>
        <p:nvSpPr>
          <p:cNvPr id="39" name="Shape 37"/>
          <p:cNvSpPr/>
          <p:nvPr/>
        </p:nvSpPr>
        <p:spPr>
          <a:xfrm>
            <a:off x="6827520" y="4991100"/>
            <a:ext cx="4663440" cy="624840"/>
          </a:xfrm>
          <a:prstGeom prst="rect">
            <a:avLst/>
          </a:prstGeom>
          <a:solidFill>
            <a:srgbClr val="FFFFFF"/>
          </a:solidFill>
          <a:ln w="12700">
            <a:solidFill>
              <a:srgbClr val="FFFFFF"/>
            </a:solidFill>
            <a:prstDash val="solid"/>
          </a:ln>
        </p:spPr>
      </p:sp>
      <p:sp>
        <p:nvSpPr>
          <p:cNvPr id="40" name="Text 38"/>
          <p:cNvSpPr/>
          <p:nvPr/>
        </p:nvSpPr>
        <p:spPr>
          <a:xfrm>
            <a:off x="6964680" y="5120640"/>
            <a:ext cx="4419600" cy="449580"/>
          </a:xfrm>
          <a:prstGeom prst="rect">
            <a:avLst/>
          </a:prstGeom>
          <a:noFill/>
          <a:ln/>
        </p:spPr>
        <p:txBody>
          <a:bodyPr wrap="square" lIns="0" tIns="0" rIns="0" bIns="0" rtlCol="0" anchor="t"/>
          <a:lstStyle/>
          <a:p>
            <a:pPr indent="0" marL="0">
              <a:lnSpc>
                <a:spcPct val="105000"/>
              </a:lnSpc>
              <a:buNone/>
            </a:pPr>
            <a:r>
              <a:rPr lang="ko-KR" altLang="en-US" sz="1500" dirty="0">
                <a:solidFill>
                  <a:srgbClr val="132D43"/>
                </a:solidFill>
                <a:latin typeface="Noto Sans CJK KR" pitchFamily="34" charset="0"/>
                <a:ea typeface="Noto Sans CJK KR" pitchFamily="34" charset="-122"/>
                <a:cs typeface="Noto Sans CJK KR" pitchFamily="34" charset="-120"/>
              </a:rPr>
              <a:t>차이가 안정적이고 유효한가</a:t>
            </a:r>
            <a:endParaRPr lang="ko-KR" sz="1500" dirty="0"/>
          </a:p>
        </p:txBody>
      </p:sp>
      <p:sp>
        <p:nvSpPr>
          <p:cNvPr id="41" name="Shape 39"/>
          <p:cNvSpPr/>
          <p:nvPr/>
        </p:nvSpPr>
        <p:spPr>
          <a:xfrm>
            <a:off x="579120" y="5615940"/>
            <a:ext cx="10911840" cy="7620"/>
          </a:xfrm>
          <a:prstGeom prst="rect">
            <a:avLst/>
          </a:prstGeom>
          <a:solidFill>
            <a:srgbClr val="D7E1E8"/>
          </a:solidFill>
          <a:ln w="12700">
            <a:solidFill>
              <a:srgbClr val="D7E1E8"/>
            </a:solidFill>
            <a:prstDash val="solid"/>
          </a:ln>
        </p:spPr>
      </p:sp>
      <p:sp>
        <p:nvSpPr>
          <p:cNvPr id="42" name="Text 40"/>
          <p:cNvSpPr/>
          <p:nvPr/>
        </p:nvSpPr>
        <p:spPr>
          <a:xfrm>
            <a:off x="609600" y="5753100"/>
            <a:ext cx="10668000" cy="342900"/>
          </a:xfrm>
          <a:prstGeom prst="rect">
            <a:avLst/>
          </a:prstGeom>
          <a:noFill/>
          <a:ln/>
        </p:spPr>
        <p:txBody>
          <a:bodyPr wrap="square" lIns="0" tIns="0" rIns="0" bIns="0" rtlCol="0" anchor="t"/>
          <a:lstStyle/>
          <a:p>
            <a:pPr indent="0" marL="0">
              <a:lnSpc>
                <a:spcPct val="105000"/>
              </a:lnSpc>
              <a:buNone/>
            </a:pPr>
            <a:r>
              <a:rPr lang="ko-KR" altLang="en-US" sz="1440" dirty="0">
                <a:solidFill>
                  <a:srgbClr val="52687B"/>
                </a:solidFill>
                <a:latin typeface="Noto Sans CJK KR" pitchFamily="34" charset="0"/>
                <a:ea typeface="Noto Sans CJK KR" pitchFamily="34" charset="-122"/>
                <a:cs typeface="Noto Sans CJK KR" pitchFamily="34" charset="-120"/>
              </a:rPr>
              <a:t>페이지 크기·내부 접근 횟수가 다르므로 엔진 read/op도 진단값이다. 공통 업무 성능과 함께 해석한다.</a:t>
            </a:r>
            <a:endParaRPr lang="ko-KR" sz="1440" dirty="0"/>
          </a:p>
        </p:txBody>
      </p:sp>
      <p:sp>
        <p:nvSpPr>
          <p:cNvPr id="43" name="Shape 41"/>
          <p:cNvSpPr/>
          <p:nvPr/>
        </p:nvSpPr>
        <p:spPr>
          <a:xfrm>
            <a:off x="579120" y="6316980"/>
            <a:ext cx="10911840" cy="7620"/>
          </a:xfrm>
          <a:prstGeom prst="rect">
            <a:avLst/>
          </a:prstGeom>
          <a:solidFill>
            <a:srgbClr val="D7E1E8"/>
          </a:solidFill>
          <a:ln w="12700">
            <a:solidFill>
              <a:srgbClr val="D7E1E8"/>
            </a:solidFill>
            <a:prstDash val="solid"/>
          </a:ln>
        </p:spPr>
      </p:sp>
      <p:sp>
        <p:nvSpPr>
          <p:cNvPr id="44" name="Text 42"/>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45" name="Text 43"/>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21 / 25</a:t>
            </a:r>
            <a:endParaRPr lang="ko-KR" sz="108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21  /  NEXT EXPERIMENT — PROPOSAL</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첫 실행에서 확정할 네 가지</a:t>
            </a:r>
            <a:endParaRPr lang="ko-KR" sz="3180" dirty="0"/>
          </a:p>
        </p:txBody>
      </p:sp>
      <p:sp>
        <p:nvSpPr>
          <p:cNvPr id="5" name="Text 3"/>
          <p:cNvSpPr/>
          <p:nvPr/>
        </p:nvSpPr>
        <p:spPr>
          <a:xfrm>
            <a:off x="609600" y="1889760"/>
            <a:ext cx="1790700" cy="44958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1. 공통 실행기</a:t>
            </a:r>
            <a:endParaRPr lang="ko-KR" sz="1920" dirty="0"/>
          </a:p>
        </p:txBody>
      </p:sp>
      <p:sp>
        <p:nvSpPr>
          <p:cNvPr id="6" name="Text 4"/>
          <p:cNvSpPr/>
          <p:nvPr/>
        </p:nvSpPr>
        <p:spPr>
          <a:xfrm>
            <a:off x="2819400" y="1889760"/>
            <a:ext cx="8534400" cy="784860"/>
          </a:xfrm>
          <a:prstGeom prst="rect">
            <a:avLst/>
          </a:prstGeom>
          <a:noFill/>
          <a:ln/>
        </p:spPr>
        <p:txBody>
          <a:bodyPr wrap="square" lIns="0" tIns="0" rIns="0" bIns="0" rtlCol="0" anchor="t"/>
          <a:lstStyle/>
          <a:p>
            <a:pPr indent="0" marL="0">
              <a:lnSpc>
                <a:spcPct val="105000"/>
              </a:lnSpc>
              <a:buNone/>
            </a:pPr>
            <a:r>
              <a:rPr lang="ko-KR" altLang="en-US" sz="1740" dirty="0">
                <a:solidFill>
                  <a:srgbClr val="132D43"/>
                </a:solidFill>
                <a:latin typeface="Noto Sans CJK KR" pitchFamily="34" charset="0"/>
                <a:ea typeface="Noto Sans CJK KR" pitchFamily="34" charset="-122"/>
                <a:cs typeface="Noto Sans CJK KR" pitchFamily="34" charset="-120"/>
              </a:rPr>
              <a:t>기존 JDBC 부하 유무 확인 → 없으면 최소 read runner</a:t>
            </a:r>
            <a:endParaRPr lang="ko-KR" sz="1740" dirty="0"/>
          </a:p>
          <a:p>
            <a:pPr indent="0" marL="0">
              <a:lnSpc>
                <a:spcPct val="105000"/>
              </a:lnSpc>
              <a:buNone/>
            </a:pPr>
            <a:r>
              <a:rPr lang="ko-KR" altLang="en-US" sz="1740" dirty="0">
                <a:solidFill>
                  <a:srgbClr val="132D43"/>
                </a:solidFill>
                <a:latin typeface="Noto Sans CJK KR" pitchFamily="34" charset="0"/>
                <a:ea typeface="Noto Sans CJK KR" pitchFamily="34" charset="-122"/>
                <a:cs typeface="Noto Sans CJK KR" pitchFamily="34" charset="-120"/>
              </a:rPr>
              <a:t>YCSB JDBC 호환성이 확보되면 같은 부하로 재사용</a:t>
            </a:r>
            <a:endParaRPr lang="ko-KR" sz="1740" dirty="0"/>
          </a:p>
        </p:txBody>
      </p:sp>
      <p:sp>
        <p:nvSpPr>
          <p:cNvPr id="7" name="Text 5"/>
          <p:cNvSpPr/>
          <p:nvPr/>
        </p:nvSpPr>
        <p:spPr>
          <a:xfrm>
            <a:off x="609600" y="2887980"/>
            <a:ext cx="1790700" cy="44958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2. 최소 matrix</a:t>
            </a:r>
            <a:endParaRPr lang="ko-KR" sz="1920" dirty="0"/>
          </a:p>
        </p:txBody>
      </p:sp>
      <p:sp>
        <p:nvSpPr>
          <p:cNvPr id="8" name="Text 6"/>
          <p:cNvSpPr/>
          <p:nvPr/>
        </p:nvSpPr>
        <p:spPr>
          <a:xfrm>
            <a:off x="2819400" y="2887980"/>
            <a:ext cx="8534400" cy="784860"/>
          </a:xfrm>
          <a:prstGeom prst="rect">
            <a:avLst/>
          </a:prstGeom>
          <a:noFill/>
          <a:ln/>
        </p:spPr>
        <p:txBody>
          <a:bodyPr wrap="square" lIns="0" tIns="0" rIns="0" bIns="0" rtlCol="0" anchor="t"/>
          <a:lstStyle/>
          <a:p>
            <a:pPr indent="0" marL="0">
              <a:lnSpc>
                <a:spcPct val="105000"/>
              </a:lnSpc>
              <a:buNone/>
            </a:pPr>
            <a:r>
              <a:rPr lang="ko-KR" altLang="en-US" sz="1740" dirty="0">
                <a:solidFill>
                  <a:srgbClr val="132D43"/>
                </a:solidFill>
                <a:latin typeface="Noto Sans CJK KR" pitchFamily="34" charset="0"/>
                <a:ea typeface="Noto Sans CJK KR" pitchFamily="34" charset="-122"/>
                <a:cs typeface="Noto Sans CJK KR" pitchFamily="34" charset="-120"/>
              </a:rPr>
              <a:t>단일 client · uniform read · W/B 0.25 / 1 / 4</a:t>
            </a:r>
            <a:endParaRPr lang="ko-KR" sz="1740" dirty="0"/>
          </a:p>
          <a:p>
            <a:pPr indent="0" marL="0">
              <a:lnSpc>
                <a:spcPct val="105000"/>
              </a:lnSpc>
              <a:buNone/>
            </a:pPr>
            <a:r>
              <a:rPr lang="ko-KR" altLang="en-US" sz="1740" dirty="0">
                <a:solidFill>
                  <a:srgbClr val="132D43"/>
                </a:solidFill>
                <a:latin typeface="Noto Sans CJK KR" pitchFamily="34" charset="0"/>
                <a:ea typeface="Noto Sans CJK KR" pitchFamily="34" charset="-122"/>
                <a:cs typeface="Noto Sans CJK KR" pitchFamily="34" charset="-120"/>
              </a:rPr>
              <a:t>3회 반복 · 1회 warm-up 5분 + 측정 10분부터</a:t>
            </a:r>
            <a:endParaRPr lang="ko-KR" sz="1740" dirty="0"/>
          </a:p>
        </p:txBody>
      </p:sp>
      <p:sp>
        <p:nvSpPr>
          <p:cNvPr id="9" name="Text 7"/>
          <p:cNvSpPr/>
          <p:nvPr/>
        </p:nvSpPr>
        <p:spPr>
          <a:xfrm>
            <a:off x="609600" y="3886200"/>
            <a:ext cx="1790700" cy="44958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3. 수집·환경</a:t>
            </a:r>
            <a:endParaRPr lang="ko-KR" sz="1920" dirty="0"/>
          </a:p>
        </p:txBody>
      </p:sp>
      <p:sp>
        <p:nvSpPr>
          <p:cNvPr id="10" name="Text 8"/>
          <p:cNvSpPr/>
          <p:nvPr/>
        </p:nvSpPr>
        <p:spPr>
          <a:xfrm>
            <a:off x="2819400" y="3886200"/>
            <a:ext cx="8534400" cy="784860"/>
          </a:xfrm>
          <a:prstGeom prst="rect">
            <a:avLst/>
          </a:prstGeom>
          <a:noFill/>
          <a:ln/>
        </p:spPr>
        <p:txBody>
          <a:bodyPr wrap="square" lIns="0" tIns="0" rIns="0" bIns="0" rtlCol="0" anchor="t"/>
          <a:lstStyle/>
          <a:p>
            <a:pPr indent="0" marL="0">
              <a:lnSpc>
                <a:spcPct val="105000"/>
              </a:lnSpc>
              <a:buNone/>
            </a:pPr>
            <a:r>
              <a:rPr lang="ko-KR" altLang="en-US" sz="1740" dirty="0">
                <a:solidFill>
                  <a:srgbClr val="132D43"/>
                </a:solidFill>
                <a:latin typeface="Noto Sans CJK KR" pitchFamily="34" charset="0"/>
                <a:ea typeface="Noto Sans CJK KR" pitchFamily="34" charset="-122"/>
                <a:cs typeface="Noto Sans CJK KR" pitchFamily="34" charset="-120"/>
              </a:rPr>
              <a:t>CUBRID/MySQL/PG raw counter + latency + OS I/O</a:t>
            </a:r>
            <a:endParaRPr lang="ko-KR" sz="1740" dirty="0"/>
          </a:p>
          <a:p>
            <a:pPr indent="0" marL="0">
              <a:lnSpc>
                <a:spcPct val="105000"/>
              </a:lnSpc>
              <a:buNone/>
            </a:pPr>
            <a:r>
              <a:rPr lang="ko-KR" altLang="en-US" sz="1740" dirty="0">
                <a:solidFill>
                  <a:srgbClr val="132D43"/>
                </a:solidFill>
                <a:latin typeface="Noto Sans CJK KR" pitchFamily="34" charset="0"/>
                <a:ea typeface="Noto Sans CJK KR" pitchFamily="34" charset="-122"/>
                <a:cs typeface="Noto Sans CJK KR" pitchFamily="34" charset="-120"/>
              </a:rPr>
              <a:t>실제 버전·page size·총 메모리·데이터 footprint 고정</a:t>
            </a:r>
            <a:endParaRPr lang="ko-KR" sz="1740" dirty="0"/>
          </a:p>
        </p:txBody>
      </p:sp>
      <p:sp>
        <p:nvSpPr>
          <p:cNvPr id="11" name="Text 9"/>
          <p:cNvSpPr/>
          <p:nvPr/>
        </p:nvSpPr>
        <p:spPr>
          <a:xfrm>
            <a:off x="609600" y="4884420"/>
            <a:ext cx="1790700" cy="449580"/>
          </a:xfrm>
          <a:prstGeom prst="rect">
            <a:avLst/>
          </a:prstGeom>
          <a:noFill/>
          <a:ln/>
        </p:spPr>
        <p:txBody>
          <a:bodyPr wrap="square" lIns="0" tIns="0" rIns="0" bIns="0" rtlCol="0" anchor="t"/>
          <a:lstStyle/>
          <a:p>
            <a:pPr indent="0" marL="0">
              <a:lnSpc>
                <a:spcPct val="105000"/>
              </a:lnSpc>
              <a:buNone/>
            </a:pPr>
            <a:r>
              <a:rPr lang="ko-KR" altLang="en-US" sz="1920" b="1" dirty="0">
                <a:solidFill>
                  <a:srgbClr val="147D6D"/>
                </a:solidFill>
                <a:latin typeface="Noto Sans CJK KR" pitchFamily="34" charset="0"/>
                <a:ea typeface="Noto Sans CJK KR" pitchFamily="34" charset="-122"/>
                <a:cs typeface="Noto Sans CJK KR" pitchFamily="34" charset="-120"/>
              </a:rPr>
              <a:t>4. 확장 조건</a:t>
            </a:r>
            <a:endParaRPr lang="ko-KR" sz="1920" dirty="0"/>
          </a:p>
        </p:txBody>
      </p:sp>
      <p:sp>
        <p:nvSpPr>
          <p:cNvPr id="12" name="Text 10"/>
          <p:cNvSpPr/>
          <p:nvPr/>
        </p:nvSpPr>
        <p:spPr>
          <a:xfrm>
            <a:off x="2819400" y="4884420"/>
            <a:ext cx="8534400" cy="784860"/>
          </a:xfrm>
          <a:prstGeom prst="rect">
            <a:avLst/>
          </a:prstGeom>
          <a:noFill/>
          <a:ln/>
        </p:spPr>
        <p:txBody>
          <a:bodyPr wrap="square" lIns="0" tIns="0" rIns="0" bIns="0" rtlCol="0" anchor="t"/>
          <a:lstStyle/>
          <a:p>
            <a:pPr indent="0" marL="0">
              <a:lnSpc>
                <a:spcPct val="105000"/>
              </a:lnSpc>
              <a:buNone/>
            </a:pPr>
            <a:r>
              <a:rPr lang="ko-KR" altLang="en-US" sz="1740" dirty="0">
                <a:solidFill>
                  <a:srgbClr val="132D43"/>
                </a:solidFill>
                <a:latin typeface="Noto Sans CJK KR" pitchFamily="34" charset="0"/>
                <a:ea typeface="Noto Sans CJK KR" pitchFamily="34" charset="-122"/>
                <a:cs typeface="Noto Sans CJK KR" pitchFamily="34" charset="-120"/>
              </a:rPr>
              <a:t>baseline 편차·정합성 확인 후 client 수·scan·update 확장</a:t>
            </a:r>
            <a:endParaRPr lang="ko-KR" sz="1740" dirty="0"/>
          </a:p>
          <a:p>
            <a:pPr indent="0" marL="0">
              <a:lnSpc>
                <a:spcPct val="105000"/>
              </a:lnSpc>
              <a:buNone/>
            </a:pPr>
            <a:r>
              <a:rPr lang="ko-KR" altLang="en-US" sz="1740" dirty="0">
                <a:solidFill>
                  <a:srgbClr val="132D43"/>
                </a:solidFill>
                <a:latin typeface="Noto Sans CJK KR" pitchFamily="34" charset="0"/>
                <a:ea typeface="Noto Sans CJK KR" pitchFamily="34" charset="-122"/>
                <a:cs typeface="Noto Sans CJK KR" pitchFamily="34" charset="-120"/>
              </a:rPr>
              <a:t>TPC-C 이식 범위·담당·검증 비용을 별도 결정</a:t>
            </a:r>
            <a:endParaRPr lang="ko-KR" sz="1740" dirty="0"/>
          </a:p>
        </p:txBody>
      </p:sp>
      <p:sp>
        <p:nvSpPr>
          <p:cNvPr id="13" name="Shape 11"/>
          <p:cNvSpPr/>
          <p:nvPr/>
        </p:nvSpPr>
        <p:spPr>
          <a:xfrm>
            <a:off x="579120" y="6316980"/>
            <a:ext cx="10911840" cy="7620"/>
          </a:xfrm>
          <a:prstGeom prst="rect">
            <a:avLst/>
          </a:prstGeom>
          <a:solidFill>
            <a:srgbClr val="D7E1E8"/>
          </a:solidFill>
          <a:ln w="12700">
            <a:solidFill>
              <a:srgbClr val="D7E1E8"/>
            </a:solidFill>
            <a:prstDash val="solid"/>
          </a:ln>
        </p:spPr>
      </p:sp>
      <p:sp>
        <p:nvSpPr>
          <p:cNvPr id="14" name="Text 12"/>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15" name="Text 13"/>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22 / 25</a:t>
            </a:r>
            <a:endParaRPr lang="ko-KR" sz="108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APPENDIX  /  SOURCES</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근거 자료 ① — benchmark와 CUBRID 연동 판단</a:t>
            </a:r>
            <a:endParaRPr lang="ko-KR" sz="3180" dirty="0"/>
          </a:p>
        </p:txBody>
      </p:sp>
      <p:sp>
        <p:nvSpPr>
          <p:cNvPr id="5" name="Text 3">
            <a:hlinkClick r:id="rId1" tooltip=""/>
          </p:cNvPr>
          <p:cNvSpPr/>
          <p:nvPr/>
        </p:nvSpPr>
        <p:spPr>
          <a:xfrm>
            <a:off x="609600" y="1882140"/>
            <a:ext cx="10820400" cy="320040"/>
          </a:xfrm>
          <a:prstGeom prst="rect">
            <a:avLst/>
          </a:prstGeom>
          <a:noFill/>
          <a:ln/>
        </p:spPr>
        <p:txBody>
          <a:bodyPr wrap="square" lIns="0" tIns="0" rIns="0" bIns="0" rtlCol="0" anchor="t"/>
          <a:lstStyle/>
          <a:p>
            <a:pPr indent="0" marL="0">
              <a:lnSpc>
                <a:spcPct val="105000"/>
              </a:lnSpc>
              <a:buNone/>
            </a:pPr>
            <a:r>
              <a:rPr lang="ko-KR" altLang="en-US" sz="1800" b="1" u="sng" dirty="0">
                <a:solidFill>
                  <a:srgbClr val="147D6D"/>
                </a:solidFill>
                <a:latin typeface="Noto Sans CJK KR" pitchFamily="34" charset="0"/>
                <a:ea typeface="Noto Sans CJK KR" pitchFamily="34" charset="-122"/>
                <a:cs typeface="Noto Sans CJK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[S1] sysbench: 기능·드라이버·시간·분포</a:t>
            </a:r>
            <a:endParaRPr lang="ko-KR" sz="1800" dirty="0"/>
          </a:p>
        </p:txBody>
      </p:sp>
      <p:sp>
        <p:nvSpPr>
          <p:cNvPr id="6" name="Text 4"/>
          <p:cNvSpPr/>
          <p:nvPr/>
        </p:nvSpPr>
        <p:spPr>
          <a:xfrm>
            <a:off x="609600" y="2209800"/>
            <a:ext cx="10820400" cy="266700"/>
          </a:xfrm>
          <a:prstGeom prst="rect">
            <a:avLst/>
          </a:prstGeom>
          <a:noFill/>
          <a:ln/>
        </p:spPr>
        <p:txBody>
          <a:bodyPr wrap="square" lIns="0" tIns="0" rIns="0" bIns="0" rtlCol="0" anchor="t"/>
          <a:lstStyle/>
          <a:p>
            <a:pPr indent="0" marL="0">
              <a:lnSpc>
                <a:spcPct val="105000"/>
              </a:lnSpc>
              <a:buNone/>
            </a:pPr>
            <a:r>
              <a:rPr lang="ko-KR" altLang="en-US" sz="1380" dirty="0">
                <a:solidFill>
                  <a:srgbClr val="52687B"/>
                </a:solidFill>
                <a:latin typeface="Noto Sans CJK KR" pitchFamily="34" charset="0"/>
                <a:ea typeface="Noto Sans CJK KR" pitchFamily="34" charset="-122"/>
                <a:cs typeface="Noto Sans CJK KR" pitchFamily="34" charset="-120"/>
              </a:rPr>
              <a:t>MySQL·PostgreSQL driver / 시간·분포 / OLTP script</a:t>
            </a:r>
            <a:endParaRPr lang="ko-KR" sz="1380" dirty="0"/>
          </a:p>
        </p:txBody>
      </p:sp>
      <p:sp>
        <p:nvSpPr>
          <p:cNvPr id="7" name="Text 5">
            <a:hlinkClick r:id="rId2" tooltip=""/>
          </p:cNvPr>
          <p:cNvSpPr/>
          <p:nvPr/>
        </p:nvSpPr>
        <p:spPr>
          <a:xfrm>
            <a:off x="609600" y="2522220"/>
            <a:ext cx="10820400" cy="320040"/>
          </a:xfrm>
          <a:prstGeom prst="rect">
            <a:avLst/>
          </a:prstGeom>
          <a:noFill/>
          <a:ln/>
        </p:spPr>
        <p:txBody>
          <a:bodyPr wrap="square" lIns="0" tIns="0" rIns="0" bIns="0" rtlCol="0" anchor="t"/>
          <a:lstStyle/>
          <a:p>
            <a:pPr indent="0" marL="0">
              <a:lnSpc>
                <a:spcPct val="105000"/>
              </a:lnSpc>
              <a:buNone/>
            </a:pPr>
            <a:r>
              <a:rPr lang="ko-KR" altLang="en-US" sz="1800" b="1" u="sng" dirty="0">
                <a:solidFill>
                  <a:srgbClr val="147D6D"/>
                </a:solidFill>
                <a:latin typeface="Noto Sans CJK KR" pitchFamily="34" charset="0"/>
                <a:ea typeface="Noto Sans CJK KR" pitchFamily="34" charset="-122"/>
                <a:cs typeface="Noto Sans CJK KR" pitchFamily="34" charset="-120"/>
                <a:hlinkClick r:id="rId2" invalidUrl="" action="" tgtFrame="" tooltip="" history="1" highlightClick="0" endSnd="0">
                  <a:extLst>
                    <a:ext uri="{A12FA001-AC4F-418D-AE19-62706E023703}">
                      <ahyp:hlinkClr xmlns:ahyp="http://schemas.microsoft.com/office/drawing/2018/hyperlinkcolor" val="tx"/>
                    </a:ext>
                  </a:extLst>
                </a:hlinkClick>
              </a:rPr>
              <a:t>[S2] YCSB: C / B / A workload 정의</a:t>
            </a:r>
            <a:endParaRPr lang="ko-KR" sz="1800" dirty="0"/>
          </a:p>
        </p:txBody>
      </p:sp>
      <p:sp>
        <p:nvSpPr>
          <p:cNvPr id="8" name="Text 6"/>
          <p:cNvSpPr/>
          <p:nvPr/>
        </p:nvSpPr>
        <p:spPr>
          <a:xfrm>
            <a:off x="609600" y="2849880"/>
            <a:ext cx="10820400" cy="266700"/>
          </a:xfrm>
          <a:prstGeom prst="rect">
            <a:avLst/>
          </a:prstGeom>
          <a:noFill/>
          <a:ln/>
        </p:spPr>
        <p:txBody>
          <a:bodyPr wrap="square" lIns="0" tIns="0" rIns="0" bIns="0" rtlCol="0" anchor="t"/>
          <a:lstStyle/>
          <a:p>
            <a:pPr indent="0" marL="0">
              <a:lnSpc>
                <a:spcPct val="105000"/>
              </a:lnSpc>
              <a:buNone/>
            </a:pPr>
            <a:r>
              <a:rPr lang="ko-KR" altLang="en-US" sz="1380" dirty="0">
                <a:solidFill>
                  <a:srgbClr val="52687B"/>
                </a:solidFill>
                <a:latin typeface="Noto Sans CJK KR" pitchFamily="34" charset="0"/>
                <a:ea typeface="Noto Sans CJK KR" pitchFamily="34" charset="-122"/>
                <a:cs typeface="Noto Sans CJK KR" pitchFamily="34" charset="-120"/>
              </a:rPr>
              <a:t>Workload C·B·A의 read/update 비율과 기본 분포</a:t>
            </a:r>
            <a:endParaRPr lang="ko-KR" sz="1380" dirty="0"/>
          </a:p>
        </p:txBody>
      </p:sp>
      <p:sp>
        <p:nvSpPr>
          <p:cNvPr id="9" name="Text 7">
            <a:hlinkClick r:id="rId3" tooltip=""/>
          </p:cNvPr>
          <p:cNvSpPr/>
          <p:nvPr/>
        </p:nvSpPr>
        <p:spPr>
          <a:xfrm>
            <a:off x="609600" y="3162300"/>
            <a:ext cx="10820400" cy="320040"/>
          </a:xfrm>
          <a:prstGeom prst="rect">
            <a:avLst/>
          </a:prstGeom>
          <a:noFill/>
          <a:ln/>
        </p:spPr>
        <p:txBody>
          <a:bodyPr wrap="square" lIns="0" tIns="0" rIns="0" bIns="0" rtlCol="0" anchor="t"/>
          <a:lstStyle/>
          <a:p>
            <a:pPr indent="0" marL="0">
              <a:lnSpc>
                <a:spcPct val="105000"/>
              </a:lnSpc>
              <a:buNone/>
            </a:pPr>
            <a:r>
              <a:rPr lang="ko-KR" altLang="en-US" sz="1800" b="1" u="sng" dirty="0">
                <a:solidFill>
                  <a:srgbClr val="147D6D"/>
                </a:solidFill>
                <a:latin typeface="Noto Sans CJK KR" pitchFamily="34" charset="0"/>
                <a:ea typeface="Noto Sans CJK KR" pitchFamily="34" charset="-122"/>
                <a:cs typeface="Noto Sans CJK KR" pitchFamily="34" charset="-120"/>
                <a:hlinkClick r:id="rId3" invalidUrl="" action="" tgtFrame="" tooltip="" history="1" highlightClick="0" endSnd="0">
                  <a:extLst>
                    <a:ext uri="{A12FA001-AC4F-418D-AE19-62706E023703}">
                      <ahyp:hlinkClr xmlns:ahyp="http://schemas.microsoft.com/office/drawing/2018/hyperlinkcolor" val="tx"/>
                    </a:ext>
                  </a:extLst>
                </a:hlinkClick>
              </a:rPr>
              <a:t>[S3] YCSB JDBC: 연결·스키마 호환성</a:t>
            </a:r>
            <a:endParaRPr lang="ko-KR" sz="1800" dirty="0"/>
          </a:p>
        </p:txBody>
      </p:sp>
      <p:sp>
        <p:nvSpPr>
          <p:cNvPr id="10" name="Text 8"/>
          <p:cNvSpPr/>
          <p:nvPr/>
        </p:nvSpPr>
        <p:spPr>
          <a:xfrm>
            <a:off x="609600" y="3489960"/>
            <a:ext cx="10820400" cy="266700"/>
          </a:xfrm>
          <a:prstGeom prst="rect">
            <a:avLst/>
          </a:prstGeom>
          <a:noFill/>
          <a:ln/>
        </p:spPr>
        <p:txBody>
          <a:bodyPr wrap="square" lIns="0" tIns="0" rIns="0" bIns="0" rtlCol="0" anchor="t"/>
          <a:lstStyle/>
          <a:p>
            <a:pPr indent="0" marL="0">
              <a:lnSpc>
                <a:spcPct val="105000"/>
              </a:lnSpc>
              <a:buNone/>
            </a:pPr>
            <a:r>
              <a:rPr lang="ko-KR" altLang="en-US" sz="1380" dirty="0">
                <a:solidFill>
                  <a:srgbClr val="52687B"/>
                </a:solidFill>
                <a:latin typeface="Noto Sans CJK KR" pitchFamily="34" charset="0"/>
                <a:ea typeface="Noto Sans CJK KR" pitchFamily="34" charset="-122"/>
                <a:cs typeface="Noto Sans CJK KR" pitchFamily="34" charset="-120"/>
              </a:rPr>
              <a:t>JDBC driver 설정 / table 생성 utility의 DB 호환성 한계</a:t>
            </a:r>
            <a:endParaRPr lang="ko-KR" sz="1380" dirty="0"/>
          </a:p>
        </p:txBody>
      </p:sp>
      <p:sp>
        <p:nvSpPr>
          <p:cNvPr id="11" name="Text 9">
            <a:hlinkClick r:id="rId4" tooltip=""/>
          </p:cNvPr>
          <p:cNvSpPr/>
          <p:nvPr/>
        </p:nvSpPr>
        <p:spPr>
          <a:xfrm>
            <a:off x="609600" y="3802380"/>
            <a:ext cx="10820400" cy="320040"/>
          </a:xfrm>
          <a:prstGeom prst="rect">
            <a:avLst/>
          </a:prstGeom>
          <a:noFill/>
          <a:ln/>
        </p:spPr>
        <p:txBody>
          <a:bodyPr wrap="square" lIns="0" tIns="0" rIns="0" bIns="0" rtlCol="0" anchor="t"/>
          <a:lstStyle/>
          <a:p>
            <a:pPr indent="0" marL="0">
              <a:lnSpc>
                <a:spcPct val="105000"/>
              </a:lnSpc>
              <a:buNone/>
            </a:pPr>
            <a:r>
              <a:rPr lang="ko-KR" altLang="en-US" sz="1800" b="1" u="sng" dirty="0">
                <a:solidFill>
                  <a:srgbClr val="147D6D"/>
                </a:solidFill>
                <a:latin typeface="Noto Sans CJK KR" pitchFamily="34" charset="0"/>
                <a:ea typeface="Noto Sans CJK KR" pitchFamily="34" charset="-122"/>
                <a:cs typeface="Noto Sans CJK KR" pitchFamily="34" charset="-120"/>
                <a:hlinkClick r:id="rId4" invalidUrl="" action="" tgtFrame="" tooltip="" history="1" highlightClick="0" endSnd="0">
                  <a:extLst>
                    <a:ext uri="{A12FA001-AC4F-418D-AE19-62706E023703}">
                      <ahyp:hlinkClr xmlns:ahyp="http://schemas.microsoft.com/office/drawing/2018/hyperlinkcolor" val="tx"/>
                    </a:ext>
                  </a:extLst>
                </a:hlinkClick>
              </a:rPr>
              <a:t>[S4] TPC-C 5.11: 부하·측정 120분</a:t>
            </a:r>
            <a:endParaRPr lang="ko-KR" sz="1800" dirty="0"/>
          </a:p>
        </p:txBody>
      </p:sp>
      <p:sp>
        <p:nvSpPr>
          <p:cNvPr id="12" name="Text 10"/>
          <p:cNvSpPr/>
          <p:nvPr/>
        </p:nvSpPr>
        <p:spPr>
          <a:xfrm>
            <a:off x="609600" y="4130040"/>
            <a:ext cx="10820400" cy="266700"/>
          </a:xfrm>
          <a:prstGeom prst="rect">
            <a:avLst/>
          </a:prstGeom>
          <a:noFill/>
          <a:ln/>
        </p:spPr>
        <p:txBody>
          <a:bodyPr wrap="square" lIns="0" tIns="0" rIns="0" bIns="0" rtlCol="0" anchor="t"/>
          <a:lstStyle/>
          <a:p>
            <a:pPr indent="0" marL="0">
              <a:lnSpc>
                <a:spcPct val="105000"/>
              </a:lnSpc>
              <a:buNone/>
            </a:pPr>
            <a:r>
              <a:rPr lang="ko-KR" altLang="en-US" sz="1380" dirty="0">
                <a:solidFill>
                  <a:srgbClr val="52687B"/>
                </a:solidFill>
                <a:latin typeface="Noto Sans CJK KR" pitchFamily="34" charset="0"/>
                <a:ea typeface="Noto Sans CJK KR" pitchFamily="34" charset="-122"/>
                <a:cs typeface="Noto Sans CJK KR" pitchFamily="34" charset="-120"/>
              </a:rPr>
              <a:t>TPC-C 5.11 §5.5.2.1: 정상 상태 뒤 측정 최소 120분</a:t>
            </a:r>
            <a:endParaRPr lang="ko-KR" sz="1380" dirty="0"/>
          </a:p>
        </p:txBody>
      </p:sp>
      <p:sp>
        <p:nvSpPr>
          <p:cNvPr id="13" name="Text 11">
            <a:hlinkClick r:id="rId5" tooltip=""/>
          </p:cNvPr>
          <p:cNvSpPr/>
          <p:nvPr/>
        </p:nvSpPr>
        <p:spPr>
          <a:xfrm>
            <a:off x="609600" y="4442460"/>
            <a:ext cx="10820400" cy="320040"/>
          </a:xfrm>
          <a:prstGeom prst="rect">
            <a:avLst/>
          </a:prstGeom>
          <a:noFill/>
          <a:ln/>
        </p:spPr>
        <p:txBody>
          <a:bodyPr wrap="square" lIns="0" tIns="0" rIns="0" bIns="0" rtlCol="0" anchor="t"/>
          <a:lstStyle/>
          <a:p>
            <a:pPr indent="0" marL="0">
              <a:lnSpc>
                <a:spcPct val="105000"/>
              </a:lnSpc>
              <a:buNone/>
            </a:pPr>
            <a:r>
              <a:rPr lang="ko-KR" altLang="en-US" sz="1800" b="1" u="sng" dirty="0">
                <a:solidFill>
                  <a:srgbClr val="147D6D"/>
                </a:solidFill>
                <a:latin typeface="Noto Sans CJK KR" pitchFamily="34" charset="0"/>
                <a:ea typeface="Noto Sans CJK KR" pitchFamily="34" charset="-122"/>
                <a:cs typeface="Noto Sans CJK KR" pitchFamily="34" charset="-120"/>
                <a:hlinkClick r:id="rId5" invalidUrl="" action="" tgtFrame="" tooltip="" history="1" highlightClick="0" endSnd="0">
                  <a:extLst>
                    <a:ext uri="{A12FA001-AC4F-418D-AE19-62706E023703}">
                      <ahyp:hlinkClr xmlns:ahyp="http://schemas.microsoft.com/office/drawing/2018/hyperlinkcolor" val="tx"/>
                    </a:ext>
                  </a:extLst>
                </a:hlinkClick>
              </a:rPr>
              <a:t>[S5] HammerDB: 기본 지원 DB 목록</a:t>
            </a:r>
            <a:endParaRPr lang="ko-KR" sz="1800" dirty="0"/>
          </a:p>
        </p:txBody>
      </p:sp>
      <p:sp>
        <p:nvSpPr>
          <p:cNvPr id="14" name="Text 12"/>
          <p:cNvSpPr/>
          <p:nvPr/>
        </p:nvSpPr>
        <p:spPr>
          <a:xfrm>
            <a:off x="609600" y="4770120"/>
            <a:ext cx="10820400" cy="266700"/>
          </a:xfrm>
          <a:prstGeom prst="rect">
            <a:avLst/>
          </a:prstGeom>
          <a:noFill/>
          <a:ln/>
        </p:spPr>
        <p:txBody>
          <a:bodyPr wrap="square" lIns="0" tIns="0" rIns="0" bIns="0" rtlCol="0" anchor="t"/>
          <a:lstStyle/>
          <a:p>
            <a:pPr indent="0" marL="0">
              <a:lnSpc>
                <a:spcPct val="105000"/>
              </a:lnSpc>
              <a:buNone/>
            </a:pPr>
            <a:r>
              <a:rPr lang="ko-KR" altLang="en-US" sz="1380" dirty="0">
                <a:solidFill>
                  <a:srgbClr val="52687B"/>
                </a:solidFill>
                <a:latin typeface="Noto Sans CJK KR" pitchFamily="34" charset="0"/>
                <a:ea typeface="Noto Sans CJK KR" pitchFamily="34" charset="-122"/>
                <a:cs typeface="Noto Sans CJK KR" pitchFamily="34" charset="-120"/>
              </a:rPr>
              <a:t>README 기본 DB 목록. CUBRID 없음 / 문서 commit 2611d3c</a:t>
            </a:r>
            <a:endParaRPr lang="ko-KR" sz="1380" dirty="0"/>
          </a:p>
        </p:txBody>
      </p:sp>
      <p:sp>
        <p:nvSpPr>
          <p:cNvPr id="15" name="Text 13">
            <a:hlinkClick r:id="rId6" tooltip=""/>
          </p:cNvPr>
          <p:cNvSpPr/>
          <p:nvPr/>
        </p:nvSpPr>
        <p:spPr>
          <a:xfrm>
            <a:off x="609600" y="5082540"/>
            <a:ext cx="10820400" cy="320040"/>
          </a:xfrm>
          <a:prstGeom prst="rect">
            <a:avLst/>
          </a:prstGeom>
          <a:noFill/>
          <a:ln/>
        </p:spPr>
        <p:txBody>
          <a:bodyPr wrap="square" lIns="0" tIns="0" rIns="0" bIns="0" rtlCol="0" anchor="t"/>
          <a:lstStyle/>
          <a:p>
            <a:pPr indent="0" marL="0">
              <a:lnSpc>
                <a:spcPct val="105000"/>
              </a:lnSpc>
              <a:buNone/>
            </a:pPr>
            <a:r>
              <a:rPr lang="ko-KR" altLang="en-US" sz="1800" b="1" u="sng" dirty="0">
                <a:solidFill>
                  <a:srgbClr val="147D6D"/>
                </a:solidFill>
                <a:latin typeface="Noto Sans CJK KR" pitchFamily="34" charset="0"/>
                <a:ea typeface="Noto Sans CJK KR" pitchFamily="34" charset="-122"/>
                <a:cs typeface="Noto Sans CJK KR" pitchFamily="34" charset="-120"/>
                <a:hlinkClick r:id="rId6" invalidUrl="" action="" tgtFrame="" tooltip="" history="1" highlightClick="0" endSnd="0">
                  <a:extLst>
                    <a:ext uri="{A12FA001-AC4F-418D-AE19-62706E023703}">
                      <ahyp:hlinkClr xmlns:ahyp="http://schemas.microsoft.com/office/drawing/2018/hyperlinkcolor" val="tx"/>
                    </a:ext>
                  </a:extLst>
                </a:hlinkClick>
              </a:rPr>
              <a:t>[S6] BenchBase: DatabaseType 목록</a:t>
            </a:r>
            <a:endParaRPr lang="ko-KR" sz="1800" dirty="0"/>
          </a:p>
        </p:txBody>
      </p:sp>
      <p:sp>
        <p:nvSpPr>
          <p:cNvPr id="16" name="Text 14"/>
          <p:cNvSpPr/>
          <p:nvPr/>
        </p:nvSpPr>
        <p:spPr>
          <a:xfrm>
            <a:off x="609600" y="5410200"/>
            <a:ext cx="10820400" cy="266700"/>
          </a:xfrm>
          <a:prstGeom prst="rect">
            <a:avLst/>
          </a:prstGeom>
          <a:noFill/>
          <a:ln/>
        </p:spPr>
        <p:txBody>
          <a:bodyPr wrap="square" lIns="0" tIns="0" rIns="0" bIns="0" rtlCol="0" anchor="t"/>
          <a:lstStyle/>
          <a:p>
            <a:pPr indent="0" marL="0">
              <a:lnSpc>
                <a:spcPct val="105000"/>
              </a:lnSpc>
              <a:buNone/>
            </a:pPr>
            <a:r>
              <a:rPr lang="ko-KR" altLang="en-US" sz="1380" dirty="0">
                <a:solidFill>
                  <a:srgbClr val="52687B"/>
                </a:solidFill>
                <a:latin typeface="Noto Sans CJK KR" pitchFamily="34" charset="0"/>
                <a:ea typeface="Noto Sans CJK KR" pitchFamily="34" charset="-122"/>
                <a:cs typeface="Noto Sans CJK KR" pitchFamily="34" charset="-120"/>
              </a:rPr>
              <a:t>DatabaseType 목록. CUBRID 없음 / 코드 commit 1aae257</a:t>
            </a:r>
            <a:endParaRPr lang="ko-KR" sz="1380" dirty="0"/>
          </a:p>
        </p:txBody>
      </p:sp>
      <p:sp>
        <p:nvSpPr>
          <p:cNvPr id="17" name="Shape 15"/>
          <p:cNvSpPr/>
          <p:nvPr/>
        </p:nvSpPr>
        <p:spPr>
          <a:xfrm>
            <a:off x="579120" y="6316980"/>
            <a:ext cx="10911840" cy="7620"/>
          </a:xfrm>
          <a:prstGeom prst="rect">
            <a:avLst/>
          </a:prstGeom>
          <a:solidFill>
            <a:srgbClr val="D7E1E8"/>
          </a:solidFill>
          <a:ln w="12700">
            <a:solidFill>
              <a:srgbClr val="D7E1E8"/>
            </a:solidFill>
            <a:prstDash val="solid"/>
          </a:ln>
        </p:spPr>
      </p:sp>
      <p:sp>
        <p:nvSpPr>
          <p:cNvPr id="18" name="Text 16"/>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19" name="Text 17"/>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23 / 25</a:t>
            </a:r>
            <a:endParaRPr lang="ko-KR" sz="1080" dirty="0"/>
          </a:p>
        </p:txBody>
      </p:sp>
      <p:sp>
        <p:nvSpPr>
          <p:cNvPr id="20" name="Text 18">
            <a:hlinkClick r:id="rId7" tooltip=""/>
          </p:cNvPr>
          <p:cNvSpPr/>
          <p:nvPr/>
        </p:nvSpPr>
        <p:spPr>
          <a:xfrm>
            <a:off x="5791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7" invalidUrl="" action="" tgtFrame="" tooltip="" history="1" highlightClick="0" endSnd="0">
                  <a:extLst>
                    <a:ext uri="{A12FA001-AC4F-418D-AE19-62706E023703}">
                      <ahyp:hlinkClr xmlns:ahyp="http://schemas.microsoft.com/office/drawing/2018/hyperlinkcolor" val="tx"/>
                    </a:ext>
                  </a:extLst>
                </a:hlinkClick>
              </a:rPr>
              <a:t>[S1] 근거</a:t>
            </a:r>
            <a:endParaRPr lang="ko-KR" sz="960" dirty="0"/>
          </a:p>
        </p:txBody>
      </p:sp>
      <p:sp>
        <p:nvSpPr>
          <p:cNvPr id="21" name="Text 19">
            <a:hlinkClick r:id="rId8" tooltip=""/>
          </p:cNvPr>
          <p:cNvSpPr/>
          <p:nvPr/>
        </p:nvSpPr>
        <p:spPr>
          <a:xfrm>
            <a:off x="16078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8" invalidUrl="" action="" tgtFrame="" tooltip="" history="1" highlightClick="0" endSnd="0">
                  <a:extLst>
                    <a:ext uri="{A12FA001-AC4F-418D-AE19-62706E023703}">
                      <ahyp:hlinkClr xmlns:ahyp="http://schemas.microsoft.com/office/drawing/2018/hyperlinkcolor" val="tx"/>
                    </a:ext>
                  </a:extLst>
                </a:hlinkClick>
              </a:rPr>
              <a:t>[S2] 근거</a:t>
            </a:r>
            <a:endParaRPr lang="ko-KR" sz="960" dirty="0"/>
          </a:p>
        </p:txBody>
      </p:sp>
      <p:sp>
        <p:nvSpPr>
          <p:cNvPr id="22" name="Text 20">
            <a:hlinkClick r:id="rId9" tooltip=""/>
          </p:cNvPr>
          <p:cNvSpPr/>
          <p:nvPr/>
        </p:nvSpPr>
        <p:spPr>
          <a:xfrm>
            <a:off x="26365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9" invalidUrl="" action="" tgtFrame="" tooltip="" history="1" highlightClick="0" endSnd="0">
                  <a:extLst>
                    <a:ext uri="{A12FA001-AC4F-418D-AE19-62706E023703}">
                      <ahyp:hlinkClr xmlns:ahyp="http://schemas.microsoft.com/office/drawing/2018/hyperlinkcolor" val="tx"/>
                    </a:ext>
                  </a:extLst>
                </a:hlinkClick>
              </a:rPr>
              <a:t>[S3] 근거</a:t>
            </a:r>
            <a:endParaRPr lang="ko-KR" sz="960" dirty="0"/>
          </a:p>
        </p:txBody>
      </p:sp>
      <p:sp>
        <p:nvSpPr>
          <p:cNvPr id="23" name="Text 21">
            <a:hlinkClick r:id="rId10" tooltip=""/>
          </p:cNvPr>
          <p:cNvSpPr/>
          <p:nvPr/>
        </p:nvSpPr>
        <p:spPr>
          <a:xfrm>
            <a:off x="36652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10" invalidUrl="" action="" tgtFrame="" tooltip="" history="1" highlightClick="0" endSnd="0">
                  <a:extLst>
                    <a:ext uri="{A12FA001-AC4F-418D-AE19-62706E023703}">
                      <ahyp:hlinkClr xmlns:ahyp="http://schemas.microsoft.com/office/drawing/2018/hyperlinkcolor" val="tx"/>
                    </a:ext>
                  </a:extLst>
                </a:hlinkClick>
              </a:rPr>
              <a:t>[S4] 근거</a:t>
            </a:r>
            <a:endParaRPr lang="ko-KR" sz="960" dirty="0"/>
          </a:p>
        </p:txBody>
      </p:sp>
      <p:sp>
        <p:nvSpPr>
          <p:cNvPr id="24" name="Text 22">
            <a:hlinkClick r:id="rId11" tooltip=""/>
          </p:cNvPr>
          <p:cNvSpPr/>
          <p:nvPr/>
        </p:nvSpPr>
        <p:spPr>
          <a:xfrm>
            <a:off x="46939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11" invalidUrl="" action="" tgtFrame="" tooltip="" history="1" highlightClick="0" endSnd="0">
                  <a:extLst>
                    <a:ext uri="{A12FA001-AC4F-418D-AE19-62706E023703}">
                      <ahyp:hlinkClr xmlns:ahyp="http://schemas.microsoft.com/office/drawing/2018/hyperlinkcolor" val="tx"/>
                    </a:ext>
                  </a:extLst>
                </a:hlinkClick>
              </a:rPr>
              <a:t>[S5] 근거</a:t>
            </a:r>
            <a:endParaRPr lang="ko-KR" sz="960" dirty="0"/>
          </a:p>
        </p:txBody>
      </p:sp>
      <p:sp>
        <p:nvSpPr>
          <p:cNvPr id="25" name="Text 23">
            <a:hlinkClick r:id="rId12" tooltip=""/>
          </p:cNvPr>
          <p:cNvSpPr/>
          <p:nvPr/>
        </p:nvSpPr>
        <p:spPr>
          <a:xfrm>
            <a:off x="57226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12" invalidUrl="" action="" tgtFrame="" tooltip="" history="1" highlightClick="0" endSnd="0">
                  <a:extLst>
                    <a:ext uri="{A12FA001-AC4F-418D-AE19-62706E023703}">
                      <ahyp:hlinkClr xmlns:ahyp="http://schemas.microsoft.com/office/drawing/2018/hyperlinkcolor" val="tx"/>
                    </a:ext>
                  </a:extLst>
                </a:hlinkClick>
              </a:rPr>
              <a:t>[S6] 근거</a:t>
            </a:r>
            <a:endParaRPr lang="ko-KR" sz="96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APPENDIX  /  SOURCES &amp; LIMITATIONS</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근거 자료 ② — 카운터 의미·확인 범위</a:t>
            </a:r>
            <a:endParaRPr lang="ko-KR" sz="3180" dirty="0"/>
          </a:p>
        </p:txBody>
      </p:sp>
      <p:sp>
        <p:nvSpPr>
          <p:cNvPr id="5" name="Text 3">
            <a:hlinkClick r:id="rId1" tooltip=""/>
          </p:cNvPr>
          <p:cNvSpPr/>
          <p:nvPr/>
        </p:nvSpPr>
        <p:spPr>
          <a:xfrm>
            <a:off x="609600" y="1866900"/>
            <a:ext cx="10820400" cy="320040"/>
          </a:xfrm>
          <a:prstGeom prst="rect">
            <a:avLst/>
          </a:prstGeom>
          <a:noFill/>
          <a:ln/>
        </p:spPr>
        <p:txBody>
          <a:bodyPr wrap="square" lIns="0" tIns="0" rIns="0" bIns="0" rtlCol="0" anchor="t"/>
          <a:lstStyle/>
          <a:p>
            <a:pPr indent="0" marL="0">
              <a:lnSpc>
                <a:spcPct val="105000"/>
              </a:lnSpc>
              <a:buNone/>
            </a:pPr>
            <a:r>
              <a:rPr lang="ko-KR" altLang="en-US" sz="1680" b="1" u="sng" dirty="0">
                <a:solidFill>
                  <a:srgbClr val="147D6D"/>
                </a:solidFill>
                <a:latin typeface="Noto Sans CJK KR" pitchFamily="34" charset="0"/>
                <a:ea typeface="Noto Sans CJK KR" pitchFamily="34" charset="-122"/>
                <a:cs typeface="Noto Sans CJK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[S7] CUBRID: statdump·페이지 카운터</a:t>
            </a:r>
            <a:endParaRPr lang="ko-KR" sz="1680" dirty="0"/>
          </a:p>
        </p:txBody>
      </p:sp>
      <p:sp>
        <p:nvSpPr>
          <p:cNvPr id="6" name="Text 4">
            <a:hlinkClick r:id="rId2" tooltip=""/>
          </p:cNvPr>
          <p:cNvSpPr/>
          <p:nvPr/>
        </p:nvSpPr>
        <p:spPr>
          <a:xfrm>
            <a:off x="609600" y="2407920"/>
            <a:ext cx="10820400" cy="320040"/>
          </a:xfrm>
          <a:prstGeom prst="rect">
            <a:avLst/>
          </a:prstGeom>
          <a:noFill/>
          <a:ln/>
        </p:spPr>
        <p:txBody>
          <a:bodyPr wrap="square" lIns="0" tIns="0" rIns="0" bIns="0" rtlCol="0" anchor="t"/>
          <a:lstStyle/>
          <a:p>
            <a:pPr indent="0" marL="0">
              <a:lnSpc>
                <a:spcPct val="105000"/>
              </a:lnSpc>
              <a:buNone/>
            </a:pPr>
            <a:r>
              <a:rPr lang="ko-KR" altLang="en-US" sz="1680" b="1" u="sng" dirty="0">
                <a:solidFill>
                  <a:srgbClr val="147D6D"/>
                </a:solidFill>
                <a:latin typeface="Noto Sans CJK KR" pitchFamily="34" charset="0"/>
                <a:ea typeface="Noto Sans CJK KR" pitchFamily="34" charset="-122"/>
                <a:cs typeface="Noto Sans CJK KR" pitchFamily="34" charset="-120"/>
                <a:hlinkClick r:id="rId2" invalidUrl="" action="" tgtFrame="" tooltip="" history="1" highlightClick="0" endSnd="0">
                  <a:extLst>
                    <a:ext uri="{A12FA001-AC4F-418D-AE19-62706E023703}">
                      <ahyp:hlinkClr xmlns:ahyp="http://schemas.microsoft.com/office/drawing/2018/hyperlinkcolor" val="tx"/>
                    </a:ext>
                  </a:extLst>
                </a:hlinkClick>
              </a:rPr>
              <a:t>[S8] MySQL 8.4: InnoDB 상태 변수</a:t>
            </a:r>
            <a:endParaRPr lang="ko-KR" sz="1680" dirty="0"/>
          </a:p>
        </p:txBody>
      </p:sp>
      <p:sp>
        <p:nvSpPr>
          <p:cNvPr id="7" name="Text 5">
            <a:hlinkClick r:id="rId3" tooltip=""/>
          </p:cNvPr>
          <p:cNvSpPr/>
          <p:nvPr/>
        </p:nvSpPr>
        <p:spPr>
          <a:xfrm>
            <a:off x="609600" y="2948940"/>
            <a:ext cx="10820400" cy="320040"/>
          </a:xfrm>
          <a:prstGeom prst="rect">
            <a:avLst/>
          </a:prstGeom>
          <a:noFill/>
          <a:ln/>
        </p:spPr>
        <p:txBody>
          <a:bodyPr wrap="square" lIns="0" tIns="0" rIns="0" bIns="0" rtlCol="0" anchor="t"/>
          <a:lstStyle/>
          <a:p>
            <a:pPr indent="0" marL="0">
              <a:lnSpc>
                <a:spcPct val="105000"/>
              </a:lnSpc>
              <a:buNone/>
            </a:pPr>
            <a:r>
              <a:rPr lang="ko-KR" altLang="en-US" sz="1680" b="1" u="sng" dirty="0">
                <a:solidFill>
                  <a:srgbClr val="147D6D"/>
                </a:solidFill>
                <a:latin typeface="Noto Sans CJK KR" pitchFamily="34" charset="0"/>
                <a:ea typeface="Noto Sans CJK KR" pitchFamily="34" charset="-122"/>
                <a:cs typeface="Noto Sans CJK KR" pitchFamily="34" charset="-120"/>
                <a:hlinkClick r:id="rId3" invalidUrl="" action="" tgtFrame="" tooltip="" history="1" highlightClick="0" endSnd="0">
                  <a:extLst>
                    <a:ext uri="{A12FA001-AC4F-418D-AE19-62706E023703}">
                      <ahyp:hlinkClr xmlns:ahyp="http://schemas.microsoft.com/office/drawing/2018/hyperlinkcolor" val="tx"/>
                    </a:ext>
                  </a:extLst>
                </a:hlinkClick>
              </a:rPr>
              <a:t>[S9] PostgreSQL 18: 통계·캐시 범위</a:t>
            </a:r>
            <a:endParaRPr lang="ko-KR" sz="1680" dirty="0"/>
          </a:p>
        </p:txBody>
      </p:sp>
      <p:sp>
        <p:nvSpPr>
          <p:cNvPr id="8" name="Text 6">
            <a:hlinkClick r:id="rId4" tooltip=""/>
          </p:cNvPr>
          <p:cNvSpPr/>
          <p:nvPr/>
        </p:nvSpPr>
        <p:spPr>
          <a:xfrm>
            <a:off x="609600" y="3489960"/>
            <a:ext cx="10820400" cy="320040"/>
          </a:xfrm>
          <a:prstGeom prst="rect">
            <a:avLst/>
          </a:prstGeom>
          <a:noFill/>
          <a:ln/>
        </p:spPr>
        <p:txBody>
          <a:bodyPr wrap="square" lIns="0" tIns="0" rIns="0" bIns="0" rtlCol="0" anchor="t"/>
          <a:lstStyle/>
          <a:p>
            <a:pPr indent="0" marL="0">
              <a:lnSpc>
                <a:spcPct val="105000"/>
              </a:lnSpc>
              <a:buNone/>
            </a:pPr>
            <a:r>
              <a:rPr lang="ko-KR" altLang="en-US" sz="1680" b="1" u="sng" dirty="0">
                <a:solidFill>
                  <a:srgbClr val="147D6D"/>
                </a:solidFill>
                <a:latin typeface="Noto Sans CJK KR" pitchFamily="34" charset="0"/>
                <a:ea typeface="Noto Sans CJK KR" pitchFamily="34" charset="-122"/>
                <a:cs typeface="Noto Sans CJK KR" pitchFamily="34" charset="-120"/>
                <a:hlinkClick r:id="rId4" invalidUrl="" action="" tgtFrame="" tooltip="" history="1" highlightClick="0" endSnd="0">
                  <a:extLst>
                    <a:ext uri="{A12FA001-AC4F-418D-AE19-62706E023703}">
                      <ahyp:hlinkClr xmlns:ahyp="http://schemas.microsoft.com/office/drawing/2018/hyperlinkcolor" val="tx"/>
                    </a:ext>
                  </a:extLst>
                </a:hlinkClick>
              </a:rPr>
              <a:t>[S10] PostgreSQL 18: pgbench</a:t>
            </a:r>
            <a:endParaRPr lang="ko-KR" sz="1680" dirty="0"/>
          </a:p>
        </p:txBody>
      </p:sp>
      <p:sp>
        <p:nvSpPr>
          <p:cNvPr id="9" name="Text 7">
            <a:hlinkClick r:id="rId5" tooltip=""/>
          </p:cNvPr>
          <p:cNvSpPr/>
          <p:nvPr/>
        </p:nvSpPr>
        <p:spPr>
          <a:xfrm>
            <a:off x="609600" y="4030980"/>
            <a:ext cx="10820400" cy="320040"/>
          </a:xfrm>
          <a:prstGeom prst="rect">
            <a:avLst/>
          </a:prstGeom>
          <a:noFill/>
          <a:ln/>
        </p:spPr>
        <p:txBody>
          <a:bodyPr wrap="square" lIns="0" tIns="0" rIns="0" bIns="0" rtlCol="0" anchor="t"/>
          <a:lstStyle/>
          <a:p>
            <a:pPr indent="0" marL="0">
              <a:lnSpc>
                <a:spcPct val="105000"/>
              </a:lnSpc>
              <a:buNone/>
            </a:pPr>
            <a:r>
              <a:rPr lang="ko-KR" altLang="en-US" sz="1680" b="1" u="sng" dirty="0">
                <a:solidFill>
                  <a:srgbClr val="147D6D"/>
                </a:solidFill>
                <a:latin typeface="Noto Sans CJK KR" pitchFamily="34" charset="0"/>
                <a:ea typeface="Noto Sans CJK KR" pitchFamily="34" charset="-122"/>
                <a:cs typeface="Noto Sans CJK KR" pitchFamily="34" charset="-120"/>
                <a:hlinkClick r:id="rId5" invalidUrl="" action="" tgtFrame="" tooltip="" history="1" highlightClick="0" endSnd="0">
                  <a:extLst>
                    <a:ext uri="{A12FA001-AC4F-418D-AE19-62706E023703}">
                      <ahyp:hlinkClr xmlns:ahyp="http://schemas.microsoft.com/office/drawing/2018/hyperlinkcolor" val="tx"/>
                    </a:ext>
                  </a:extLst>
                </a:hlinkClick>
              </a:rPr>
              <a:t>[S11] CUBRID: hit ratio 공식</a:t>
            </a:r>
            <a:endParaRPr lang="ko-KR" sz="1680" dirty="0"/>
          </a:p>
        </p:txBody>
      </p:sp>
      <p:sp>
        <p:nvSpPr>
          <p:cNvPr id="10" name="Text 8"/>
          <p:cNvSpPr/>
          <p:nvPr/>
        </p:nvSpPr>
        <p:spPr>
          <a:xfrm>
            <a:off x="609600" y="4572000"/>
            <a:ext cx="10820400" cy="320040"/>
          </a:xfrm>
          <a:prstGeom prst="rect">
            <a:avLst/>
          </a:prstGeom>
          <a:noFill/>
          <a:ln/>
        </p:spPr>
        <p:txBody>
          <a:bodyPr wrap="square" lIns="0" tIns="0" rIns="0" bIns="0" rtlCol="0" anchor="t"/>
          <a:lstStyle/>
          <a:p>
            <a:pPr indent="0" marL="0">
              <a:lnSpc>
                <a:spcPct val="105000"/>
              </a:lnSpc>
              <a:buNone/>
            </a:pPr>
            <a:r>
              <a:rPr lang="ko-KR" altLang="en-US" sz="1680" b="1" dirty="0">
                <a:solidFill>
                  <a:srgbClr val="147D6D"/>
                </a:solidFill>
                <a:latin typeface="Noto Sans CJK KR" pitchFamily="34" charset="0"/>
                <a:ea typeface="Noto Sans CJK KR" pitchFamily="34" charset="-122"/>
                <a:cs typeface="Noto Sans CJK KR" pitchFamily="34" charset="-120"/>
              </a:rPr>
              <a:t>[S12] 기존 pgbuf 벤치마크 전략</a:t>
            </a:r>
            <a:endParaRPr lang="ko-KR" sz="1680" dirty="0"/>
          </a:p>
        </p:txBody>
      </p:sp>
      <p:sp>
        <p:nvSpPr>
          <p:cNvPr id="11" name="Text 9"/>
          <p:cNvSpPr/>
          <p:nvPr/>
        </p:nvSpPr>
        <p:spPr>
          <a:xfrm>
            <a:off x="609600" y="5189220"/>
            <a:ext cx="10820400" cy="853440"/>
          </a:xfrm>
          <a:prstGeom prst="rect">
            <a:avLst/>
          </a:prstGeom>
          <a:noFill/>
          <a:ln/>
        </p:spPr>
        <p:txBody>
          <a:bodyPr wrap="square" lIns="0" tIns="0" rIns="0" bIns="0" rtlCol="0" anchor="t"/>
          <a:lstStyle/>
          <a:p>
            <a:pPr indent="0" marL="0">
              <a:lnSpc>
                <a:spcPct val="105000"/>
              </a:lnSpc>
              <a:buNone/>
            </a:pPr>
            <a:r>
              <a:rPr lang="ko-KR" altLang="en-US" sz="1500" dirty="0">
                <a:solidFill>
                  <a:srgbClr val="52687B"/>
                </a:solidFill>
                <a:latin typeface="Noto Sans CJK KR" pitchFamily="34" charset="0"/>
                <a:ea typeface="Noto Sans CJK KR" pitchFamily="34" charset="-122"/>
                <a:cs typeface="Noto Sans CJK KR" pitchFamily="34" charset="-120"/>
              </a:rPr>
              <a:t>공식 문서 조회: 2026-10-19 KST. CUBRID manual: develop 3b6ae97b.</a:t>
            </a:r>
            <a:endParaRPr lang="ko-KR" sz="1500" dirty="0"/>
          </a:p>
          <a:p>
            <a:pPr indent="0" marL="0">
              <a:lnSpc>
                <a:spcPct val="105000"/>
              </a:lnSpc>
              <a:buNone/>
            </a:pPr>
            <a:r>
              <a:rPr lang="ko-KR" altLang="en-US" sz="1500" dirty="0">
                <a:solidFill>
                  <a:srgbClr val="52687B"/>
                </a:solidFill>
                <a:latin typeface="Noto Sans CJK KR" pitchFamily="34" charset="0"/>
                <a:ea typeface="Noto Sans CJK KR" pitchFamily="34" charset="-122"/>
                <a:cs typeface="Noto Sans CJK KR" pitchFamily="34" charset="-120"/>
              </a:rPr>
              <a:t>실제 benchmark·engine build·driver 호환성 실행은 하지 않았다. 시간·matrix·추천 순서는 제안이다.</a:t>
            </a:r>
            <a:endParaRPr lang="ko-KR" sz="1500" dirty="0"/>
          </a:p>
          <a:p>
            <a:pPr indent="0" marL="0">
              <a:lnSpc>
                <a:spcPct val="105000"/>
              </a:lnSpc>
              <a:buNone/>
            </a:pPr>
            <a:r>
              <a:rPr lang="ko-KR" altLang="en-US" sz="1500" dirty="0">
                <a:solidFill>
                  <a:srgbClr val="52687B"/>
                </a:solidFill>
                <a:latin typeface="Noto Sans CJK KR" pitchFamily="34" charset="0"/>
                <a:ea typeface="Noto Sans CJK KR" pitchFamily="34" charset="-122"/>
                <a:cs typeface="Noto Sans CJK KR" pitchFamily="34" charset="-120"/>
              </a:rPr>
              <a:t>DB 성능 순위나 현재 운영 hit/miss를 나타내는 실측 그래프는 포함하지 않았다.</a:t>
            </a:r>
            <a:endParaRPr lang="ko-KR" sz="1500" dirty="0"/>
          </a:p>
        </p:txBody>
      </p:sp>
      <p:sp>
        <p:nvSpPr>
          <p:cNvPr id="12" name="Shape 10"/>
          <p:cNvSpPr/>
          <p:nvPr/>
        </p:nvSpPr>
        <p:spPr>
          <a:xfrm>
            <a:off x="579120" y="6316980"/>
            <a:ext cx="10911840" cy="7620"/>
          </a:xfrm>
          <a:prstGeom prst="rect">
            <a:avLst/>
          </a:prstGeom>
          <a:solidFill>
            <a:srgbClr val="D7E1E8"/>
          </a:solidFill>
          <a:ln w="12700">
            <a:solidFill>
              <a:srgbClr val="D7E1E8"/>
            </a:solidFill>
            <a:prstDash val="solid"/>
          </a:ln>
        </p:spPr>
      </p:sp>
      <p:sp>
        <p:nvSpPr>
          <p:cNvPr id="13" name="Text 11"/>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14" name="Text 12"/>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24 / 25</a:t>
            </a:r>
            <a:endParaRPr lang="ko-KR" sz="1080" dirty="0"/>
          </a:p>
        </p:txBody>
      </p:sp>
      <p:sp>
        <p:nvSpPr>
          <p:cNvPr id="15" name="Text 13">
            <a:hlinkClick r:id="rId6" tooltip=""/>
          </p:cNvPr>
          <p:cNvSpPr/>
          <p:nvPr/>
        </p:nvSpPr>
        <p:spPr>
          <a:xfrm>
            <a:off x="5791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6" invalidUrl="" action="" tgtFrame="" tooltip="" history="1" highlightClick="0" endSnd="0">
                  <a:extLst>
                    <a:ext uri="{A12FA001-AC4F-418D-AE19-62706E023703}">
                      <ahyp:hlinkClr xmlns:ahyp="http://schemas.microsoft.com/office/drawing/2018/hyperlinkcolor" val="tx"/>
                    </a:ext>
                  </a:extLst>
                </a:hlinkClick>
              </a:rPr>
              <a:t>[S7] 근거</a:t>
            </a:r>
            <a:endParaRPr lang="ko-KR" sz="960" dirty="0"/>
          </a:p>
        </p:txBody>
      </p:sp>
      <p:sp>
        <p:nvSpPr>
          <p:cNvPr id="16" name="Text 14">
            <a:hlinkClick r:id="rId7" tooltip=""/>
          </p:cNvPr>
          <p:cNvSpPr/>
          <p:nvPr/>
        </p:nvSpPr>
        <p:spPr>
          <a:xfrm>
            <a:off x="16078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7" invalidUrl="" action="" tgtFrame="" tooltip="" history="1" highlightClick="0" endSnd="0">
                  <a:extLst>
                    <a:ext uri="{A12FA001-AC4F-418D-AE19-62706E023703}">
                      <ahyp:hlinkClr xmlns:ahyp="http://schemas.microsoft.com/office/drawing/2018/hyperlinkcolor" val="tx"/>
                    </a:ext>
                  </a:extLst>
                </a:hlinkClick>
              </a:rPr>
              <a:t>[S8] 근거</a:t>
            </a:r>
            <a:endParaRPr lang="ko-KR" sz="960" dirty="0"/>
          </a:p>
        </p:txBody>
      </p:sp>
      <p:sp>
        <p:nvSpPr>
          <p:cNvPr id="17" name="Text 15">
            <a:hlinkClick r:id="rId8" tooltip=""/>
          </p:cNvPr>
          <p:cNvSpPr/>
          <p:nvPr/>
        </p:nvSpPr>
        <p:spPr>
          <a:xfrm>
            <a:off x="26365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8" invalidUrl="" action="" tgtFrame="" tooltip="" history="1" highlightClick="0" endSnd="0">
                  <a:extLst>
                    <a:ext uri="{A12FA001-AC4F-418D-AE19-62706E023703}">
                      <ahyp:hlinkClr xmlns:ahyp="http://schemas.microsoft.com/office/drawing/2018/hyperlinkcolor" val="tx"/>
                    </a:ext>
                  </a:extLst>
                </a:hlinkClick>
              </a:rPr>
              <a:t>[S9] 근거</a:t>
            </a:r>
            <a:endParaRPr lang="ko-KR" sz="960" dirty="0"/>
          </a:p>
        </p:txBody>
      </p:sp>
      <p:sp>
        <p:nvSpPr>
          <p:cNvPr id="18" name="Text 16">
            <a:hlinkClick r:id="rId9" tooltip=""/>
          </p:cNvPr>
          <p:cNvSpPr/>
          <p:nvPr/>
        </p:nvSpPr>
        <p:spPr>
          <a:xfrm>
            <a:off x="36652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9" invalidUrl="" action="" tgtFrame="" tooltip="" history="1" highlightClick="0" endSnd="0">
                  <a:extLst>
                    <a:ext uri="{A12FA001-AC4F-418D-AE19-62706E023703}">
                      <ahyp:hlinkClr xmlns:ahyp="http://schemas.microsoft.com/office/drawing/2018/hyperlinkcolor" val="tx"/>
                    </a:ext>
                  </a:extLst>
                </a:hlinkClick>
              </a:rPr>
              <a:t>[S10] 근거</a:t>
            </a:r>
            <a:endParaRPr lang="ko-KR" sz="960" dirty="0"/>
          </a:p>
        </p:txBody>
      </p:sp>
      <p:sp>
        <p:nvSpPr>
          <p:cNvPr id="19" name="Text 17">
            <a:hlinkClick r:id="rId10" tooltip=""/>
          </p:cNvPr>
          <p:cNvSpPr/>
          <p:nvPr/>
        </p:nvSpPr>
        <p:spPr>
          <a:xfrm>
            <a:off x="46939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10" invalidUrl="" action="" tgtFrame="" tooltip="" history="1" highlightClick="0" endSnd="0">
                  <a:extLst>
                    <a:ext uri="{A12FA001-AC4F-418D-AE19-62706E023703}">
                      <ahyp:hlinkClr xmlns:ahyp="http://schemas.microsoft.com/office/drawing/2018/hyperlinkcolor" val="tx"/>
                    </a:ext>
                  </a:extLst>
                </a:hlinkClick>
              </a:rPr>
              <a:t>[S11] 근거</a:t>
            </a:r>
            <a:endParaRPr lang="ko-KR" sz="960" dirty="0"/>
          </a:p>
        </p:txBody>
      </p:sp>
      <p:sp>
        <p:nvSpPr>
          <p:cNvPr id="20" name="Text 18"/>
          <p:cNvSpPr/>
          <p:nvPr/>
        </p:nvSpPr>
        <p:spPr>
          <a:xfrm>
            <a:off x="5722620" y="6126480"/>
            <a:ext cx="952500" cy="17526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[S12] 근거</a:t>
            </a:r>
            <a:endParaRPr lang="ko-KR" sz="96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7F9"/>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7F9"/>
          </a:solidFill>
          <a:ln w="12700">
            <a:solidFill>
              <a:srgbClr val="F4F7F9"/>
            </a:solidFill>
            <a:prstDash val="solid"/>
          </a:ln>
        </p:spPr>
      </p:sp>
      <p:sp>
        <p:nvSpPr>
          <p:cNvPr id="3" name="Text 1"/>
          <p:cNvSpPr/>
          <p:nvPr/>
        </p:nvSpPr>
        <p:spPr>
          <a:xfrm>
            <a:off x="579120" y="396240"/>
            <a:ext cx="10744200" cy="228600"/>
          </a:xfrm>
          <a:prstGeom prst="rect">
            <a:avLst/>
          </a:prstGeom>
          <a:noFill/>
          <a:ln/>
        </p:spPr>
        <p:txBody>
          <a:bodyPr wrap="square" lIns="0" tIns="0" rIns="0" bIns="0" rtlCol="0" anchor="t"/>
          <a:lstStyle/>
          <a:p>
            <a:pPr indent="0" marL="0">
              <a:lnSpc>
                <a:spcPct val="105000"/>
              </a:lnSpc>
              <a:buNone/>
            </a:pPr>
            <a:r>
              <a:rPr lang="ko-KR" altLang="en-US" sz="1080" b="1" dirty="0">
                <a:solidFill>
                  <a:srgbClr val="BD8737"/>
                </a:solidFill>
                <a:latin typeface="Noto Sans CJK KR" pitchFamily="34" charset="0"/>
                <a:ea typeface="Noto Sans CJK KR" pitchFamily="34" charset="-122"/>
                <a:cs typeface="Noto Sans CJK KR" pitchFamily="34" charset="-120"/>
              </a:rPr>
              <a:t>APPENDIX  /  COLLECTION EXAMPLES</a:t>
            </a:r>
            <a:endParaRPr lang="ko-KR" sz="1080" dirty="0"/>
          </a:p>
        </p:txBody>
      </p:sp>
      <p:sp>
        <p:nvSpPr>
          <p:cNvPr id="4" name="Text 2"/>
          <p:cNvSpPr/>
          <p:nvPr/>
        </p:nvSpPr>
        <p:spPr>
          <a:xfrm>
            <a:off x="579120" y="853440"/>
            <a:ext cx="10896600" cy="822960"/>
          </a:xfrm>
          <a:prstGeom prst="rect">
            <a:avLst/>
          </a:prstGeom>
          <a:noFill/>
          <a:ln/>
        </p:spPr>
        <p:txBody>
          <a:bodyPr wrap="square" lIns="0" tIns="0" rIns="0" bIns="0" rtlCol="0" anchor="t"/>
          <a:lstStyle/>
          <a:p>
            <a:pPr indent="0" marL="0">
              <a:lnSpc>
                <a:spcPct val="105000"/>
              </a:lnSpc>
              <a:buNone/>
            </a:pPr>
            <a:r>
              <a:rPr lang="ko-KR" altLang="en-US" sz="3180" b="1" dirty="0">
                <a:solidFill>
                  <a:srgbClr val="132D43"/>
                </a:solidFill>
                <a:latin typeface="Noto Sans CJK KR" pitchFamily="34" charset="0"/>
                <a:ea typeface="Noto Sans CJK KR" pitchFamily="34" charset="-122"/>
                <a:cs typeface="Noto Sans CJK KR" pitchFamily="34" charset="-120"/>
              </a:rPr>
              <a:t>수집 시작 예시 — 별도 collector에서 주기적으로 실행</a:t>
            </a:r>
            <a:endParaRPr lang="ko-KR" sz="3180" dirty="0"/>
          </a:p>
        </p:txBody>
      </p:sp>
      <p:sp>
        <p:nvSpPr>
          <p:cNvPr id="5" name="Text 3"/>
          <p:cNvSpPr/>
          <p:nvPr/>
        </p:nvSpPr>
        <p:spPr>
          <a:xfrm>
            <a:off x="609600" y="1882140"/>
            <a:ext cx="1752600" cy="403860"/>
          </a:xfrm>
          <a:prstGeom prst="rect">
            <a:avLst/>
          </a:prstGeom>
          <a:noFill/>
          <a:ln/>
        </p:spPr>
        <p:txBody>
          <a:bodyPr wrap="square" lIns="0" tIns="0" rIns="0" bIns="0" rtlCol="0" anchor="t"/>
          <a:lstStyle/>
          <a:p>
            <a:pPr indent="0" marL="0">
              <a:lnSpc>
                <a:spcPct val="105000"/>
              </a:lnSpc>
              <a:buNone/>
            </a:pPr>
            <a:r>
              <a:rPr lang="ko-KR" altLang="en-US" sz="1860" b="1" dirty="0">
                <a:solidFill>
                  <a:srgbClr val="147D6D"/>
                </a:solidFill>
                <a:latin typeface="Noto Sans CJK KR" pitchFamily="34" charset="0"/>
                <a:ea typeface="Noto Sans CJK KR" pitchFamily="34" charset="-122"/>
                <a:cs typeface="Noto Sans CJK KR" pitchFamily="34" charset="-120"/>
              </a:rPr>
              <a:t>CUBRID</a:t>
            </a:r>
            <a:endParaRPr lang="ko-KR" sz="1860" dirty="0"/>
          </a:p>
        </p:txBody>
      </p:sp>
      <p:sp>
        <p:nvSpPr>
          <p:cNvPr id="6" name="Shape 4"/>
          <p:cNvSpPr/>
          <p:nvPr/>
        </p:nvSpPr>
        <p:spPr>
          <a:xfrm>
            <a:off x="2552700" y="1882140"/>
            <a:ext cx="8938260" cy="701040"/>
          </a:xfrm>
          <a:prstGeom prst="rect">
            <a:avLst/>
          </a:prstGeom>
          <a:solidFill>
            <a:srgbClr val="132D43"/>
          </a:solidFill>
          <a:ln w="12700">
            <a:solidFill>
              <a:srgbClr val="132D43"/>
            </a:solidFill>
            <a:prstDash val="solid"/>
          </a:ln>
        </p:spPr>
      </p:sp>
      <p:sp>
        <p:nvSpPr>
          <p:cNvPr id="7" name="Text 5"/>
          <p:cNvSpPr/>
          <p:nvPr/>
        </p:nvSpPr>
        <p:spPr>
          <a:xfrm>
            <a:off x="2720340" y="2004060"/>
            <a:ext cx="8587740" cy="548640"/>
          </a:xfrm>
          <a:prstGeom prst="rect">
            <a:avLst/>
          </a:prstGeom>
          <a:noFill/>
          <a:ln/>
        </p:spPr>
        <p:txBody>
          <a:bodyPr wrap="square" lIns="0" tIns="0" rIns="0" bIns="0" rtlCol="0" anchor="t"/>
          <a:lstStyle/>
          <a:p>
            <a:pPr indent="0" marL="0">
              <a:lnSpc>
                <a:spcPct val="105000"/>
              </a:lnSpc>
              <a:buNone/>
            </a:pPr>
            <a:r>
              <a:rPr lang="ko-KR" altLang="en-US" sz="1440" dirty="0">
                <a:solidFill>
                  <a:srgbClr val="FFFFFF"/>
                </a:solidFill>
                <a:latin typeface="DejaVu Sans Mono" pitchFamily="34" charset="0"/>
                <a:ea typeface="DejaVu Sans Mono" pitchFamily="34" charset="-122"/>
                <a:cs typeface="DejaVu Sans Mono" pitchFamily="34" charset="-120"/>
              </a:rPr>
              <a:t>cubrid statdump -i 1 -c benchdb</a:t>
            </a:r>
            <a:endParaRPr lang="ko-KR" sz="1440" dirty="0"/>
          </a:p>
        </p:txBody>
      </p:sp>
      <p:sp>
        <p:nvSpPr>
          <p:cNvPr id="8" name="Text 6"/>
          <p:cNvSpPr/>
          <p:nvPr/>
        </p:nvSpPr>
        <p:spPr>
          <a:xfrm>
            <a:off x="609600" y="2872740"/>
            <a:ext cx="1752600" cy="403860"/>
          </a:xfrm>
          <a:prstGeom prst="rect">
            <a:avLst/>
          </a:prstGeom>
          <a:noFill/>
          <a:ln/>
        </p:spPr>
        <p:txBody>
          <a:bodyPr wrap="square" lIns="0" tIns="0" rIns="0" bIns="0" rtlCol="0" anchor="t"/>
          <a:lstStyle/>
          <a:p>
            <a:pPr indent="0" marL="0">
              <a:lnSpc>
                <a:spcPct val="105000"/>
              </a:lnSpc>
              <a:buNone/>
            </a:pPr>
            <a:r>
              <a:rPr lang="ko-KR" altLang="en-US" sz="1860" b="1" dirty="0">
                <a:solidFill>
                  <a:srgbClr val="147D6D"/>
                </a:solidFill>
                <a:latin typeface="Noto Sans CJK KR" pitchFamily="34" charset="0"/>
                <a:ea typeface="Noto Sans CJK KR" pitchFamily="34" charset="-122"/>
                <a:cs typeface="Noto Sans CJK KR" pitchFamily="34" charset="-120"/>
              </a:rPr>
              <a:t>MySQL</a:t>
            </a:r>
            <a:endParaRPr lang="ko-KR" sz="1860" dirty="0"/>
          </a:p>
        </p:txBody>
      </p:sp>
      <p:sp>
        <p:nvSpPr>
          <p:cNvPr id="9" name="Shape 7"/>
          <p:cNvSpPr/>
          <p:nvPr/>
        </p:nvSpPr>
        <p:spPr>
          <a:xfrm>
            <a:off x="2552700" y="2872740"/>
            <a:ext cx="8938260" cy="1005840"/>
          </a:xfrm>
          <a:prstGeom prst="rect">
            <a:avLst/>
          </a:prstGeom>
          <a:solidFill>
            <a:srgbClr val="132D43"/>
          </a:solidFill>
          <a:ln w="12700">
            <a:solidFill>
              <a:srgbClr val="132D43"/>
            </a:solidFill>
            <a:prstDash val="solid"/>
          </a:ln>
        </p:spPr>
      </p:sp>
      <p:sp>
        <p:nvSpPr>
          <p:cNvPr id="10" name="Text 8"/>
          <p:cNvSpPr/>
          <p:nvPr/>
        </p:nvSpPr>
        <p:spPr>
          <a:xfrm>
            <a:off x="2720340" y="2994660"/>
            <a:ext cx="8587740" cy="853440"/>
          </a:xfrm>
          <a:prstGeom prst="rect">
            <a:avLst/>
          </a:prstGeom>
          <a:noFill/>
          <a:ln/>
        </p:spPr>
        <p:txBody>
          <a:bodyPr wrap="square" lIns="0" tIns="0" rIns="0" bIns="0" rtlCol="0" anchor="t"/>
          <a:lstStyle/>
          <a:p>
            <a:pPr indent="0" marL="0">
              <a:lnSpc>
                <a:spcPct val="105000"/>
              </a:lnSpc>
              <a:buNone/>
            </a:pPr>
            <a:r>
              <a:rPr lang="ko-KR" altLang="en-US" sz="1440" dirty="0">
                <a:solidFill>
                  <a:srgbClr val="FFFFFF"/>
                </a:solidFill>
                <a:latin typeface="DejaVu Sans Mono" pitchFamily="34" charset="0"/>
                <a:ea typeface="DejaVu Sans Mono" pitchFamily="34" charset="-122"/>
                <a:cs typeface="DejaVu Sans Mono" pitchFamily="34" charset="-120"/>
              </a:rPr>
              <a:t>SHOW GLOBAL STATUS WHERE Variable_name IN (</a:t>
            </a:r>
            <a:endParaRPr lang="ko-KR" sz="1440" dirty="0"/>
          </a:p>
          <a:p>
            <a:pPr indent="0" marL="0">
              <a:lnSpc>
                <a:spcPct val="105000"/>
              </a:lnSpc>
              <a:buNone/>
            </a:pPr>
            <a:r>
              <a:rPr lang="ko-KR" altLang="en-US" sz="1440" dirty="0">
                <a:solidFill>
                  <a:srgbClr val="FFFFFF"/>
                </a:solidFill>
                <a:latin typeface="DejaVu Sans Mono" pitchFamily="34" charset="0"/>
                <a:ea typeface="DejaVu Sans Mono" pitchFamily="34" charset="-122"/>
                <a:cs typeface="DejaVu Sans Mono" pitchFamily="34" charset="-120"/>
              </a:rPr>
              <a:t> 'Innodb_buffer_pool_read_requests', 'Innodb_buffer_pool_reads',</a:t>
            </a:r>
            <a:endParaRPr lang="ko-KR" sz="1440" dirty="0"/>
          </a:p>
          <a:p>
            <a:pPr indent="0" marL="0">
              <a:lnSpc>
                <a:spcPct val="105000"/>
              </a:lnSpc>
              <a:buNone/>
            </a:pPr>
            <a:r>
              <a:rPr lang="ko-KR" altLang="en-US" sz="1440" dirty="0">
                <a:solidFill>
                  <a:srgbClr val="FFFFFF"/>
                </a:solidFill>
                <a:latin typeface="DejaVu Sans Mono" pitchFamily="34" charset="0"/>
                <a:ea typeface="DejaVu Sans Mono" pitchFamily="34" charset="-122"/>
                <a:cs typeface="DejaVu Sans Mono" pitchFamily="34" charset="-120"/>
              </a:rPr>
              <a:t> 'Innodb_buffer_pool_read_ahead');</a:t>
            </a:r>
            <a:endParaRPr lang="ko-KR" sz="1440" dirty="0"/>
          </a:p>
        </p:txBody>
      </p:sp>
      <p:sp>
        <p:nvSpPr>
          <p:cNvPr id="11" name="Text 9"/>
          <p:cNvSpPr/>
          <p:nvPr/>
        </p:nvSpPr>
        <p:spPr>
          <a:xfrm>
            <a:off x="609600" y="4168140"/>
            <a:ext cx="1752600" cy="403860"/>
          </a:xfrm>
          <a:prstGeom prst="rect">
            <a:avLst/>
          </a:prstGeom>
          <a:noFill/>
          <a:ln/>
        </p:spPr>
        <p:txBody>
          <a:bodyPr wrap="square" lIns="0" tIns="0" rIns="0" bIns="0" rtlCol="0" anchor="t"/>
          <a:lstStyle/>
          <a:p>
            <a:pPr indent="0" marL="0">
              <a:lnSpc>
                <a:spcPct val="105000"/>
              </a:lnSpc>
              <a:buNone/>
            </a:pPr>
            <a:r>
              <a:rPr lang="ko-KR" altLang="en-US" sz="1860" b="1" dirty="0">
                <a:solidFill>
                  <a:srgbClr val="147D6D"/>
                </a:solidFill>
                <a:latin typeface="Noto Sans CJK KR" pitchFamily="34" charset="0"/>
                <a:ea typeface="Noto Sans CJK KR" pitchFamily="34" charset="-122"/>
                <a:cs typeface="Noto Sans CJK KR" pitchFamily="34" charset="-120"/>
              </a:rPr>
              <a:t>PostgreSQL</a:t>
            </a:r>
            <a:endParaRPr lang="ko-KR" sz="1860" dirty="0"/>
          </a:p>
        </p:txBody>
      </p:sp>
      <p:sp>
        <p:nvSpPr>
          <p:cNvPr id="12" name="Shape 10"/>
          <p:cNvSpPr/>
          <p:nvPr/>
        </p:nvSpPr>
        <p:spPr>
          <a:xfrm>
            <a:off x="2552700" y="4168140"/>
            <a:ext cx="8938260" cy="1005840"/>
          </a:xfrm>
          <a:prstGeom prst="rect">
            <a:avLst/>
          </a:prstGeom>
          <a:solidFill>
            <a:srgbClr val="132D43"/>
          </a:solidFill>
          <a:ln w="12700">
            <a:solidFill>
              <a:srgbClr val="132D43"/>
            </a:solidFill>
            <a:prstDash val="solid"/>
          </a:ln>
        </p:spPr>
      </p:sp>
      <p:sp>
        <p:nvSpPr>
          <p:cNvPr id="13" name="Text 11"/>
          <p:cNvSpPr/>
          <p:nvPr/>
        </p:nvSpPr>
        <p:spPr>
          <a:xfrm>
            <a:off x="2720340" y="4290060"/>
            <a:ext cx="8587740" cy="853440"/>
          </a:xfrm>
          <a:prstGeom prst="rect">
            <a:avLst/>
          </a:prstGeom>
          <a:noFill/>
          <a:ln/>
        </p:spPr>
        <p:txBody>
          <a:bodyPr wrap="square" lIns="0" tIns="0" rIns="0" bIns="0" rtlCol="0" anchor="t"/>
          <a:lstStyle/>
          <a:p>
            <a:pPr indent="0" marL="0">
              <a:lnSpc>
                <a:spcPct val="105000"/>
              </a:lnSpc>
              <a:buNone/>
            </a:pPr>
            <a:r>
              <a:rPr lang="ko-KR" altLang="en-US" sz="1440" dirty="0">
                <a:solidFill>
                  <a:srgbClr val="FFFFFF"/>
                </a:solidFill>
                <a:latin typeface="DejaVu Sans Mono" pitchFamily="34" charset="0"/>
                <a:ea typeface="DejaVu Sans Mono" pitchFamily="34" charset="-122"/>
                <a:cs typeface="DejaVu Sans Mono" pitchFamily="34" charset="-120"/>
              </a:rPr>
              <a:t>SELECT blks_hit, blks_read, stats_reset FROM pg_stat_database</a:t>
            </a:r>
            <a:endParaRPr lang="ko-KR" sz="1440" dirty="0"/>
          </a:p>
          <a:p>
            <a:pPr indent="0" marL="0">
              <a:lnSpc>
                <a:spcPct val="105000"/>
              </a:lnSpc>
              <a:buNone/>
            </a:pPr>
            <a:r>
              <a:rPr lang="ko-KR" altLang="en-US" sz="1440" dirty="0">
                <a:solidFill>
                  <a:srgbClr val="FFFFFF"/>
                </a:solidFill>
                <a:latin typeface="DejaVu Sans Mono" pitchFamily="34" charset="0"/>
                <a:ea typeface="DejaVu Sans Mono" pitchFamily="34" charset="-122"/>
                <a:cs typeface="DejaVu Sans Mono" pitchFamily="34" charset="-120"/>
              </a:rPr>
              <a:t>WHERE datname = 'benchdb';</a:t>
            </a:r>
            <a:endParaRPr lang="ko-KR" sz="1440" dirty="0"/>
          </a:p>
        </p:txBody>
      </p:sp>
      <p:sp>
        <p:nvSpPr>
          <p:cNvPr id="14" name="Shape 12"/>
          <p:cNvSpPr/>
          <p:nvPr/>
        </p:nvSpPr>
        <p:spPr>
          <a:xfrm>
            <a:off x="579120" y="6316980"/>
            <a:ext cx="10911840" cy="7620"/>
          </a:xfrm>
          <a:prstGeom prst="rect">
            <a:avLst/>
          </a:prstGeom>
          <a:solidFill>
            <a:srgbClr val="D7E1E8"/>
          </a:solidFill>
          <a:ln w="12700">
            <a:solidFill>
              <a:srgbClr val="D7E1E8"/>
            </a:solidFill>
            <a:prstDash val="solid"/>
          </a:ln>
        </p:spPr>
      </p:sp>
      <p:sp>
        <p:nvSpPr>
          <p:cNvPr id="15" name="Text 13"/>
          <p:cNvSpPr/>
          <p:nvPr/>
        </p:nvSpPr>
        <p:spPr>
          <a:xfrm>
            <a:off x="579120" y="6461760"/>
            <a:ext cx="6858000" cy="182880"/>
          </a:xfrm>
          <a:prstGeom prst="rect">
            <a:avLst/>
          </a:prstGeom>
          <a:noFill/>
          <a:ln/>
        </p:spPr>
        <p:txBody>
          <a:bodyPr wrap="square" lIns="0" tIns="0" rIns="0" bIns="0" rtlCol="0" anchor="t"/>
          <a:lstStyle/>
          <a:p>
            <a:pPr indent="0" marL="0">
              <a:lnSpc>
                <a:spcPct val="105000"/>
              </a:lnSpc>
              <a:buNone/>
            </a:pPr>
            <a:r>
              <a:rPr lang="ko-KR" altLang="en-US" sz="960" dirty="0">
                <a:solidFill>
                  <a:srgbClr val="52687B"/>
                </a:solidFill>
                <a:latin typeface="Noto Sans CJK KR" pitchFamily="34" charset="0"/>
                <a:ea typeface="Noto Sans CJK KR" pitchFamily="34" charset="-122"/>
                <a:cs typeface="Noto Sans CJK KR" pitchFamily="34" charset="-120"/>
              </a:rPr>
              <a:t>CBRD-27193  /  PAGE BUFFER BENCHMARK  /  2026.10.19</a:t>
            </a:r>
            <a:endParaRPr lang="ko-KR" sz="960" dirty="0"/>
          </a:p>
        </p:txBody>
      </p:sp>
      <p:sp>
        <p:nvSpPr>
          <p:cNvPr id="16" name="Text 14"/>
          <p:cNvSpPr/>
          <p:nvPr/>
        </p:nvSpPr>
        <p:spPr>
          <a:xfrm>
            <a:off x="10782300" y="6446520"/>
            <a:ext cx="762000" cy="213360"/>
          </a:xfrm>
          <a:prstGeom prst="rect">
            <a:avLst/>
          </a:prstGeom>
          <a:noFill/>
          <a:ln/>
        </p:spPr>
        <p:txBody>
          <a:bodyPr wrap="square" lIns="0" tIns="0" rIns="0" bIns="0" rtlCol="0" anchor="t"/>
          <a:lstStyle/>
          <a:p>
            <a:pPr indent="0" marL="0">
              <a:lnSpc>
                <a:spcPct val="105000"/>
              </a:lnSpc>
              <a:buNone/>
            </a:pPr>
            <a:r>
              <a:rPr lang="ko-KR" altLang="en-US" sz="1080" dirty="0">
                <a:solidFill>
                  <a:srgbClr val="52687B"/>
                </a:solidFill>
                <a:latin typeface="Noto Sans CJK KR" pitchFamily="34" charset="0"/>
                <a:ea typeface="Noto Sans CJK KR" pitchFamily="34" charset="-122"/>
                <a:cs typeface="Noto Sans CJK KR" pitchFamily="34" charset="-120"/>
              </a:rPr>
              <a:t>25 / 25</a:t>
            </a:r>
            <a:endParaRPr lang="ko-KR" sz="1080" dirty="0"/>
          </a:p>
        </p:txBody>
      </p:sp>
      <p:sp>
        <p:nvSpPr>
          <p:cNvPr id="17" name="Text 15">
            <a:hlinkClick r:id="rId1" tooltip=""/>
          </p:cNvPr>
          <p:cNvSpPr/>
          <p:nvPr/>
        </p:nvSpPr>
        <p:spPr>
          <a:xfrm>
            <a:off x="5791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1" invalidUrl="" action="" tgtFrame="" tooltip="" history="1" highlightClick="0" endSnd="0">
                  <a:extLst>
                    <a:ext uri="{A12FA001-AC4F-418D-AE19-62706E023703}">
                      <ahyp:hlinkClr xmlns:ahyp="http://schemas.microsoft.com/office/drawing/2018/hyperlinkcolor" val="tx"/>
                    </a:ext>
                  </a:extLst>
                </a:hlinkClick>
              </a:rPr>
              <a:t>[S7] 근거</a:t>
            </a:r>
            <a:endParaRPr lang="ko-KR" sz="960" dirty="0"/>
          </a:p>
        </p:txBody>
      </p:sp>
      <p:sp>
        <p:nvSpPr>
          <p:cNvPr id="18" name="Text 16">
            <a:hlinkClick r:id="rId2" tooltip=""/>
          </p:cNvPr>
          <p:cNvSpPr/>
          <p:nvPr/>
        </p:nvSpPr>
        <p:spPr>
          <a:xfrm>
            <a:off x="16078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2" invalidUrl="" action="" tgtFrame="" tooltip="" history="1" highlightClick="0" endSnd="0">
                  <a:extLst>
                    <a:ext uri="{A12FA001-AC4F-418D-AE19-62706E023703}">
                      <ahyp:hlinkClr xmlns:ahyp="http://schemas.microsoft.com/office/drawing/2018/hyperlinkcolor" val="tx"/>
                    </a:ext>
                  </a:extLst>
                </a:hlinkClick>
              </a:rPr>
              <a:t>[S8] 근거</a:t>
            </a:r>
            <a:endParaRPr lang="ko-KR" sz="960" dirty="0"/>
          </a:p>
        </p:txBody>
      </p:sp>
      <p:sp>
        <p:nvSpPr>
          <p:cNvPr id="19" name="Text 17">
            <a:hlinkClick r:id="rId3" tooltip=""/>
          </p:cNvPr>
          <p:cNvSpPr/>
          <p:nvPr/>
        </p:nvSpPr>
        <p:spPr>
          <a:xfrm>
            <a:off x="2636520" y="6126480"/>
            <a:ext cx="952500" cy="175260"/>
          </a:xfrm>
          <a:prstGeom prst="rect">
            <a:avLst/>
          </a:prstGeom>
          <a:noFill/>
          <a:ln/>
        </p:spPr>
        <p:txBody>
          <a:bodyPr wrap="square" lIns="0" tIns="0" rIns="0" bIns="0" rtlCol="0" anchor="t"/>
          <a:lstStyle/>
          <a:p>
            <a:pPr indent="0" marL="0">
              <a:lnSpc>
                <a:spcPct val="105000"/>
              </a:lnSpc>
              <a:buNone/>
            </a:pPr>
            <a:r>
              <a:rPr lang="ko-KR" altLang="en-US" sz="960" u="sng" dirty="0">
                <a:solidFill>
                  <a:srgbClr val="52687B"/>
                </a:solidFill>
                <a:latin typeface="Noto Sans CJK KR" pitchFamily="34" charset="0"/>
                <a:ea typeface="Noto Sans CJK KR" pitchFamily="34" charset="-122"/>
                <a:cs typeface="Noto Sans CJK KR" pitchFamily="34" charset="-120"/>
                <a:hlinkClick r:id="rId3" invalidUrl="" action="" tgtFrame="" tooltip="" history="1" highlightClick="0" endSnd="0">
                  <a:extLst>
                    <a:ext uri="{A12FA001-AC4F-418D-AE19-62706E023703}">
                      <ahyp:hlinkClr xmlns:ahyp="http://schemas.microsoft.com/office/drawing/2018/hyperlinkcolor" val="tx"/>
                    </a:ext>
                  </a:extLst>
                </a:hlinkClick>
              </a:rPr>
              <a:t>[S9] 근거</a:t>
            </a:r>
            <a:endParaRPr lang="ko-KR" sz="9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CUBRID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CUBRID Page Buffer 벤치마크 비교·실험 설계</dc:title>
  <dc:subject>CBRD-27193 · hit/miss tracking and cross-DB comparison</dc:subject>
  <dc:creator>CUBRID page-buffer benchmark planning</dc:creator>
  <cp:lastModifiedBy>CUBRID page-buffer benchmark planning</cp:lastModifiedBy>
  <cp:revision>1</cp:revision>
  <dcterms:created xsi:type="dcterms:W3CDTF">2026-10-19T08:04:42Z</dcterms:created>
  <dcterms:modified xsi:type="dcterms:W3CDTF">2026-10-19T08:04:42Z</dcterms:modified>
</cp:coreProperties>
</file>